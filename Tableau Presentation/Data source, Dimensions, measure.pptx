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notesMasterIdLst>
    <p:notesMasterId r:id="rId11"/>
  </p:notesMasterIdLst>
  <p:sldIdLst>
    <p:sldId id="4277" r:id="rId2"/>
    <p:sldId id="4263" r:id="rId3"/>
    <p:sldId id="4290" r:id="rId4"/>
    <p:sldId id="4275" r:id="rId5"/>
    <p:sldId id="4312" r:id="rId6"/>
    <p:sldId id="4271" r:id="rId7"/>
    <p:sldId id="4282" r:id="rId8"/>
    <p:sldId id="4308" r:id="rId9"/>
    <p:sldId id="4310" r:id="rId10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5" pos="14470" userDrawn="1">
          <p15:clr>
            <a:srgbClr val="A4A3A4"/>
          </p15:clr>
        </p15:guide>
        <p15:guide id="52" pos="7678" userDrawn="1">
          <p15:clr>
            <a:srgbClr val="A4A3A4"/>
          </p15:clr>
        </p15:guide>
        <p15:guide id="53" orient="horz" pos="4320" userDrawn="1">
          <p15:clr>
            <a:srgbClr val="A4A3A4"/>
          </p15:clr>
        </p15:guide>
        <p15:guide id="55" pos="12526" userDrawn="1">
          <p15:clr>
            <a:srgbClr val="A4A3A4"/>
          </p15:clr>
        </p15:guide>
        <p15:guide id="56" orient="horz" pos="69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FF1F8"/>
    <a:srgbClr val="626162"/>
    <a:srgbClr val="F2F2F2"/>
    <a:srgbClr val="3D763A"/>
    <a:srgbClr val="373737"/>
    <a:srgbClr val="445469"/>
    <a:srgbClr val="5A5A66"/>
    <a:srgbClr val="C4D4E2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46" autoAdjust="0"/>
    <p:restoredTop sz="95609" autoAdjust="0"/>
  </p:normalViewPr>
  <p:slideViewPr>
    <p:cSldViewPr snapToGrid="0" snapToObjects="1">
      <p:cViewPr varScale="1">
        <p:scale>
          <a:sx n="56" d="100"/>
          <a:sy n="56" d="100"/>
        </p:scale>
        <p:origin x="480" y="90"/>
      </p:cViewPr>
      <p:guideLst>
        <p:guide pos="14470"/>
        <p:guide pos="7678"/>
        <p:guide orient="horz" pos="4320"/>
        <p:guide pos="12526"/>
        <p:guide orient="horz" pos="6984"/>
      </p:guideLst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9/2/2025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168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-261256"/>
            <a:ext cx="24930938" cy="1423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3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-261256"/>
            <a:ext cx="24930938" cy="90047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47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246863" y="0"/>
            <a:ext cx="13130788" cy="137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2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23874" y="2572075"/>
            <a:ext cx="10821064" cy="54148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18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"/>
            <a:ext cx="13130785" cy="13715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1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F6B087BF-5F2B-4144-9B3A-1C9DA1B453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276644" y="-261256"/>
            <a:ext cx="24930938" cy="103450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4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82349" y="7561384"/>
            <a:ext cx="4720122" cy="38366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64699" y="7561384"/>
            <a:ext cx="4720122" cy="38366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7561384"/>
            <a:ext cx="4720122" cy="38366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5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1" y="2911589"/>
            <a:ext cx="14556619" cy="91854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532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57203" y="5008472"/>
            <a:ext cx="4263253" cy="426324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864277" y="5008472"/>
            <a:ext cx="4263253" cy="426324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90496" y="5008472"/>
            <a:ext cx="4263253" cy="426324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808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757175" y="5548276"/>
            <a:ext cx="2619454" cy="261944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1245" y="9842421"/>
            <a:ext cx="2619454" cy="261944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01245" y="1254131"/>
            <a:ext cx="2619454" cy="261944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8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2484732"/>
            <a:ext cx="12188826" cy="8746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10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4410" y="0"/>
            <a:ext cx="6094413" cy="13715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8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283237" y="1"/>
            <a:ext cx="6094413" cy="13715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0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59184" y="8661400"/>
            <a:ext cx="7571043" cy="5054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830229" y="8661400"/>
            <a:ext cx="7547422" cy="5054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43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565128" y="8661399"/>
            <a:ext cx="7547422" cy="5054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53" y="8661399"/>
            <a:ext cx="7547422" cy="5054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32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535478" y="6858000"/>
            <a:ext cx="1384217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0535478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93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5884" y="0"/>
            <a:ext cx="8125884" cy="137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98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842170" y="6858000"/>
            <a:ext cx="1053548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384217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042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5867804" y="1231190"/>
            <a:ext cx="7357956" cy="56268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5867804" y="6858000"/>
            <a:ext cx="7357956" cy="56268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509848" y="6858000"/>
            <a:ext cx="7357956" cy="56268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51892" y="6858000"/>
            <a:ext cx="7357956" cy="56268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509848" y="1231190"/>
            <a:ext cx="7357956" cy="56268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48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45260" y="0"/>
            <a:ext cx="10832123" cy="137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25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1">
            <a:extLst>
              <a:ext uri="{FF2B5EF4-FFF2-40B4-BE49-F238E27FC236}">
                <a16:creationId xmlns:a16="http://schemas.microsoft.com/office/drawing/2014/main" id="{090B5575-571E-0742-A6AE-80FF35BF3E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170740" y="2171181"/>
            <a:ext cx="4353568" cy="9401267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961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1">
            <a:extLst>
              <a:ext uri="{FF2B5EF4-FFF2-40B4-BE49-F238E27FC236}">
                <a16:creationId xmlns:a16="http://schemas.microsoft.com/office/drawing/2014/main" id="{090B5575-571E-0742-A6AE-80FF35BF3E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960424" y="1699859"/>
            <a:ext cx="4781287" cy="10310363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090B5575-571E-0742-A6AE-80FF35BF3E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595118" y="2171180"/>
            <a:ext cx="4353568" cy="9401267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94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51466" y="4752794"/>
            <a:ext cx="7833398" cy="103932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624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4242059" y="-1361892"/>
            <a:ext cx="16439822" cy="1643978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6087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179887" y="-1361892"/>
            <a:ext cx="16439822" cy="1643978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7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0EC9C-7AA6-034B-8A74-39E46AF9908C}"/>
              </a:ext>
            </a:extLst>
          </p:cNvPr>
          <p:cNvSpPr txBox="1"/>
          <p:nvPr userDrawn="1"/>
        </p:nvSpPr>
        <p:spPr>
          <a:xfrm>
            <a:off x="23660100" y="610541"/>
            <a:ext cx="827716" cy="492406"/>
          </a:xfrm>
          <a:prstGeom prst="rect">
            <a:avLst/>
          </a:prstGeom>
          <a:noFill/>
        </p:spPr>
        <p:txBody>
          <a:bodyPr wrap="none" lIns="182843" tIns="91422" rIns="182843" bIns="91422" rtlCol="0">
            <a:spAutoFit/>
          </a:bodyPr>
          <a:lstStyle/>
          <a:p>
            <a:pPr algn="ctr"/>
            <a:fld id="{260E2A6B-A809-4840-BF14-8648BC0BDF87}" type="slidenum">
              <a:rPr lang="id-ID" sz="2000" b="0" i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 charset="0"/>
              </a:rPr>
              <a:pPr algn="ctr"/>
              <a:t>‹#›</a:t>
            </a:fld>
            <a:r>
              <a:rPr lang="id-ID" sz="2000" b="1" i="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  <p:sldLayoutId id="2147483988" r:id="rId12"/>
    <p:sldLayoutId id="2147483989" r:id="rId13"/>
    <p:sldLayoutId id="2147483990" r:id="rId14"/>
    <p:sldLayoutId id="2147483991" r:id="rId15"/>
    <p:sldLayoutId id="2147483992" r:id="rId16"/>
    <p:sldLayoutId id="2147483993" r:id="rId17"/>
    <p:sldLayoutId id="2147483994" r:id="rId18"/>
    <p:sldLayoutId id="2147483995" r:id="rId19"/>
    <p:sldLayoutId id="2147483996" r:id="rId20"/>
    <p:sldLayoutId id="2147483997" r:id="rId21"/>
    <p:sldLayoutId id="2147483998" r:id="rId22"/>
    <p:sldLayoutId id="2147483999" r:id="rId23"/>
    <p:sldLayoutId id="2147484000" r:id="rId24"/>
    <p:sldLayoutId id="2147484001" r:id="rId25"/>
    <p:sldLayoutId id="2147484002" r:id="rId26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on a table&#10;&#10;AI-generated content may be incorrect.">
            <a:extLst>
              <a:ext uri="{FF2B5EF4-FFF2-40B4-BE49-F238E27FC236}">
                <a16:creationId xmlns:a16="http://schemas.microsoft.com/office/drawing/2014/main" id="{489C00EB-3E3A-C1A1-3F91-3F946A9EC34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85" b="18176"/>
          <a:stretch/>
        </p:blipFill>
        <p:spPr>
          <a:xfrm>
            <a:off x="0" y="1"/>
            <a:ext cx="24377650" cy="13716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B49B35-9D04-5E9B-9C9A-C876E030F79F}"/>
              </a:ext>
            </a:extLst>
          </p:cNvPr>
          <p:cNvSpPr/>
          <p:nvPr/>
        </p:nvSpPr>
        <p:spPr>
          <a:xfrm rot="10800000" flipV="1">
            <a:off x="0" y="3017389"/>
            <a:ext cx="10431873" cy="5855489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71000">
                <a:schemeClr val="accent3">
                  <a:alpha val="80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0D59F0-E6C8-DD56-C223-7428B0875094}"/>
              </a:ext>
            </a:extLst>
          </p:cNvPr>
          <p:cNvGrpSpPr/>
          <p:nvPr/>
        </p:nvGrpSpPr>
        <p:grpSpPr>
          <a:xfrm>
            <a:off x="-261878" y="1835865"/>
            <a:ext cx="10925571" cy="7875692"/>
            <a:chOff x="-1103146" y="1147939"/>
            <a:chExt cx="10925571" cy="7875692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0EAFDCA9-3369-D2B9-5268-5E2251E44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336" y="1147939"/>
              <a:ext cx="7806608" cy="7806608"/>
            </a:xfrm>
            <a:custGeom>
              <a:avLst/>
              <a:gdLst>
                <a:gd name="T0" fmla="*/ 1701 w 1702"/>
                <a:gd name="T1" fmla="*/ 851 h 1703"/>
                <a:gd name="T2" fmla="*/ 1701 w 1702"/>
                <a:gd name="T3" fmla="*/ 851 h 1703"/>
                <a:gd name="T4" fmla="*/ 850 w 1702"/>
                <a:gd name="T5" fmla="*/ 1702 h 1703"/>
                <a:gd name="T6" fmla="*/ 850 w 1702"/>
                <a:gd name="T7" fmla="*/ 1702 h 1703"/>
                <a:gd name="T8" fmla="*/ 0 w 1702"/>
                <a:gd name="T9" fmla="*/ 851 h 1703"/>
                <a:gd name="T10" fmla="*/ 0 w 1702"/>
                <a:gd name="T11" fmla="*/ 851 h 1703"/>
                <a:gd name="T12" fmla="*/ 850 w 1702"/>
                <a:gd name="T13" fmla="*/ 0 h 1703"/>
                <a:gd name="T14" fmla="*/ 850 w 1702"/>
                <a:gd name="T15" fmla="*/ 0 h 1703"/>
                <a:gd name="T16" fmla="*/ 1701 w 1702"/>
                <a:gd name="T17" fmla="*/ 851 h 1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2" h="1703">
                  <a:moveTo>
                    <a:pt x="1701" y="851"/>
                  </a:moveTo>
                  <a:lnTo>
                    <a:pt x="1701" y="851"/>
                  </a:lnTo>
                  <a:cubicBezTo>
                    <a:pt x="1701" y="1321"/>
                    <a:pt x="1320" y="1702"/>
                    <a:pt x="850" y="1702"/>
                  </a:cubicBezTo>
                  <a:lnTo>
                    <a:pt x="850" y="1702"/>
                  </a:lnTo>
                  <a:cubicBezTo>
                    <a:pt x="380" y="1702"/>
                    <a:pt x="0" y="1321"/>
                    <a:pt x="0" y="851"/>
                  </a:cubicBezTo>
                  <a:lnTo>
                    <a:pt x="0" y="851"/>
                  </a:lnTo>
                  <a:cubicBezTo>
                    <a:pt x="0" y="381"/>
                    <a:pt x="380" y="0"/>
                    <a:pt x="850" y="0"/>
                  </a:cubicBezTo>
                  <a:lnTo>
                    <a:pt x="850" y="0"/>
                  </a:lnTo>
                  <a:cubicBezTo>
                    <a:pt x="1320" y="0"/>
                    <a:pt x="1701" y="381"/>
                    <a:pt x="1701" y="85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4000" dirty="0"/>
            </a:p>
          </p:txBody>
        </p:sp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382CD0F1-53A4-4141-A527-91FD6976B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336" y="1691213"/>
              <a:ext cx="7332418" cy="7332418"/>
            </a:xfrm>
            <a:custGeom>
              <a:avLst/>
              <a:gdLst>
                <a:gd name="T0" fmla="*/ 1701 w 1702"/>
                <a:gd name="T1" fmla="*/ 851 h 1703"/>
                <a:gd name="T2" fmla="*/ 1701 w 1702"/>
                <a:gd name="T3" fmla="*/ 851 h 1703"/>
                <a:gd name="T4" fmla="*/ 850 w 1702"/>
                <a:gd name="T5" fmla="*/ 1702 h 1703"/>
                <a:gd name="T6" fmla="*/ 850 w 1702"/>
                <a:gd name="T7" fmla="*/ 1702 h 1703"/>
                <a:gd name="T8" fmla="*/ 0 w 1702"/>
                <a:gd name="T9" fmla="*/ 851 h 1703"/>
                <a:gd name="T10" fmla="*/ 0 w 1702"/>
                <a:gd name="T11" fmla="*/ 851 h 1703"/>
                <a:gd name="T12" fmla="*/ 850 w 1702"/>
                <a:gd name="T13" fmla="*/ 0 h 1703"/>
                <a:gd name="T14" fmla="*/ 850 w 1702"/>
                <a:gd name="T15" fmla="*/ 0 h 1703"/>
                <a:gd name="T16" fmla="*/ 1701 w 1702"/>
                <a:gd name="T17" fmla="*/ 851 h 1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2" h="1703">
                  <a:moveTo>
                    <a:pt x="1701" y="851"/>
                  </a:moveTo>
                  <a:lnTo>
                    <a:pt x="1701" y="851"/>
                  </a:lnTo>
                  <a:cubicBezTo>
                    <a:pt x="1701" y="1321"/>
                    <a:pt x="1320" y="1702"/>
                    <a:pt x="850" y="1702"/>
                  </a:cubicBezTo>
                  <a:lnTo>
                    <a:pt x="850" y="1702"/>
                  </a:lnTo>
                  <a:cubicBezTo>
                    <a:pt x="380" y="1702"/>
                    <a:pt x="0" y="1321"/>
                    <a:pt x="0" y="851"/>
                  </a:cubicBezTo>
                  <a:lnTo>
                    <a:pt x="0" y="851"/>
                  </a:lnTo>
                  <a:cubicBezTo>
                    <a:pt x="0" y="381"/>
                    <a:pt x="380" y="0"/>
                    <a:pt x="850" y="0"/>
                  </a:cubicBezTo>
                  <a:lnTo>
                    <a:pt x="850" y="0"/>
                  </a:lnTo>
                  <a:cubicBezTo>
                    <a:pt x="1320" y="0"/>
                    <a:pt x="1701" y="381"/>
                    <a:pt x="1701" y="8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400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5EFE77D-157D-8F47-B604-A3125AB4601F}"/>
                </a:ext>
              </a:extLst>
            </p:cNvPr>
            <p:cNvSpPr txBox="1"/>
            <p:nvPr/>
          </p:nvSpPr>
          <p:spPr>
            <a:xfrm>
              <a:off x="-1103146" y="3256315"/>
              <a:ext cx="10925571" cy="31393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spc="300" dirty="0">
                  <a:latin typeface="Montserrat Medium" pitchFamily="2" charset="77"/>
                  <a:ea typeface="Roboto" panose="02000000000000000000" pitchFamily="2" charset="0"/>
                  <a:cs typeface="Poppins Medium" pitchFamily="2" charset="77"/>
                </a:rPr>
                <a:t>Data source, Dimensions &amp; Measures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5C60827-3FEA-67B8-0BA8-8FF586C64B74}"/>
              </a:ext>
            </a:extLst>
          </p:cNvPr>
          <p:cNvSpPr txBox="1"/>
          <p:nvPr/>
        </p:nvSpPr>
        <p:spPr>
          <a:xfrm>
            <a:off x="3820655" y="7195637"/>
            <a:ext cx="2611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spc="600" dirty="0">
                <a:latin typeface="Montserrat Alternates Thin" panose="00000300000000000000" pitchFamily="50" charset="0"/>
                <a:ea typeface="Lato Medium" panose="020F0502020204030203" pitchFamily="34" charset="0"/>
                <a:cs typeface="MV Boli" panose="02000500030200090000" pitchFamily="2" charset="0"/>
              </a:rPr>
              <a:t>Group - 2</a:t>
            </a:r>
            <a:endParaRPr lang="en-US" sz="2400" b="1" spc="600" dirty="0">
              <a:latin typeface="Montserrat Alternates Thin" panose="00000300000000000000" pitchFamily="50" charset="0"/>
              <a:ea typeface="Lato Medium" panose="020F0502020204030203" pitchFamily="34" charset="0"/>
              <a:cs typeface="MV Boli" panose="0200050003020009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398570-FE21-6CA1-868E-866D6942FE9E}"/>
              </a:ext>
            </a:extLst>
          </p:cNvPr>
          <p:cNvSpPr/>
          <p:nvPr/>
        </p:nvSpPr>
        <p:spPr>
          <a:xfrm rot="10800000" flipV="1">
            <a:off x="7208570" y="234456"/>
            <a:ext cx="9821888" cy="1189325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71000">
                <a:schemeClr val="accent3">
                  <a:alpha val="80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5307B-D693-90E7-561F-29C80E258AF9}"/>
              </a:ext>
            </a:extLst>
          </p:cNvPr>
          <p:cNvSpPr txBox="1"/>
          <p:nvPr/>
        </p:nvSpPr>
        <p:spPr>
          <a:xfrm>
            <a:off x="7351447" y="412084"/>
            <a:ext cx="11631634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400" spc="300" dirty="0">
                <a:latin typeface="Montserrat Medium" pitchFamily="2" charset="77"/>
                <a:ea typeface="Roboto" panose="02000000000000000000" pitchFamily="2" charset="0"/>
                <a:cs typeface="Poppins Medium" pitchFamily="2" charset="77"/>
              </a:rPr>
              <a:t>Tableau Module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9AA7B-FC9F-B83F-6318-CD19239EB245}"/>
              </a:ext>
            </a:extLst>
          </p:cNvPr>
          <p:cNvSpPr txBox="1"/>
          <p:nvPr/>
        </p:nvSpPr>
        <p:spPr>
          <a:xfrm>
            <a:off x="3081502" y="7691857"/>
            <a:ext cx="37646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spc="300" dirty="0">
                <a:latin typeface="Montserrat Alternates Medium" panose="00000600000000000000" pitchFamily="50" charset="0"/>
              </a:rPr>
              <a:t>Divakar</a:t>
            </a:r>
          </a:p>
          <a:p>
            <a:pPr algn="ctr"/>
            <a:r>
              <a:rPr lang="en-IN" sz="2000" spc="300" dirty="0">
                <a:latin typeface="Montserrat Alternates Medium" panose="00000600000000000000" pitchFamily="50" charset="0"/>
              </a:rPr>
              <a:t>Adesh Lakade</a:t>
            </a:r>
          </a:p>
          <a:p>
            <a:pPr algn="ctr"/>
            <a:r>
              <a:rPr lang="en-IN" sz="2000" spc="300" dirty="0">
                <a:latin typeface="Montserrat Alternates Medium" panose="00000600000000000000" pitchFamily="50" charset="0"/>
              </a:rPr>
              <a:t>Shravani Bhosale</a:t>
            </a:r>
          </a:p>
          <a:p>
            <a:pPr algn="ctr"/>
            <a:r>
              <a:rPr lang="en-IN" sz="2000" spc="300" dirty="0">
                <a:latin typeface="Montserrat Alternates Medium" panose="00000600000000000000" pitchFamily="50" charset="0"/>
              </a:rPr>
              <a:t>Bhoomi Gohil</a:t>
            </a:r>
          </a:p>
        </p:txBody>
      </p:sp>
    </p:spTree>
    <p:extLst>
      <p:ext uri="{BB962C8B-B14F-4D97-AF65-F5344CB8AC3E}">
        <p14:creationId xmlns:p14="http://schemas.microsoft.com/office/powerpoint/2010/main" val="793303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026FF0-82AC-7FFD-B149-81F6E725C53E}"/>
              </a:ext>
            </a:extLst>
          </p:cNvPr>
          <p:cNvSpPr/>
          <p:nvPr/>
        </p:nvSpPr>
        <p:spPr>
          <a:xfrm rot="10800000" flipV="1">
            <a:off x="-18" y="0"/>
            <a:ext cx="24377653" cy="13716000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71000">
                <a:schemeClr val="accent3">
                  <a:alpha val="80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133785E-0B00-E64A-9AC0-44059588742B}"/>
              </a:ext>
            </a:extLst>
          </p:cNvPr>
          <p:cNvSpPr txBox="1"/>
          <p:nvPr/>
        </p:nvSpPr>
        <p:spPr>
          <a:xfrm>
            <a:off x="477510" y="3591263"/>
            <a:ext cx="9176854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spc="300" dirty="0">
                <a:solidFill>
                  <a:schemeClr val="tx2"/>
                </a:solidFill>
                <a:latin typeface="Montserrat Medium" pitchFamily="2" charset="77"/>
                <a:ea typeface="Roboto" panose="02000000000000000000" pitchFamily="2" charset="0"/>
                <a:cs typeface="Poppins Medium" pitchFamily="2" charset="77"/>
              </a:rPr>
              <a:t>DATA SOURCE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7C99D-0ED8-D64C-986D-6DFC754B6CD6}"/>
              </a:ext>
            </a:extLst>
          </p:cNvPr>
          <p:cNvSpPr txBox="1"/>
          <p:nvPr/>
        </p:nvSpPr>
        <p:spPr>
          <a:xfrm>
            <a:off x="1263085" y="4883925"/>
            <a:ext cx="81032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It acts as a bridge between Tableau and your raw data</a:t>
            </a:r>
            <a:endParaRPr lang="en-US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8AD672-874E-014B-B923-0730F33EEF49}"/>
              </a:ext>
            </a:extLst>
          </p:cNvPr>
          <p:cNvSpPr/>
          <p:nvPr/>
        </p:nvSpPr>
        <p:spPr>
          <a:xfrm>
            <a:off x="598907" y="6256862"/>
            <a:ext cx="344824" cy="3448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C2790-9F4C-014D-A1C1-BC1A3C4470FD}"/>
              </a:ext>
            </a:extLst>
          </p:cNvPr>
          <p:cNvSpPr txBox="1"/>
          <p:nvPr/>
        </p:nvSpPr>
        <p:spPr>
          <a:xfrm>
            <a:off x="1268298" y="7319403"/>
            <a:ext cx="85293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 A Data Source can include multiple connections across databases or files.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434845-BAFB-8741-9E47-273542B981F4}"/>
              </a:ext>
            </a:extLst>
          </p:cNvPr>
          <p:cNvSpPr/>
          <p:nvPr/>
        </p:nvSpPr>
        <p:spPr>
          <a:xfrm>
            <a:off x="598908" y="7525179"/>
            <a:ext cx="344824" cy="3448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52CCA7-ECF9-A342-A879-80C1BE3E9092}"/>
              </a:ext>
            </a:extLst>
          </p:cNvPr>
          <p:cNvSpPr txBox="1"/>
          <p:nvPr/>
        </p:nvSpPr>
        <p:spPr>
          <a:xfrm>
            <a:off x="1263085" y="8550850"/>
            <a:ext cx="81032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When connected to Excel, it displays all the available sheets and named ranges.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56ED26-B5AD-93F7-75A7-47D704AB35D7}"/>
              </a:ext>
            </a:extLst>
          </p:cNvPr>
          <p:cNvSpPr/>
          <p:nvPr/>
        </p:nvSpPr>
        <p:spPr>
          <a:xfrm>
            <a:off x="598907" y="5026043"/>
            <a:ext cx="344824" cy="3448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37D18C-3324-57BE-E1BE-BBBCF5D9B5DD}"/>
              </a:ext>
            </a:extLst>
          </p:cNvPr>
          <p:cNvSpPr txBox="1"/>
          <p:nvPr/>
        </p:nvSpPr>
        <p:spPr>
          <a:xfrm>
            <a:off x="1268298" y="6162021"/>
            <a:ext cx="85293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It helps Tableau connect to different types of data (Excel, CSV, Databases, Cloud, etc.).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19D72D9-A93B-6A29-BEA2-3C75D278B70B}"/>
              </a:ext>
            </a:extLst>
          </p:cNvPr>
          <p:cNvSpPr/>
          <p:nvPr/>
        </p:nvSpPr>
        <p:spPr>
          <a:xfrm>
            <a:off x="604121" y="8754446"/>
            <a:ext cx="344824" cy="3448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1D53CA-01C2-D7A8-F2F5-7555AA4D52AF}"/>
              </a:ext>
            </a:extLst>
          </p:cNvPr>
          <p:cNvSpPr/>
          <p:nvPr/>
        </p:nvSpPr>
        <p:spPr>
          <a:xfrm>
            <a:off x="604121" y="9744404"/>
            <a:ext cx="344824" cy="3448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995459-A349-DD21-B70D-5FB965AA566A}"/>
              </a:ext>
            </a:extLst>
          </p:cNvPr>
          <p:cNvSpPr txBox="1"/>
          <p:nvPr/>
        </p:nvSpPr>
        <p:spPr>
          <a:xfrm>
            <a:off x="1263086" y="9767048"/>
            <a:ext cx="8391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You can drag tables into the canvas to create a unified dataset for analysis.</a:t>
            </a:r>
            <a:endParaRPr lang="en-US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pic>
        <p:nvPicPr>
          <p:cNvPr id="40" name="Picture Placeholder 3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92BBC4-6FFF-8ED8-8C2D-A7BCA1E96D0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61" r="3036"/>
          <a:stretch/>
        </p:blipFill>
        <p:spPr>
          <a:xfrm>
            <a:off x="9846513" y="1688123"/>
            <a:ext cx="13927016" cy="103397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5FBB7C-0712-6DA3-B2EA-D6113589EE4C}"/>
              </a:ext>
            </a:extLst>
          </p:cNvPr>
          <p:cNvSpPr txBox="1"/>
          <p:nvPr/>
        </p:nvSpPr>
        <p:spPr>
          <a:xfrm>
            <a:off x="65899" y="13096764"/>
            <a:ext cx="2143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Divakar</a:t>
            </a:r>
          </a:p>
        </p:txBody>
      </p:sp>
    </p:spTree>
    <p:extLst>
      <p:ext uri="{BB962C8B-B14F-4D97-AF65-F5344CB8AC3E}">
        <p14:creationId xmlns:p14="http://schemas.microsoft.com/office/powerpoint/2010/main" val="184942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imagen 2">
            <a:extLst>
              <a:ext uri="{FF2B5EF4-FFF2-40B4-BE49-F238E27FC236}">
                <a16:creationId xmlns:a16="http://schemas.microsoft.com/office/drawing/2014/main" id="{C0D6E8CA-E1A8-F893-ECF4-46F2CC2562D5}"/>
              </a:ext>
            </a:extLst>
          </p:cNvPr>
          <p:cNvSpPr txBox="1">
            <a:spLocks/>
          </p:cNvSpPr>
          <p:nvPr/>
        </p:nvSpPr>
        <p:spPr>
          <a:xfrm>
            <a:off x="11842532" y="6191302"/>
            <a:ext cx="12811762" cy="75246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endParaRPr lang="en-IN" dirty="0"/>
          </a:p>
        </p:txBody>
      </p:sp>
      <p:sp>
        <p:nvSpPr>
          <p:cNvPr id="3" name="Marcador de imagen 2"/>
          <p:cNvSpPr>
            <a:spLocks noGrp="1"/>
          </p:cNvSpPr>
          <p:nvPr>
            <p:ph type="pic" sz="quarter" idx="14"/>
          </p:nvPr>
        </p:nvSpPr>
        <p:spPr>
          <a:xfrm>
            <a:off x="-276644" y="-261256"/>
            <a:ext cx="24930938" cy="645255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773619-998B-5748-B08A-D0E4ECCFB623}"/>
              </a:ext>
            </a:extLst>
          </p:cNvPr>
          <p:cNvSpPr/>
          <p:nvPr/>
        </p:nvSpPr>
        <p:spPr>
          <a:xfrm rot="10800000" flipV="1">
            <a:off x="-17" y="0"/>
            <a:ext cx="24377653" cy="5759923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71000">
                <a:schemeClr val="accent3">
                  <a:alpha val="80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86145D7-F1F4-824A-ABA2-76F56CB9E631}"/>
              </a:ext>
            </a:extLst>
          </p:cNvPr>
          <p:cNvGrpSpPr/>
          <p:nvPr/>
        </p:nvGrpSpPr>
        <p:grpSpPr>
          <a:xfrm>
            <a:off x="6750034" y="434585"/>
            <a:ext cx="10877550" cy="1138773"/>
            <a:chOff x="6750050" y="1249596"/>
            <a:chExt cx="10877550" cy="1138773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133785E-0B00-E64A-9AC0-44059588742B}"/>
                </a:ext>
              </a:extLst>
            </p:cNvPr>
            <p:cNvSpPr txBox="1"/>
            <p:nvPr/>
          </p:nvSpPr>
          <p:spPr>
            <a:xfrm>
              <a:off x="6750050" y="1618928"/>
              <a:ext cx="1087755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400" dirty="0"/>
                <a:t>1. Data Combining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BC3E1C2-46ED-9F4A-B722-3A0873B76B06}"/>
                </a:ext>
              </a:extLst>
            </p:cNvPr>
            <p:cNvSpPr txBox="1"/>
            <p:nvPr/>
          </p:nvSpPr>
          <p:spPr>
            <a:xfrm>
              <a:off x="11454489" y="1249596"/>
              <a:ext cx="1468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spc="600" dirty="0">
                  <a:latin typeface="Montserrat Light" pitchFamily="2" charset="77"/>
                  <a:ea typeface="Lato Medium" panose="020F0502020204030203" pitchFamily="34" charset="0"/>
                  <a:cs typeface="Lato Medium" panose="020F0502020204030203" pitchFamily="34" charset="0"/>
                </a:rPr>
                <a:t>Canvas</a:t>
              </a:r>
            </a:p>
          </p:txBody>
        </p:sp>
      </p:grpSp>
      <p:sp>
        <p:nvSpPr>
          <p:cNvPr id="44" name="Freeform 43">
            <a:extLst>
              <a:ext uri="{FF2B5EF4-FFF2-40B4-BE49-F238E27FC236}">
                <a16:creationId xmlns:a16="http://schemas.microsoft.com/office/drawing/2014/main" id="{7C3586E0-03CB-8A44-96A7-00002FA17364}"/>
              </a:ext>
            </a:extLst>
          </p:cNvPr>
          <p:cNvSpPr/>
          <p:nvPr/>
        </p:nvSpPr>
        <p:spPr>
          <a:xfrm>
            <a:off x="6989355" y="717599"/>
            <a:ext cx="1266380" cy="88052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6" h="964">
                <a:moveTo>
                  <a:pt x="1051" y="523"/>
                </a:moveTo>
                <a:cubicBezTo>
                  <a:pt x="1046" y="533"/>
                  <a:pt x="1040" y="542"/>
                  <a:pt x="1034" y="551"/>
                </a:cubicBezTo>
                <a:cubicBezTo>
                  <a:pt x="1032" y="553"/>
                  <a:pt x="1026" y="558"/>
                  <a:pt x="1020" y="563"/>
                </a:cubicBezTo>
                <a:lnTo>
                  <a:pt x="917" y="480"/>
                </a:lnTo>
                <a:lnTo>
                  <a:pt x="917" y="479"/>
                </a:lnTo>
                <a:cubicBezTo>
                  <a:pt x="916" y="479"/>
                  <a:pt x="896" y="460"/>
                  <a:pt x="865" y="433"/>
                </a:cubicBezTo>
                <a:cubicBezTo>
                  <a:pt x="863" y="431"/>
                  <a:pt x="860" y="429"/>
                  <a:pt x="858" y="428"/>
                </a:cubicBezTo>
                <a:cubicBezTo>
                  <a:pt x="852" y="419"/>
                  <a:pt x="842" y="413"/>
                  <a:pt x="831" y="415"/>
                </a:cubicBezTo>
                <a:cubicBezTo>
                  <a:pt x="813" y="416"/>
                  <a:pt x="796" y="411"/>
                  <a:pt x="783" y="401"/>
                </a:cubicBezTo>
                <a:cubicBezTo>
                  <a:pt x="769" y="390"/>
                  <a:pt x="760" y="374"/>
                  <a:pt x="758" y="357"/>
                </a:cubicBezTo>
                <a:cubicBezTo>
                  <a:pt x="757" y="342"/>
                  <a:pt x="743" y="331"/>
                  <a:pt x="728" y="332"/>
                </a:cubicBezTo>
                <a:lnTo>
                  <a:pt x="608" y="345"/>
                </a:lnTo>
                <a:cubicBezTo>
                  <a:pt x="602" y="346"/>
                  <a:pt x="597" y="348"/>
                  <a:pt x="593" y="352"/>
                </a:cubicBezTo>
                <a:cubicBezTo>
                  <a:pt x="587" y="357"/>
                  <a:pt x="583" y="365"/>
                  <a:pt x="583" y="373"/>
                </a:cubicBezTo>
                <a:cubicBezTo>
                  <a:pt x="583" y="374"/>
                  <a:pt x="583" y="375"/>
                  <a:pt x="583" y="376"/>
                </a:cubicBezTo>
                <a:cubicBezTo>
                  <a:pt x="584" y="383"/>
                  <a:pt x="581" y="405"/>
                  <a:pt x="569" y="435"/>
                </a:cubicBezTo>
                <a:cubicBezTo>
                  <a:pt x="558" y="465"/>
                  <a:pt x="546" y="482"/>
                  <a:pt x="540" y="486"/>
                </a:cubicBezTo>
                <a:cubicBezTo>
                  <a:pt x="538" y="487"/>
                  <a:pt x="530" y="490"/>
                  <a:pt x="518" y="488"/>
                </a:cubicBezTo>
                <a:cubicBezTo>
                  <a:pt x="508" y="486"/>
                  <a:pt x="502" y="483"/>
                  <a:pt x="499" y="481"/>
                </a:cubicBezTo>
                <a:lnTo>
                  <a:pt x="533" y="311"/>
                </a:lnTo>
                <a:lnTo>
                  <a:pt x="651" y="274"/>
                </a:lnTo>
                <a:cubicBezTo>
                  <a:pt x="653" y="274"/>
                  <a:pt x="655" y="273"/>
                  <a:pt x="656" y="272"/>
                </a:cubicBezTo>
                <a:lnTo>
                  <a:pt x="943" y="229"/>
                </a:lnTo>
                <a:lnTo>
                  <a:pt x="1109" y="445"/>
                </a:lnTo>
                <a:cubicBezTo>
                  <a:pt x="1081" y="473"/>
                  <a:pt x="1065" y="499"/>
                  <a:pt x="1051" y="523"/>
                </a:cubicBezTo>
                <a:close/>
                <a:moveTo>
                  <a:pt x="1073" y="709"/>
                </a:moveTo>
                <a:lnTo>
                  <a:pt x="1072" y="710"/>
                </a:lnTo>
                <a:cubicBezTo>
                  <a:pt x="1072" y="710"/>
                  <a:pt x="1072" y="711"/>
                  <a:pt x="1071" y="711"/>
                </a:cubicBezTo>
                <a:cubicBezTo>
                  <a:pt x="1063" y="721"/>
                  <a:pt x="1049" y="722"/>
                  <a:pt x="1039" y="714"/>
                </a:cubicBezTo>
                <a:lnTo>
                  <a:pt x="1010" y="691"/>
                </a:lnTo>
                <a:cubicBezTo>
                  <a:pt x="1010" y="690"/>
                  <a:pt x="1009" y="690"/>
                  <a:pt x="1009" y="689"/>
                </a:cubicBezTo>
                <a:lnTo>
                  <a:pt x="849" y="560"/>
                </a:lnTo>
                <a:cubicBezTo>
                  <a:pt x="837" y="551"/>
                  <a:pt x="820" y="553"/>
                  <a:pt x="810" y="565"/>
                </a:cubicBezTo>
                <a:cubicBezTo>
                  <a:pt x="805" y="571"/>
                  <a:pt x="803" y="578"/>
                  <a:pt x="804" y="585"/>
                </a:cubicBezTo>
                <a:cubicBezTo>
                  <a:pt x="805" y="593"/>
                  <a:pt x="808" y="599"/>
                  <a:pt x="814" y="604"/>
                </a:cubicBezTo>
                <a:lnTo>
                  <a:pt x="975" y="733"/>
                </a:lnTo>
                <a:cubicBezTo>
                  <a:pt x="986" y="743"/>
                  <a:pt x="988" y="761"/>
                  <a:pt x="979" y="773"/>
                </a:cubicBezTo>
                <a:lnTo>
                  <a:pt x="978" y="774"/>
                </a:lnTo>
                <a:cubicBezTo>
                  <a:pt x="971" y="783"/>
                  <a:pt x="957" y="784"/>
                  <a:pt x="949" y="777"/>
                </a:cubicBezTo>
                <a:lnTo>
                  <a:pt x="783" y="643"/>
                </a:lnTo>
                <a:cubicBezTo>
                  <a:pt x="771" y="634"/>
                  <a:pt x="753" y="635"/>
                  <a:pt x="744" y="647"/>
                </a:cubicBezTo>
                <a:cubicBezTo>
                  <a:pt x="739" y="653"/>
                  <a:pt x="737" y="661"/>
                  <a:pt x="738" y="668"/>
                </a:cubicBezTo>
                <a:cubicBezTo>
                  <a:pt x="739" y="675"/>
                  <a:pt x="742" y="682"/>
                  <a:pt x="748" y="687"/>
                </a:cubicBezTo>
                <a:lnTo>
                  <a:pt x="877" y="790"/>
                </a:lnTo>
                <a:cubicBezTo>
                  <a:pt x="889" y="800"/>
                  <a:pt x="891" y="817"/>
                  <a:pt x="883" y="829"/>
                </a:cubicBezTo>
                <a:cubicBezTo>
                  <a:pt x="882" y="829"/>
                  <a:pt x="882" y="830"/>
                  <a:pt x="882" y="830"/>
                </a:cubicBezTo>
                <a:cubicBezTo>
                  <a:pt x="881" y="830"/>
                  <a:pt x="881" y="831"/>
                  <a:pt x="880" y="831"/>
                </a:cubicBezTo>
                <a:cubicBezTo>
                  <a:pt x="873" y="840"/>
                  <a:pt x="859" y="841"/>
                  <a:pt x="850" y="834"/>
                </a:cubicBezTo>
                <a:lnTo>
                  <a:pt x="716" y="726"/>
                </a:lnTo>
                <a:cubicBezTo>
                  <a:pt x="707" y="719"/>
                  <a:pt x="695" y="718"/>
                  <a:pt x="686" y="724"/>
                </a:cubicBezTo>
                <a:cubicBezTo>
                  <a:pt x="682" y="725"/>
                  <a:pt x="679" y="728"/>
                  <a:pt x="677" y="731"/>
                </a:cubicBezTo>
                <a:cubicBezTo>
                  <a:pt x="667" y="743"/>
                  <a:pt x="669" y="760"/>
                  <a:pt x="681" y="770"/>
                </a:cubicBezTo>
                <a:lnTo>
                  <a:pt x="774" y="843"/>
                </a:lnTo>
                <a:cubicBezTo>
                  <a:pt x="780" y="848"/>
                  <a:pt x="784" y="855"/>
                  <a:pt x="785" y="862"/>
                </a:cubicBezTo>
                <a:cubicBezTo>
                  <a:pt x="788" y="875"/>
                  <a:pt x="784" y="881"/>
                  <a:pt x="781" y="885"/>
                </a:cubicBezTo>
                <a:cubicBezTo>
                  <a:pt x="776" y="891"/>
                  <a:pt x="771" y="893"/>
                  <a:pt x="764" y="893"/>
                </a:cubicBezTo>
                <a:cubicBezTo>
                  <a:pt x="758" y="893"/>
                  <a:pt x="751" y="890"/>
                  <a:pt x="745" y="886"/>
                </a:cubicBezTo>
                <a:lnTo>
                  <a:pt x="684" y="837"/>
                </a:lnTo>
                <a:cubicBezTo>
                  <a:pt x="681" y="818"/>
                  <a:pt x="671" y="800"/>
                  <a:pt x="655" y="786"/>
                </a:cubicBezTo>
                <a:cubicBezTo>
                  <a:pt x="648" y="781"/>
                  <a:pt x="640" y="777"/>
                  <a:pt x="632" y="774"/>
                </a:cubicBezTo>
                <a:lnTo>
                  <a:pt x="643" y="760"/>
                </a:lnTo>
                <a:cubicBezTo>
                  <a:pt x="671" y="726"/>
                  <a:pt x="665" y="675"/>
                  <a:pt x="630" y="647"/>
                </a:cubicBezTo>
                <a:cubicBezTo>
                  <a:pt x="597" y="620"/>
                  <a:pt x="548" y="624"/>
                  <a:pt x="520" y="656"/>
                </a:cubicBezTo>
                <a:cubicBezTo>
                  <a:pt x="515" y="649"/>
                  <a:pt x="509" y="642"/>
                  <a:pt x="502" y="636"/>
                </a:cubicBezTo>
                <a:cubicBezTo>
                  <a:pt x="476" y="615"/>
                  <a:pt x="441" y="613"/>
                  <a:pt x="413" y="629"/>
                </a:cubicBezTo>
                <a:cubicBezTo>
                  <a:pt x="408" y="619"/>
                  <a:pt x="401" y="610"/>
                  <a:pt x="392" y="603"/>
                </a:cubicBezTo>
                <a:cubicBezTo>
                  <a:pt x="385" y="597"/>
                  <a:pt x="377" y="593"/>
                  <a:pt x="369" y="590"/>
                </a:cubicBezTo>
                <a:cubicBezTo>
                  <a:pt x="367" y="586"/>
                  <a:pt x="363" y="582"/>
                  <a:pt x="359" y="579"/>
                </a:cubicBezTo>
                <a:cubicBezTo>
                  <a:pt x="349" y="572"/>
                  <a:pt x="337" y="563"/>
                  <a:pt x="334" y="560"/>
                </a:cubicBezTo>
                <a:cubicBezTo>
                  <a:pt x="327" y="550"/>
                  <a:pt x="322" y="541"/>
                  <a:pt x="316" y="531"/>
                </a:cubicBezTo>
                <a:cubicBezTo>
                  <a:pt x="302" y="507"/>
                  <a:pt x="286" y="481"/>
                  <a:pt x="258" y="453"/>
                </a:cubicBezTo>
                <a:lnTo>
                  <a:pt x="426" y="243"/>
                </a:lnTo>
                <a:cubicBezTo>
                  <a:pt x="430" y="243"/>
                  <a:pt x="434" y="243"/>
                  <a:pt x="437" y="244"/>
                </a:cubicBezTo>
                <a:cubicBezTo>
                  <a:pt x="463" y="246"/>
                  <a:pt x="498" y="250"/>
                  <a:pt x="531" y="254"/>
                </a:cubicBezTo>
                <a:lnTo>
                  <a:pt x="501" y="264"/>
                </a:lnTo>
                <a:cubicBezTo>
                  <a:pt x="492" y="267"/>
                  <a:pt x="485" y="275"/>
                  <a:pt x="483" y="284"/>
                </a:cubicBezTo>
                <a:lnTo>
                  <a:pt x="443" y="476"/>
                </a:lnTo>
                <a:cubicBezTo>
                  <a:pt x="443" y="478"/>
                  <a:pt x="443" y="480"/>
                  <a:pt x="443" y="482"/>
                </a:cubicBezTo>
                <a:cubicBezTo>
                  <a:pt x="443" y="503"/>
                  <a:pt x="456" y="521"/>
                  <a:pt x="478" y="532"/>
                </a:cubicBezTo>
                <a:cubicBezTo>
                  <a:pt x="492" y="539"/>
                  <a:pt x="510" y="544"/>
                  <a:pt x="527" y="544"/>
                </a:cubicBezTo>
                <a:cubicBezTo>
                  <a:pt x="544" y="544"/>
                  <a:pt x="561" y="540"/>
                  <a:pt x="573" y="530"/>
                </a:cubicBezTo>
                <a:cubicBezTo>
                  <a:pt x="596" y="514"/>
                  <a:pt x="613" y="476"/>
                  <a:pt x="621" y="455"/>
                </a:cubicBezTo>
                <a:cubicBezTo>
                  <a:pt x="624" y="446"/>
                  <a:pt x="633" y="421"/>
                  <a:pt x="637" y="398"/>
                </a:cubicBezTo>
                <a:lnTo>
                  <a:pt x="710" y="390"/>
                </a:lnTo>
                <a:cubicBezTo>
                  <a:pt x="717" y="411"/>
                  <a:pt x="730" y="429"/>
                  <a:pt x="748" y="444"/>
                </a:cubicBezTo>
                <a:cubicBezTo>
                  <a:pt x="770" y="461"/>
                  <a:pt x="796" y="470"/>
                  <a:pt x="823" y="470"/>
                </a:cubicBezTo>
                <a:cubicBezTo>
                  <a:pt x="824" y="470"/>
                  <a:pt x="824" y="470"/>
                  <a:pt x="825" y="470"/>
                </a:cubicBezTo>
                <a:cubicBezTo>
                  <a:pt x="826" y="472"/>
                  <a:pt x="827" y="473"/>
                  <a:pt x="829" y="474"/>
                </a:cubicBezTo>
                <a:cubicBezTo>
                  <a:pt x="853" y="496"/>
                  <a:pt x="871" y="512"/>
                  <a:pt x="877" y="518"/>
                </a:cubicBezTo>
                <a:cubicBezTo>
                  <a:pt x="878" y="519"/>
                  <a:pt x="879" y="520"/>
                  <a:pt x="881" y="521"/>
                </a:cubicBezTo>
                <a:lnTo>
                  <a:pt x="1069" y="672"/>
                </a:lnTo>
                <a:cubicBezTo>
                  <a:pt x="1080" y="681"/>
                  <a:pt x="1082" y="698"/>
                  <a:pt x="1073" y="709"/>
                </a:cubicBezTo>
                <a:close/>
                <a:moveTo>
                  <a:pt x="598" y="899"/>
                </a:moveTo>
                <a:cubicBezTo>
                  <a:pt x="589" y="910"/>
                  <a:pt x="573" y="912"/>
                  <a:pt x="562" y="903"/>
                </a:cubicBezTo>
                <a:cubicBezTo>
                  <a:pt x="551" y="894"/>
                  <a:pt x="549" y="878"/>
                  <a:pt x="558" y="867"/>
                </a:cubicBezTo>
                <a:lnTo>
                  <a:pt x="585" y="834"/>
                </a:lnTo>
                <a:cubicBezTo>
                  <a:pt x="590" y="827"/>
                  <a:pt x="597" y="824"/>
                  <a:pt x="605" y="824"/>
                </a:cubicBezTo>
                <a:cubicBezTo>
                  <a:pt x="610" y="824"/>
                  <a:pt x="616" y="826"/>
                  <a:pt x="621" y="830"/>
                </a:cubicBezTo>
                <a:cubicBezTo>
                  <a:pt x="632" y="838"/>
                  <a:pt x="633" y="854"/>
                  <a:pt x="625" y="865"/>
                </a:cubicBezTo>
                <a:close/>
                <a:moveTo>
                  <a:pt x="484" y="858"/>
                </a:moveTo>
                <a:cubicBezTo>
                  <a:pt x="477" y="859"/>
                  <a:pt x="471" y="857"/>
                  <a:pt x="465" y="853"/>
                </a:cubicBezTo>
                <a:cubicBezTo>
                  <a:pt x="460" y="849"/>
                  <a:pt x="457" y="843"/>
                  <a:pt x="456" y="836"/>
                </a:cubicBezTo>
                <a:cubicBezTo>
                  <a:pt x="455" y="829"/>
                  <a:pt x="457" y="822"/>
                  <a:pt x="461" y="817"/>
                </a:cubicBezTo>
                <a:lnTo>
                  <a:pt x="560" y="694"/>
                </a:lnTo>
                <a:cubicBezTo>
                  <a:pt x="569" y="683"/>
                  <a:pt x="585" y="681"/>
                  <a:pt x="596" y="690"/>
                </a:cubicBezTo>
                <a:cubicBezTo>
                  <a:pt x="607" y="699"/>
                  <a:pt x="609" y="715"/>
                  <a:pt x="600" y="726"/>
                </a:cubicBezTo>
                <a:lnTo>
                  <a:pt x="501" y="849"/>
                </a:lnTo>
                <a:cubicBezTo>
                  <a:pt x="497" y="854"/>
                  <a:pt x="491" y="857"/>
                  <a:pt x="484" y="858"/>
                </a:cubicBezTo>
                <a:close/>
                <a:moveTo>
                  <a:pt x="382" y="786"/>
                </a:moveTo>
                <a:cubicBezTo>
                  <a:pt x="377" y="782"/>
                  <a:pt x="374" y="776"/>
                  <a:pt x="373" y="769"/>
                </a:cubicBezTo>
                <a:cubicBezTo>
                  <a:pt x="372" y="762"/>
                  <a:pt x="374" y="756"/>
                  <a:pt x="378" y="750"/>
                </a:cubicBezTo>
                <a:lnTo>
                  <a:pt x="432" y="684"/>
                </a:lnTo>
                <a:cubicBezTo>
                  <a:pt x="440" y="672"/>
                  <a:pt x="457" y="671"/>
                  <a:pt x="468" y="680"/>
                </a:cubicBezTo>
                <a:cubicBezTo>
                  <a:pt x="473" y="684"/>
                  <a:pt x="476" y="690"/>
                  <a:pt x="477" y="697"/>
                </a:cubicBezTo>
                <a:cubicBezTo>
                  <a:pt x="478" y="703"/>
                  <a:pt x="476" y="710"/>
                  <a:pt x="472" y="715"/>
                </a:cubicBezTo>
                <a:lnTo>
                  <a:pt x="418" y="782"/>
                </a:lnTo>
                <a:cubicBezTo>
                  <a:pt x="409" y="793"/>
                  <a:pt x="393" y="795"/>
                  <a:pt x="382" y="786"/>
                </a:cubicBezTo>
                <a:close/>
                <a:moveTo>
                  <a:pt x="299" y="719"/>
                </a:moveTo>
                <a:cubicBezTo>
                  <a:pt x="288" y="710"/>
                  <a:pt x="286" y="694"/>
                  <a:pt x="295" y="683"/>
                </a:cubicBezTo>
                <a:lnTo>
                  <a:pt x="322" y="650"/>
                </a:lnTo>
                <a:cubicBezTo>
                  <a:pt x="326" y="645"/>
                  <a:pt x="332" y="641"/>
                  <a:pt x="339" y="641"/>
                </a:cubicBezTo>
                <a:cubicBezTo>
                  <a:pt x="340" y="640"/>
                  <a:pt x="341" y="640"/>
                  <a:pt x="341" y="640"/>
                </a:cubicBezTo>
                <a:cubicBezTo>
                  <a:pt x="347" y="640"/>
                  <a:pt x="353" y="642"/>
                  <a:pt x="357" y="646"/>
                </a:cubicBezTo>
                <a:cubicBezTo>
                  <a:pt x="368" y="655"/>
                  <a:pt x="370" y="671"/>
                  <a:pt x="361" y="682"/>
                </a:cubicBezTo>
                <a:lnTo>
                  <a:pt x="335" y="715"/>
                </a:lnTo>
                <a:cubicBezTo>
                  <a:pt x="326" y="726"/>
                  <a:pt x="310" y="728"/>
                  <a:pt x="299" y="719"/>
                </a:cubicBezTo>
                <a:close/>
                <a:moveTo>
                  <a:pt x="1381" y="389"/>
                </a:moveTo>
                <a:cubicBezTo>
                  <a:pt x="1372" y="377"/>
                  <a:pt x="1354" y="375"/>
                  <a:pt x="1342" y="384"/>
                </a:cubicBezTo>
                <a:lnTo>
                  <a:pt x="1235" y="466"/>
                </a:lnTo>
                <a:cubicBezTo>
                  <a:pt x="1221" y="477"/>
                  <a:pt x="1200" y="474"/>
                  <a:pt x="1189" y="460"/>
                </a:cubicBezTo>
                <a:lnTo>
                  <a:pt x="1172" y="438"/>
                </a:lnTo>
                <a:cubicBezTo>
                  <a:pt x="1171" y="435"/>
                  <a:pt x="1170" y="432"/>
                  <a:pt x="1168" y="430"/>
                </a:cubicBezTo>
                <a:cubicBezTo>
                  <a:pt x="1167" y="428"/>
                  <a:pt x="1165" y="427"/>
                  <a:pt x="1163" y="426"/>
                </a:cubicBezTo>
                <a:lnTo>
                  <a:pt x="986" y="194"/>
                </a:lnTo>
                <a:cubicBezTo>
                  <a:pt x="980" y="187"/>
                  <a:pt x="978" y="178"/>
                  <a:pt x="979" y="169"/>
                </a:cubicBezTo>
                <a:cubicBezTo>
                  <a:pt x="980" y="161"/>
                  <a:pt x="985" y="153"/>
                  <a:pt x="992" y="148"/>
                </a:cubicBezTo>
                <a:lnTo>
                  <a:pt x="1099" y="66"/>
                </a:lnTo>
                <a:cubicBezTo>
                  <a:pt x="1111" y="57"/>
                  <a:pt x="1113" y="39"/>
                  <a:pt x="1104" y="27"/>
                </a:cubicBezTo>
                <a:cubicBezTo>
                  <a:pt x="1095" y="15"/>
                  <a:pt x="1077" y="13"/>
                  <a:pt x="1065" y="22"/>
                </a:cubicBezTo>
                <a:lnTo>
                  <a:pt x="958" y="104"/>
                </a:lnTo>
                <a:cubicBezTo>
                  <a:pt x="940" y="118"/>
                  <a:pt x="928" y="139"/>
                  <a:pt x="925" y="162"/>
                </a:cubicBezTo>
                <a:cubicBezTo>
                  <a:pt x="924" y="167"/>
                  <a:pt x="924" y="171"/>
                  <a:pt x="924" y="175"/>
                </a:cubicBezTo>
                <a:lnTo>
                  <a:pt x="639" y="219"/>
                </a:lnTo>
                <a:cubicBezTo>
                  <a:pt x="638" y="219"/>
                  <a:pt x="636" y="220"/>
                  <a:pt x="635" y="220"/>
                </a:cubicBezTo>
                <a:cubicBezTo>
                  <a:pt x="602" y="207"/>
                  <a:pt x="537" y="199"/>
                  <a:pt x="461" y="191"/>
                </a:cubicBezTo>
                <a:cubicBezTo>
                  <a:pt x="475" y="156"/>
                  <a:pt x="465" y="115"/>
                  <a:pt x="434" y="90"/>
                </a:cubicBezTo>
                <a:lnTo>
                  <a:pt x="329" y="6"/>
                </a:lnTo>
                <a:cubicBezTo>
                  <a:pt x="317" y="-3"/>
                  <a:pt x="299" y="-1"/>
                  <a:pt x="290" y="11"/>
                </a:cubicBezTo>
                <a:cubicBezTo>
                  <a:pt x="280" y="23"/>
                  <a:pt x="282" y="40"/>
                  <a:pt x="294" y="50"/>
                </a:cubicBezTo>
                <a:lnTo>
                  <a:pt x="400" y="133"/>
                </a:lnTo>
                <a:cubicBezTo>
                  <a:pt x="414" y="145"/>
                  <a:pt x="416" y="165"/>
                  <a:pt x="405" y="180"/>
                </a:cubicBezTo>
                <a:lnTo>
                  <a:pt x="196" y="442"/>
                </a:lnTo>
                <a:cubicBezTo>
                  <a:pt x="185" y="456"/>
                  <a:pt x="164" y="458"/>
                  <a:pt x="150" y="447"/>
                </a:cubicBezTo>
                <a:lnTo>
                  <a:pt x="45" y="363"/>
                </a:lnTo>
                <a:cubicBezTo>
                  <a:pt x="33" y="354"/>
                  <a:pt x="16" y="356"/>
                  <a:pt x="6" y="367"/>
                </a:cubicBezTo>
                <a:cubicBezTo>
                  <a:pt x="-3" y="379"/>
                  <a:pt x="-1" y="397"/>
                  <a:pt x="10" y="406"/>
                </a:cubicBezTo>
                <a:lnTo>
                  <a:pt x="116" y="490"/>
                </a:lnTo>
                <a:cubicBezTo>
                  <a:pt x="132" y="503"/>
                  <a:pt x="151" y="509"/>
                  <a:pt x="171" y="509"/>
                </a:cubicBezTo>
                <a:cubicBezTo>
                  <a:pt x="188" y="509"/>
                  <a:pt x="206" y="504"/>
                  <a:pt x="220" y="494"/>
                </a:cubicBezTo>
                <a:cubicBezTo>
                  <a:pt x="243" y="516"/>
                  <a:pt x="255" y="537"/>
                  <a:pt x="268" y="559"/>
                </a:cubicBezTo>
                <a:cubicBezTo>
                  <a:pt x="274" y="569"/>
                  <a:pt x="281" y="580"/>
                  <a:pt x="288" y="591"/>
                </a:cubicBezTo>
                <a:cubicBezTo>
                  <a:pt x="290" y="594"/>
                  <a:pt x="293" y="597"/>
                  <a:pt x="295" y="599"/>
                </a:cubicBezTo>
                <a:cubicBezTo>
                  <a:pt x="289" y="604"/>
                  <a:pt x="283" y="609"/>
                  <a:pt x="278" y="615"/>
                </a:cubicBezTo>
                <a:lnTo>
                  <a:pt x="252" y="649"/>
                </a:lnTo>
                <a:cubicBezTo>
                  <a:pt x="224" y="684"/>
                  <a:pt x="229" y="734"/>
                  <a:pt x="264" y="762"/>
                </a:cubicBezTo>
                <a:cubicBezTo>
                  <a:pt x="279" y="774"/>
                  <a:pt x="297" y="780"/>
                  <a:pt x="315" y="780"/>
                </a:cubicBezTo>
                <a:cubicBezTo>
                  <a:pt x="316" y="780"/>
                  <a:pt x="317" y="780"/>
                  <a:pt x="319" y="780"/>
                </a:cubicBezTo>
                <a:cubicBezTo>
                  <a:pt x="322" y="799"/>
                  <a:pt x="332" y="817"/>
                  <a:pt x="348" y="829"/>
                </a:cubicBezTo>
                <a:cubicBezTo>
                  <a:pt x="362" y="841"/>
                  <a:pt x="380" y="847"/>
                  <a:pt x="398" y="847"/>
                </a:cubicBezTo>
                <a:cubicBezTo>
                  <a:pt x="399" y="847"/>
                  <a:pt x="401" y="847"/>
                  <a:pt x="402" y="847"/>
                </a:cubicBezTo>
                <a:cubicBezTo>
                  <a:pt x="405" y="866"/>
                  <a:pt x="415" y="883"/>
                  <a:pt x="431" y="896"/>
                </a:cubicBezTo>
                <a:cubicBezTo>
                  <a:pt x="445" y="908"/>
                  <a:pt x="463" y="914"/>
                  <a:pt x="481" y="914"/>
                </a:cubicBezTo>
                <a:cubicBezTo>
                  <a:pt x="484" y="914"/>
                  <a:pt x="487" y="913"/>
                  <a:pt x="490" y="913"/>
                </a:cubicBezTo>
                <a:cubicBezTo>
                  <a:pt x="494" y="913"/>
                  <a:pt x="498" y="912"/>
                  <a:pt x="502" y="911"/>
                </a:cubicBezTo>
                <a:cubicBezTo>
                  <a:pt x="507" y="924"/>
                  <a:pt x="516" y="936"/>
                  <a:pt x="528" y="946"/>
                </a:cubicBezTo>
                <a:cubicBezTo>
                  <a:pt x="542" y="958"/>
                  <a:pt x="560" y="964"/>
                  <a:pt x="578" y="964"/>
                </a:cubicBezTo>
                <a:cubicBezTo>
                  <a:pt x="602" y="964"/>
                  <a:pt x="625" y="953"/>
                  <a:pt x="641" y="933"/>
                </a:cubicBezTo>
                <a:lnTo>
                  <a:pt x="668" y="900"/>
                </a:lnTo>
                <a:cubicBezTo>
                  <a:pt x="669" y="899"/>
                  <a:pt x="670" y="898"/>
                  <a:pt x="670" y="896"/>
                </a:cubicBezTo>
                <a:lnTo>
                  <a:pt x="711" y="929"/>
                </a:lnTo>
                <a:cubicBezTo>
                  <a:pt x="726" y="941"/>
                  <a:pt x="745" y="948"/>
                  <a:pt x="764" y="948"/>
                </a:cubicBezTo>
                <a:lnTo>
                  <a:pt x="765" y="948"/>
                </a:lnTo>
                <a:cubicBezTo>
                  <a:pt x="789" y="948"/>
                  <a:pt x="809" y="938"/>
                  <a:pt x="824" y="920"/>
                </a:cubicBezTo>
                <a:cubicBezTo>
                  <a:pt x="831" y="911"/>
                  <a:pt x="836" y="901"/>
                  <a:pt x="839" y="890"/>
                </a:cubicBezTo>
                <a:cubicBezTo>
                  <a:pt x="847" y="893"/>
                  <a:pt x="856" y="894"/>
                  <a:pt x="864" y="894"/>
                </a:cubicBezTo>
                <a:cubicBezTo>
                  <a:pt x="886" y="894"/>
                  <a:pt x="907" y="885"/>
                  <a:pt x="922" y="867"/>
                </a:cubicBezTo>
                <a:cubicBezTo>
                  <a:pt x="923" y="866"/>
                  <a:pt x="924" y="865"/>
                  <a:pt x="925" y="864"/>
                </a:cubicBezTo>
                <a:cubicBezTo>
                  <a:pt x="925" y="863"/>
                  <a:pt x="926" y="863"/>
                  <a:pt x="927" y="862"/>
                </a:cubicBezTo>
                <a:cubicBezTo>
                  <a:pt x="933" y="853"/>
                  <a:pt x="938" y="843"/>
                  <a:pt x="940" y="834"/>
                </a:cubicBezTo>
                <a:cubicBezTo>
                  <a:pt x="947" y="836"/>
                  <a:pt x="954" y="837"/>
                  <a:pt x="962" y="837"/>
                </a:cubicBezTo>
                <a:cubicBezTo>
                  <a:pt x="984" y="837"/>
                  <a:pt x="1006" y="827"/>
                  <a:pt x="1020" y="809"/>
                </a:cubicBezTo>
                <a:cubicBezTo>
                  <a:pt x="1021" y="809"/>
                  <a:pt x="1021" y="808"/>
                  <a:pt x="1021" y="808"/>
                </a:cubicBezTo>
                <a:cubicBezTo>
                  <a:pt x="1022" y="807"/>
                  <a:pt x="1022" y="807"/>
                  <a:pt x="1022" y="807"/>
                </a:cubicBezTo>
                <a:cubicBezTo>
                  <a:pt x="1030" y="796"/>
                  <a:pt x="1036" y="785"/>
                  <a:pt x="1038" y="773"/>
                </a:cubicBezTo>
                <a:cubicBezTo>
                  <a:pt x="1043" y="774"/>
                  <a:pt x="1049" y="774"/>
                  <a:pt x="1054" y="774"/>
                </a:cubicBezTo>
                <a:cubicBezTo>
                  <a:pt x="1076" y="774"/>
                  <a:pt x="1098" y="765"/>
                  <a:pt x="1113" y="747"/>
                </a:cubicBezTo>
                <a:cubicBezTo>
                  <a:pt x="1114" y="746"/>
                  <a:pt x="1115" y="745"/>
                  <a:pt x="1115" y="745"/>
                </a:cubicBezTo>
                <a:lnTo>
                  <a:pt x="1117" y="743"/>
                </a:lnTo>
                <a:cubicBezTo>
                  <a:pt x="1144" y="708"/>
                  <a:pt x="1138" y="657"/>
                  <a:pt x="1103" y="629"/>
                </a:cubicBezTo>
                <a:lnTo>
                  <a:pt x="1064" y="598"/>
                </a:lnTo>
                <a:cubicBezTo>
                  <a:pt x="1071" y="593"/>
                  <a:pt x="1076" y="588"/>
                  <a:pt x="1079" y="583"/>
                </a:cubicBezTo>
                <a:cubicBezTo>
                  <a:pt x="1087" y="572"/>
                  <a:pt x="1093" y="561"/>
                  <a:pt x="1099" y="551"/>
                </a:cubicBezTo>
                <a:cubicBezTo>
                  <a:pt x="1111" y="530"/>
                  <a:pt x="1123" y="510"/>
                  <a:pt x="1143" y="490"/>
                </a:cubicBezTo>
                <a:lnTo>
                  <a:pt x="1145" y="493"/>
                </a:lnTo>
                <a:cubicBezTo>
                  <a:pt x="1163" y="516"/>
                  <a:pt x="1189" y="528"/>
                  <a:pt x="1215" y="528"/>
                </a:cubicBezTo>
                <a:cubicBezTo>
                  <a:pt x="1234" y="528"/>
                  <a:pt x="1253" y="522"/>
                  <a:pt x="1269" y="510"/>
                </a:cubicBezTo>
                <a:lnTo>
                  <a:pt x="1376" y="428"/>
                </a:lnTo>
                <a:cubicBezTo>
                  <a:pt x="1388" y="418"/>
                  <a:pt x="1390" y="401"/>
                  <a:pt x="1381" y="389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solidFill>
                <a:schemeClr val="bg1"/>
              </a:solidFill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0AAACB-7357-4B41-B92C-18281AF4A9EF}"/>
              </a:ext>
            </a:extLst>
          </p:cNvPr>
          <p:cNvSpPr txBox="1"/>
          <p:nvPr/>
        </p:nvSpPr>
        <p:spPr>
          <a:xfrm>
            <a:off x="12428129" y="7819681"/>
            <a:ext cx="11420471" cy="4251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Displays a sample of the underlying data from your source (not the entire dataset, just a preview).</a:t>
            </a:r>
          </a:p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endParaRPr lang="en-GB" sz="2800" dirty="0">
              <a:solidFill>
                <a:schemeClr val="bg2">
                  <a:lumMod val="50000"/>
                </a:schemeClr>
              </a:solidFill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Rename fields, Copy and paste values</a:t>
            </a:r>
          </a:p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endParaRPr lang="en-GB" sz="2800" dirty="0">
              <a:solidFill>
                <a:schemeClr val="bg2">
                  <a:lumMod val="50000"/>
                </a:schemeClr>
              </a:solidFill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It allows to quickly verify data quality</a:t>
            </a:r>
          </a:p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endParaRPr lang="en-GB" sz="2800" dirty="0">
              <a:solidFill>
                <a:schemeClr val="bg2">
                  <a:lumMod val="50000"/>
                </a:schemeClr>
              </a:solidFill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bg2">
                    <a:lumMod val="50000"/>
                  </a:schemeClr>
                </a:solidFill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Hide or split fields and Add Aliases for values</a:t>
            </a: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CE41C622-2987-974F-8989-017E5352BF68}"/>
              </a:ext>
            </a:extLst>
          </p:cNvPr>
          <p:cNvSpPr/>
          <p:nvPr/>
        </p:nvSpPr>
        <p:spPr>
          <a:xfrm>
            <a:off x="14357165" y="6524784"/>
            <a:ext cx="852828" cy="94087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4" h="920">
                <a:moveTo>
                  <a:pt x="550" y="826"/>
                </a:moveTo>
                <a:lnTo>
                  <a:pt x="550" y="718"/>
                </a:lnTo>
                <a:cubicBezTo>
                  <a:pt x="550" y="710"/>
                  <a:pt x="547" y="703"/>
                  <a:pt x="542" y="698"/>
                </a:cubicBezTo>
                <a:cubicBezTo>
                  <a:pt x="537" y="693"/>
                  <a:pt x="530" y="690"/>
                  <a:pt x="522" y="690"/>
                </a:cubicBezTo>
                <a:lnTo>
                  <a:pt x="126" y="690"/>
                </a:lnTo>
                <a:lnTo>
                  <a:pt x="126" y="528"/>
                </a:lnTo>
                <a:lnTo>
                  <a:pt x="174" y="528"/>
                </a:lnTo>
                <a:cubicBezTo>
                  <a:pt x="182" y="528"/>
                  <a:pt x="190" y="524"/>
                  <a:pt x="195" y="518"/>
                </a:cubicBezTo>
                <a:lnTo>
                  <a:pt x="291" y="614"/>
                </a:lnTo>
                <a:cubicBezTo>
                  <a:pt x="296" y="620"/>
                  <a:pt x="303" y="622"/>
                  <a:pt x="311" y="622"/>
                </a:cubicBezTo>
                <a:cubicBezTo>
                  <a:pt x="314" y="622"/>
                  <a:pt x="318" y="622"/>
                  <a:pt x="321" y="620"/>
                </a:cubicBezTo>
                <a:cubicBezTo>
                  <a:pt x="332" y="616"/>
                  <a:pt x="338" y="606"/>
                  <a:pt x="338" y="595"/>
                </a:cubicBezTo>
                <a:lnTo>
                  <a:pt x="338" y="528"/>
                </a:lnTo>
                <a:lnTo>
                  <a:pt x="523" y="528"/>
                </a:lnTo>
                <a:cubicBezTo>
                  <a:pt x="538" y="528"/>
                  <a:pt x="550" y="515"/>
                  <a:pt x="550" y="500"/>
                </a:cubicBezTo>
                <a:lnTo>
                  <a:pt x="550" y="392"/>
                </a:lnTo>
                <a:lnTo>
                  <a:pt x="767" y="609"/>
                </a:lnTo>
                <a:close/>
                <a:moveTo>
                  <a:pt x="495" y="447"/>
                </a:moveTo>
                <a:lnTo>
                  <a:pt x="495" y="472"/>
                </a:lnTo>
                <a:lnTo>
                  <a:pt x="339" y="472"/>
                </a:lnTo>
                <a:lnTo>
                  <a:pt x="339" y="447"/>
                </a:lnTo>
                <a:close/>
                <a:moveTo>
                  <a:pt x="284" y="94"/>
                </a:moveTo>
                <a:lnTo>
                  <a:pt x="283" y="202"/>
                </a:lnTo>
                <a:cubicBezTo>
                  <a:pt x="283" y="209"/>
                  <a:pt x="286" y="217"/>
                  <a:pt x="292" y="222"/>
                </a:cubicBezTo>
                <a:cubicBezTo>
                  <a:pt x="297" y="227"/>
                  <a:pt x="304" y="230"/>
                  <a:pt x="311" y="230"/>
                </a:cubicBezTo>
                <a:lnTo>
                  <a:pt x="707" y="230"/>
                </a:lnTo>
                <a:lnTo>
                  <a:pt x="707" y="392"/>
                </a:lnTo>
                <a:lnTo>
                  <a:pt x="646" y="392"/>
                </a:lnTo>
                <a:cubicBezTo>
                  <a:pt x="641" y="392"/>
                  <a:pt x="637" y="394"/>
                  <a:pt x="633" y="396"/>
                </a:cubicBezTo>
                <a:lnTo>
                  <a:pt x="542" y="306"/>
                </a:lnTo>
                <a:cubicBezTo>
                  <a:pt x="534" y="298"/>
                  <a:pt x="523" y="295"/>
                  <a:pt x="512" y="300"/>
                </a:cubicBezTo>
                <a:cubicBezTo>
                  <a:pt x="502" y="304"/>
                  <a:pt x="495" y="314"/>
                  <a:pt x="495" y="325"/>
                </a:cubicBezTo>
                <a:lnTo>
                  <a:pt x="495" y="392"/>
                </a:lnTo>
                <a:lnTo>
                  <a:pt x="311" y="392"/>
                </a:lnTo>
                <a:cubicBezTo>
                  <a:pt x="296" y="392"/>
                  <a:pt x="283" y="404"/>
                  <a:pt x="283" y="420"/>
                </a:cubicBezTo>
                <a:lnTo>
                  <a:pt x="283" y="528"/>
                </a:lnTo>
                <a:lnTo>
                  <a:pt x="66" y="311"/>
                </a:lnTo>
                <a:close/>
                <a:moveTo>
                  <a:pt x="826" y="589"/>
                </a:moveTo>
                <a:lnTo>
                  <a:pt x="684" y="447"/>
                </a:lnTo>
                <a:lnTo>
                  <a:pt x="735" y="447"/>
                </a:lnTo>
                <a:cubicBezTo>
                  <a:pt x="750" y="447"/>
                  <a:pt x="763" y="435"/>
                  <a:pt x="763" y="420"/>
                </a:cubicBezTo>
                <a:lnTo>
                  <a:pt x="763" y="202"/>
                </a:lnTo>
                <a:cubicBezTo>
                  <a:pt x="763" y="187"/>
                  <a:pt x="750" y="174"/>
                  <a:pt x="735" y="174"/>
                </a:cubicBezTo>
                <a:lnTo>
                  <a:pt x="339" y="174"/>
                </a:lnTo>
                <a:lnTo>
                  <a:pt x="339" y="27"/>
                </a:lnTo>
                <a:cubicBezTo>
                  <a:pt x="339" y="16"/>
                  <a:pt x="332" y="6"/>
                  <a:pt x="322" y="2"/>
                </a:cubicBezTo>
                <a:cubicBezTo>
                  <a:pt x="312" y="-3"/>
                  <a:pt x="300" y="0"/>
                  <a:pt x="292" y="8"/>
                </a:cubicBezTo>
                <a:lnTo>
                  <a:pt x="8" y="292"/>
                </a:lnTo>
                <a:cubicBezTo>
                  <a:pt x="2" y="297"/>
                  <a:pt x="0" y="304"/>
                  <a:pt x="0" y="311"/>
                </a:cubicBezTo>
                <a:cubicBezTo>
                  <a:pt x="0" y="319"/>
                  <a:pt x="2" y="326"/>
                  <a:pt x="8" y="331"/>
                </a:cubicBezTo>
                <a:lnTo>
                  <a:pt x="149" y="472"/>
                </a:lnTo>
                <a:lnTo>
                  <a:pt x="98" y="472"/>
                </a:lnTo>
                <a:cubicBezTo>
                  <a:pt x="83" y="472"/>
                  <a:pt x="71" y="485"/>
                  <a:pt x="71" y="500"/>
                </a:cubicBezTo>
                <a:lnTo>
                  <a:pt x="71" y="718"/>
                </a:lnTo>
                <a:cubicBezTo>
                  <a:pt x="71" y="733"/>
                  <a:pt x="83" y="745"/>
                  <a:pt x="98" y="745"/>
                </a:cubicBezTo>
                <a:lnTo>
                  <a:pt x="495" y="745"/>
                </a:lnTo>
                <a:lnTo>
                  <a:pt x="495" y="893"/>
                </a:lnTo>
                <a:cubicBezTo>
                  <a:pt x="495" y="904"/>
                  <a:pt x="501" y="914"/>
                  <a:pt x="512" y="918"/>
                </a:cubicBezTo>
                <a:cubicBezTo>
                  <a:pt x="515" y="920"/>
                  <a:pt x="519" y="920"/>
                  <a:pt x="522" y="920"/>
                </a:cubicBezTo>
                <a:cubicBezTo>
                  <a:pt x="529" y="920"/>
                  <a:pt x="536" y="917"/>
                  <a:pt x="542" y="912"/>
                </a:cubicBezTo>
                <a:lnTo>
                  <a:pt x="826" y="628"/>
                </a:lnTo>
                <a:cubicBezTo>
                  <a:pt x="831" y="623"/>
                  <a:pt x="834" y="616"/>
                  <a:pt x="834" y="609"/>
                </a:cubicBezTo>
                <a:cubicBezTo>
                  <a:pt x="834" y="601"/>
                  <a:pt x="831" y="594"/>
                  <a:pt x="826" y="589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E8D85FB-6525-D94C-BB49-87BA30CD8BF0}"/>
              </a:ext>
            </a:extLst>
          </p:cNvPr>
          <p:cNvGrpSpPr/>
          <p:nvPr/>
        </p:nvGrpSpPr>
        <p:grpSpPr>
          <a:xfrm>
            <a:off x="2522108" y="6610995"/>
            <a:ext cx="1028490" cy="844168"/>
            <a:chOff x="428400" y="2589727"/>
            <a:chExt cx="478080" cy="392400"/>
          </a:xfrm>
          <a:solidFill>
            <a:schemeClr val="accent2"/>
          </a:solidFill>
        </p:grpSpPr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8B3F434-A91D-CD40-A959-C363C5D0B91E}"/>
                </a:ext>
              </a:extLst>
            </p:cNvPr>
            <p:cNvSpPr/>
            <p:nvPr/>
          </p:nvSpPr>
          <p:spPr>
            <a:xfrm>
              <a:off x="711360" y="2589727"/>
              <a:ext cx="195120" cy="191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43" h="534">
                  <a:moveTo>
                    <a:pt x="81" y="159"/>
                  </a:moveTo>
                  <a:lnTo>
                    <a:pt x="244" y="266"/>
                  </a:lnTo>
                  <a:lnTo>
                    <a:pt x="220" y="459"/>
                  </a:lnTo>
                  <a:lnTo>
                    <a:pt x="57" y="352"/>
                  </a:lnTo>
                  <a:close/>
                  <a:moveTo>
                    <a:pt x="298" y="58"/>
                  </a:moveTo>
                  <a:lnTo>
                    <a:pt x="453" y="160"/>
                  </a:lnTo>
                  <a:lnTo>
                    <a:pt x="277" y="222"/>
                  </a:lnTo>
                  <a:lnTo>
                    <a:pt x="121" y="119"/>
                  </a:lnTo>
                  <a:close/>
                  <a:moveTo>
                    <a:pt x="458" y="401"/>
                  </a:moveTo>
                  <a:lnTo>
                    <a:pt x="275" y="466"/>
                  </a:lnTo>
                  <a:lnTo>
                    <a:pt x="299" y="273"/>
                  </a:lnTo>
                  <a:lnTo>
                    <a:pt x="482" y="208"/>
                  </a:lnTo>
                  <a:close/>
                  <a:moveTo>
                    <a:pt x="543" y="168"/>
                  </a:moveTo>
                  <a:cubicBezTo>
                    <a:pt x="543" y="167"/>
                    <a:pt x="543" y="167"/>
                    <a:pt x="543" y="167"/>
                  </a:cubicBezTo>
                  <a:cubicBezTo>
                    <a:pt x="543" y="167"/>
                    <a:pt x="543" y="166"/>
                    <a:pt x="542" y="166"/>
                  </a:cubicBezTo>
                  <a:cubicBezTo>
                    <a:pt x="542" y="165"/>
                    <a:pt x="542" y="165"/>
                    <a:pt x="542" y="165"/>
                  </a:cubicBezTo>
                  <a:lnTo>
                    <a:pt x="542" y="164"/>
                  </a:lnTo>
                  <a:lnTo>
                    <a:pt x="542" y="163"/>
                  </a:lnTo>
                  <a:lnTo>
                    <a:pt x="542" y="162"/>
                  </a:lnTo>
                  <a:lnTo>
                    <a:pt x="542" y="161"/>
                  </a:lnTo>
                  <a:cubicBezTo>
                    <a:pt x="542" y="160"/>
                    <a:pt x="541" y="160"/>
                    <a:pt x="541" y="159"/>
                  </a:cubicBezTo>
                  <a:lnTo>
                    <a:pt x="541" y="158"/>
                  </a:lnTo>
                  <a:lnTo>
                    <a:pt x="541" y="157"/>
                  </a:lnTo>
                  <a:cubicBezTo>
                    <a:pt x="540" y="157"/>
                    <a:pt x="540" y="156"/>
                    <a:pt x="540" y="156"/>
                  </a:cubicBezTo>
                  <a:lnTo>
                    <a:pt x="540" y="155"/>
                  </a:lnTo>
                  <a:lnTo>
                    <a:pt x="539" y="155"/>
                  </a:lnTo>
                  <a:cubicBezTo>
                    <a:pt x="539" y="154"/>
                    <a:pt x="539" y="154"/>
                    <a:pt x="539" y="154"/>
                  </a:cubicBezTo>
                  <a:cubicBezTo>
                    <a:pt x="539" y="153"/>
                    <a:pt x="538" y="153"/>
                    <a:pt x="538" y="153"/>
                  </a:cubicBezTo>
                  <a:lnTo>
                    <a:pt x="538" y="152"/>
                  </a:lnTo>
                  <a:lnTo>
                    <a:pt x="537" y="151"/>
                  </a:lnTo>
                  <a:cubicBezTo>
                    <a:pt x="537" y="151"/>
                    <a:pt x="537" y="150"/>
                    <a:pt x="536" y="150"/>
                  </a:cubicBezTo>
                  <a:lnTo>
                    <a:pt x="536" y="149"/>
                  </a:lnTo>
                  <a:lnTo>
                    <a:pt x="535" y="149"/>
                  </a:lnTo>
                  <a:lnTo>
                    <a:pt x="535" y="148"/>
                  </a:lnTo>
                  <a:cubicBezTo>
                    <a:pt x="534" y="148"/>
                    <a:pt x="534" y="148"/>
                    <a:pt x="534" y="147"/>
                  </a:cubicBezTo>
                  <a:lnTo>
                    <a:pt x="533" y="147"/>
                  </a:lnTo>
                  <a:lnTo>
                    <a:pt x="533" y="146"/>
                  </a:lnTo>
                  <a:cubicBezTo>
                    <a:pt x="532" y="146"/>
                    <a:pt x="532" y="146"/>
                    <a:pt x="532" y="146"/>
                  </a:cubicBezTo>
                  <a:cubicBezTo>
                    <a:pt x="532" y="145"/>
                    <a:pt x="531" y="145"/>
                    <a:pt x="531" y="145"/>
                  </a:cubicBezTo>
                  <a:lnTo>
                    <a:pt x="530" y="145"/>
                  </a:lnTo>
                  <a:lnTo>
                    <a:pt x="530" y="144"/>
                  </a:lnTo>
                  <a:lnTo>
                    <a:pt x="318" y="5"/>
                  </a:lnTo>
                  <a:cubicBezTo>
                    <a:pt x="311" y="0"/>
                    <a:pt x="301" y="-2"/>
                    <a:pt x="292" y="1"/>
                  </a:cubicBezTo>
                  <a:lnTo>
                    <a:pt x="50" y="86"/>
                  </a:lnTo>
                  <a:lnTo>
                    <a:pt x="49" y="86"/>
                  </a:lnTo>
                  <a:lnTo>
                    <a:pt x="48" y="86"/>
                  </a:lnTo>
                  <a:cubicBezTo>
                    <a:pt x="48" y="87"/>
                    <a:pt x="47" y="87"/>
                    <a:pt x="47" y="87"/>
                  </a:cubicBezTo>
                  <a:cubicBezTo>
                    <a:pt x="46" y="87"/>
                    <a:pt x="46" y="88"/>
                    <a:pt x="46" y="88"/>
                  </a:cubicBezTo>
                  <a:cubicBezTo>
                    <a:pt x="45" y="88"/>
                    <a:pt x="45" y="88"/>
                    <a:pt x="44" y="88"/>
                  </a:cubicBezTo>
                  <a:cubicBezTo>
                    <a:pt x="44" y="89"/>
                    <a:pt x="44" y="89"/>
                    <a:pt x="43" y="89"/>
                  </a:cubicBezTo>
                  <a:lnTo>
                    <a:pt x="42" y="90"/>
                  </a:lnTo>
                  <a:lnTo>
                    <a:pt x="41" y="91"/>
                  </a:lnTo>
                  <a:lnTo>
                    <a:pt x="40" y="92"/>
                  </a:lnTo>
                  <a:lnTo>
                    <a:pt x="39" y="92"/>
                  </a:lnTo>
                  <a:cubicBezTo>
                    <a:pt x="39" y="93"/>
                    <a:pt x="39" y="93"/>
                    <a:pt x="38" y="94"/>
                  </a:cubicBezTo>
                  <a:cubicBezTo>
                    <a:pt x="37" y="95"/>
                    <a:pt x="37" y="95"/>
                    <a:pt x="37" y="96"/>
                  </a:cubicBezTo>
                  <a:lnTo>
                    <a:pt x="36" y="96"/>
                  </a:lnTo>
                  <a:lnTo>
                    <a:pt x="36" y="97"/>
                  </a:lnTo>
                  <a:lnTo>
                    <a:pt x="35" y="98"/>
                  </a:lnTo>
                  <a:lnTo>
                    <a:pt x="35" y="99"/>
                  </a:lnTo>
                  <a:cubicBezTo>
                    <a:pt x="34" y="99"/>
                    <a:pt x="34" y="100"/>
                    <a:pt x="34" y="100"/>
                  </a:cubicBezTo>
                  <a:lnTo>
                    <a:pt x="34" y="101"/>
                  </a:lnTo>
                  <a:cubicBezTo>
                    <a:pt x="34" y="101"/>
                    <a:pt x="33" y="101"/>
                    <a:pt x="33" y="102"/>
                  </a:cubicBezTo>
                  <a:lnTo>
                    <a:pt x="33" y="103"/>
                  </a:lnTo>
                  <a:lnTo>
                    <a:pt x="33" y="104"/>
                  </a:lnTo>
                  <a:cubicBezTo>
                    <a:pt x="33" y="105"/>
                    <a:pt x="32" y="105"/>
                    <a:pt x="32" y="105"/>
                  </a:cubicBezTo>
                  <a:lnTo>
                    <a:pt x="32" y="106"/>
                  </a:lnTo>
                  <a:lnTo>
                    <a:pt x="32" y="107"/>
                  </a:lnTo>
                  <a:lnTo>
                    <a:pt x="32" y="108"/>
                  </a:lnTo>
                  <a:lnTo>
                    <a:pt x="1" y="363"/>
                  </a:lnTo>
                  <a:cubicBezTo>
                    <a:pt x="1" y="363"/>
                    <a:pt x="0" y="364"/>
                    <a:pt x="0" y="365"/>
                  </a:cubicBezTo>
                  <a:lnTo>
                    <a:pt x="0" y="366"/>
                  </a:lnTo>
                  <a:lnTo>
                    <a:pt x="0" y="367"/>
                  </a:lnTo>
                  <a:cubicBezTo>
                    <a:pt x="0" y="368"/>
                    <a:pt x="0" y="368"/>
                    <a:pt x="1" y="369"/>
                  </a:cubicBezTo>
                  <a:lnTo>
                    <a:pt x="1" y="370"/>
                  </a:lnTo>
                  <a:lnTo>
                    <a:pt x="1" y="371"/>
                  </a:lnTo>
                  <a:lnTo>
                    <a:pt x="1" y="372"/>
                  </a:lnTo>
                  <a:cubicBezTo>
                    <a:pt x="1" y="373"/>
                    <a:pt x="1" y="373"/>
                    <a:pt x="2" y="374"/>
                  </a:cubicBezTo>
                  <a:lnTo>
                    <a:pt x="2" y="375"/>
                  </a:lnTo>
                  <a:lnTo>
                    <a:pt x="2" y="376"/>
                  </a:lnTo>
                  <a:cubicBezTo>
                    <a:pt x="3" y="377"/>
                    <a:pt x="3" y="377"/>
                    <a:pt x="3" y="377"/>
                  </a:cubicBezTo>
                  <a:cubicBezTo>
                    <a:pt x="3" y="378"/>
                    <a:pt x="3" y="378"/>
                    <a:pt x="3" y="379"/>
                  </a:cubicBezTo>
                  <a:cubicBezTo>
                    <a:pt x="4" y="379"/>
                    <a:pt x="4" y="380"/>
                    <a:pt x="4" y="380"/>
                  </a:cubicBezTo>
                  <a:lnTo>
                    <a:pt x="5" y="381"/>
                  </a:lnTo>
                  <a:lnTo>
                    <a:pt x="6" y="382"/>
                  </a:lnTo>
                  <a:lnTo>
                    <a:pt x="6" y="383"/>
                  </a:lnTo>
                  <a:cubicBezTo>
                    <a:pt x="7" y="383"/>
                    <a:pt x="7" y="384"/>
                    <a:pt x="7" y="384"/>
                  </a:cubicBezTo>
                  <a:cubicBezTo>
                    <a:pt x="8" y="384"/>
                    <a:pt x="8" y="385"/>
                    <a:pt x="8" y="385"/>
                  </a:cubicBezTo>
                  <a:lnTo>
                    <a:pt x="9" y="386"/>
                  </a:lnTo>
                  <a:cubicBezTo>
                    <a:pt x="10" y="386"/>
                    <a:pt x="10" y="387"/>
                    <a:pt x="10" y="387"/>
                  </a:cubicBezTo>
                  <a:cubicBezTo>
                    <a:pt x="10" y="387"/>
                    <a:pt x="11" y="387"/>
                    <a:pt x="11" y="388"/>
                  </a:cubicBezTo>
                  <a:cubicBezTo>
                    <a:pt x="12" y="388"/>
                    <a:pt x="12" y="388"/>
                    <a:pt x="12" y="389"/>
                  </a:cubicBezTo>
                  <a:cubicBezTo>
                    <a:pt x="13" y="389"/>
                    <a:pt x="13" y="389"/>
                    <a:pt x="13" y="389"/>
                  </a:cubicBezTo>
                  <a:lnTo>
                    <a:pt x="227" y="529"/>
                  </a:lnTo>
                  <a:lnTo>
                    <a:pt x="227" y="530"/>
                  </a:lnTo>
                  <a:cubicBezTo>
                    <a:pt x="228" y="530"/>
                    <a:pt x="228" y="530"/>
                    <a:pt x="228" y="530"/>
                  </a:cubicBezTo>
                  <a:cubicBezTo>
                    <a:pt x="229" y="531"/>
                    <a:pt x="229" y="531"/>
                    <a:pt x="229" y="531"/>
                  </a:cubicBezTo>
                  <a:cubicBezTo>
                    <a:pt x="230" y="531"/>
                    <a:pt x="230" y="531"/>
                    <a:pt x="230" y="531"/>
                  </a:cubicBezTo>
                  <a:lnTo>
                    <a:pt x="231" y="531"/>
                  </a:lnTo>
                  <a:lnTo>
                    <a:pt x="231" y="532"/>
                  </a:lnTo>
                  <a:cubicBezTo>
                    <a:pt x="232" y="532"/>
                    <a:pt x="232" y="532"/>
                    <a:pt x="232" y="532"/>
                  </a:cubicBezTo>
                  <a:lnTo>
                    <a:pt x="233" y="532"/>
                  </a:lnTo>
                  <a:lnTo>
                    <a:pt x="233" y="533"/>
                  </a:lnTo>
                  <a:cubicBezTo>
                    <a:pt x="234" y="533"/>
                    <a:pt x="234" y="533"/>
                    <a:pt x="234" y="533"/>
                  </a:cubicBezTo>
                  <a:lnTo>
                    <a:pt x="235" y="533"/>
                  </a:lnTo>
                  <a:lnTo>
                    <a:pt x="236" y="533"/>
                  </a:lnTo>
                  <a:lnTo>
                    <a:pt x="237" y="533"/>
                  </a:lnTo>
                  <a:lnTo>
                    <a:pt x="238" y="534"/>
                  </a:lnTo>
                  <a:lnTo>
                    <a:pt x="239" y="534"/>
                  </a:lnTo>
                  <a:lnTo>
                    <a:pt x="240" y="534"/>
                  </a:lnTo>
                  <a:lnTo>
                    <a:pt x="241" y="534"/>
                  </a:lnTo>
                  <a:lnTo>
                    <a:pt x="242" y="534"/>
                  </a:lnTo>
                  <a:cubicBezTo>
                    <a:pt x="243" y="534"/>
                    <a:pt x="244" y="534"/>
                    <a:pt x="244" y="534"/>
                  </a:cubicBezTo>
                  <a:cubicBezTo>
                    <a:pt x="245" y="534"/>
                    <a:pt x="245" y="534"/>
                    <a:pt x="245" y="534"/>
                  </a:cubicBezTo>
                  <a:lnTo>
                    <a:pt x="246" y="534"/>
                  </a:lnTo>
                  <a:lnTo>
                    <a:pt x="247" y="533"/>
                  </a:lnTo>
                  <a:lnTo>
                    <a:pt x="248" y="533"/>
                  </a:lnTo>
                  <a:cubicBezTo>
                    <a:pt x="249" y="533"/>
                    <a:pt x="249" y="533"/>
                    <a:pt x="249" y="533"/>
                  </a:cubicBezTo>
                  <a:cubicBezTo>
                    <a:pt x="250" y="533"/>
                    <a:pt x="250" y="533"/>
                    <a:pt x="250" y="533"/>
                  </a:cubicBezTo>
                  <a:cubicBezTo>
                    <a:pt x="251" y="533"/>
                    <a:pt x="251" y="532"/>
                    <a:pt x="251" y="532"/>
                  </a:cubicBezTo>
                  <a:lnTo>
                    <a:pt x="493" y="448"/>
                  </a:lnTo>
                  <a:cubicBezTo>
                    <a:pt x="500" y="445"/>
                    <a:pt x="506" y="440"/>
                    <a:pt x="509" y="433"/>
                  </a:cubicBezTo>
                  <a:cubicBezTo>
                    <a:pt x="509" y="432"/>
                    <a:pt x="509" y="432"/>
                    <a:pt x="510" y="431"/>
                  </a:cubicBezTo>
                  <a:cubicBezTo>
                    <a:pt x="510" y="429"/>
                    <a:pt x="511" y="427"/>
                    <a:pt x="511" y="425"/>
                  </a:cubicBezTo>
                  <a:lnTo>
                    <a:pt x="542" y="171"/>
                  </a:lnTo>
                  <a:lnTo>
                    <a:pt x="542" y="170"/>
                  </a:lnTo>
                  <a:lnTo>
                    <a:pt x="542" y="169"/>
                  </a:ln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3384867-E31C-904E-BDE6-A0F1DB5F23CF}"/>
                </a:ext>
              </a:extLst>
            </p:cNvPr>
            <p:cNvSpPr/>
            <p:nvPr/>
          </p:nvSpPr>
          <p:spPr>
            <a:xfrm>
              <a:off x="428400" y="2614927"/>
              <a:ext cx="350280" cy="367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74" h="1021">
                  <a:moveTo>
                    <a:pt x="744" y="640"/>
                  </a:moveTo>
                  <a:lnTo>
                    <a:pt x="919" y="554"/>
                  </a:lnTo>
                  <a:lnTo>
                    <a:pt x="919" y="749"/>
                  </a:lnTo>
                  <a:lnTo>
                    <a:pt x="744" y="835"/>
                  </a:lnTo>
                  <a:close/>
                  <a:moveTo>
                    <a:pt x="515" y="755"/>
                  </a:moveTo>
                  <a:lnTo>
                    <a:pt x="689" y="669"/>
                  </a:lnTo>
                  <a:lnTo>
                    <a:pt x="689" y="862"/>
                  </a:lnTo>
                  <a:lnTo>
                    <a:pt x="515" y="949"/>
                  </a:lnTo>
                  <a:close/>
                  <a:moveTo>
                    <a:pt x="285" y="669"/>
                  </a:moveTo>
                  <a:lnTo>
                    <a:pt x="460" y="755"/>
                  </a:lnTo>
                  <a:lnTo>
                    <a:pt x="460" y="949"/>
                  </a:lnTo>
                  <a:lnTo>
                    <a:pt x="285" y="862"/>
                  </a:lnTo>
                  <a:close/>
                  <a:moveTo>
                    <a:pt x="56" y="555"/>
                  </a:moveTo>
                  <a:lnTo>
                    <a:pt x="230" y="641"/>
                  </a:lnTo>
                  <a:lnTo>
                    <a:pt x="230" y="836"/>
                  </a:lnTo>
                  <a:lnTo>
                    <a:pt x="56" y="750"/>
                  </a:lnTo>
                  <a:close/>
                  <a:moveTo>
                    <a:pt x="257" y="172"/>
                  </a:moveTo>
                  <a:lnTo>
                    <a:pt x="425" y="254"/>
                  </a:lnTo>
                  <a:lnTo>
                    <a:pt x="257" y="337"/>
                  </a:lnTo>
                  <a:lnTo>
                    <a:pt x="90" y="255"/>
                  </a:lnTo>
                  <a:close/>
                  <a:moveTo>
                    <a:pt x="744" y="579"/>
                  </a:moveTo>
                  <a:lnTo>
                    <a:pt x="744" y="441"/>
                  </a:lnTo>
                  <a:lnTo>
                    <a:pt x="884" y="509"/>
                  </a:lnTo>
                  <a:close/>
                  <a:moveTo>
                    <a:pt x="230" y="580"/>
                  </a:moveTo>
                  <a:lnTo>
                    <a:pt x="55" y="493"/>
                  </a:lnTo>
                  <a:lnTo>
                    <a:pt x="55" y="299"/>
                  </a:lnTo>
                  <a:lnTo>
                    <a:pt x="230" y="385"/>
                  </a:lnTo>
                  <a:close/>
                  <a:moveTo>
                    <a:pt x="689" y="324"/>
                  </a:moveTo>
                  <a:lnTo>
                    <a:pt x="550" y="254"/>
                  </a:lnTo>
                  <a:lnTo>
                    <a:pt x="689" y="185"/>
                  </a:lnTo>
                  <a:close/>
                  <a:moveTo>
                    <a:pt x="487" y="451"/>
                  </a:moveTo>
                  <a:lnTo>
                    <a:pt x="320" y="368"/>
                  </a:lnTo>
                  <a:lnTo>
                    <a:pt x="487" y="285"/>
                  </a:lnTo>
                  <a:lnTo>
                    <a:pt x="654" y="368"/>
                  </a:lnTo>
                  <a:close/>
                  <a:moveTo>
                    <a:pt x="515" y="499"/>
                  </a:moveTo>
                  <a:lnTo>
                    <a:pt x="689" y="412"/>
                  </a:lnTo>
                  <a:lnTo>
                    <a:pt x="689" y="606"/>
                  </a:lnTo>
                  <a:lnTo>
                    <a:pt x="515" y="693"/>
                  </a:lnTo>
                  <a:close/>
                  <a:moveTo>
                    <a:pt x="285" y="413"/>
                  </a:moveTo>
                  <a:lnTo>
                    <a:pt x="459" y="499"/>
                  </a:lnTo>
                  <a:lnTo>
                    <a:pt x="459" y="693"/>
                  </a:lnTo>
                  <a:lnTo>
                    <a:pt x="285" y="606"/>
                  </a:lnTo>
                  <a:close/>
                  <a:moveTo>
                    <a:pt x="487" y="59"/>
                  </a:moveTo>
                  <a:lnTo>
                    <a:pt x="654" y="141"/>
                  </a:lnTo>
                  <a:lnTo>
                    <a:pt x="487" y="224"/>
                  </a:lnTo>
                  <a:lnTo>
                    <a:pt x="320" y="141"/>
                  </a:lnTo>
                  <a:close/>
                  <a:moveTo>
                    <a:pt x="973" y="772"/>
                  </a:moveTo>
                  <a:cubicBezTo>
                    <a:pt x="974" y="770"/>
                    <a:pt x="974" y="768"/>
                    <a:pt x="974" y="765"/>
                  </a:cubicBezTo>
                  <a:lnTo>
                    <a:pt x="974" y="509"/>
                  </a:lnTo>
                  <a:lnTo>
                    <a:pt x="974" y="508"/>
                  </a:lnTo>
                  <a:lnTo>
                    <a:pt x="974" y="507"/>
                  </a:lnTo>
                  <a:lnTo>
                    <a:pt x="974" y="506"/>
                  </a:lnTo>
                  <a:lnTo>
                    <a:pt x="973" y="505"/>
                  </a:lnTo>
                  <a:cubicBezTo>
                    <a:pt x="973" y="504"/>
                    <a:pt x="973" y="504"/>
                    <a:pt x="973" y="503"/>
                  </a:cubicBezTo>
                  <a:cubicBezTo>
                    <a:pt x="973" y="502"/>
                    <a:pt x="973" y="502"/>
                    <a:pt x="973" y="502"/>
                  </a:cubicBezTo>
                  <a:cubicBezTo>
                    <a:pt x="973" y="502"/>
                    <a:pt x="973" y="501"/>
                    <a:pt x="972" y="501"/>
                  </a:cubicBezTo>
                  <a:lnTo>
                    <a:pt x="972" y="500"/>
                  </a:lnTo>
                  <a:lnTo>
                    <a:pt x="972" y="499"/>
                  </a:lnTo>
                  <a:lnTo>
                    <a:pt x="971" y="498"/>
                  </a:lnTo>
                  <a:lnTo>
                    <a:pt x="971" y="497"/>
                  </a:lnTo>
                  <a:cubicBezTo>
                    <a:pt x="971" y="497"/>
                    <a:pt x="971" y="496"/>
                    <a:pt x="970" y="496"/>
                  </a:cubicBezTo>
                  <a:lnTo>
                    <a:pt x="970" y="495"/>
                  </a:lnTo>
                  <a:lnTo>
                    <a:pt x="969" y="495"/>
                  </a:lnTo>
                  <a:cubicBezTo>
                    <a:pt x="969" y="494"/>
                    <a:pt x="969" y="494"/>
                    <a:pt x="969" y="494"/>
                  </a:cubicBezTo>
                  <a:cubicBezTo>
                    <a:pt x="969" y="493"/>
                    <a:pt x="969" y="493"/>
                    <a:pt x="968" y="493"/>
                  </a:cubicBezTo>
                  <a:lnTo>
                    <a:pt x="968" y="492"/>
                  </a:lnTo>
                  <a:lnTo>
                    <a:pt x="967" y="492"/>
                  </a:lnTo>
                  <a:cubicBezTo>
                    <a:pt x="967" y="491"/>
                    <a:pt x="967" y="491"/>
                    <a:pt x="967" y="491"/>
                  </a:cubicBezTo>
                  <a:cubicBezTo>
                    <a:pt x="966" y="491"/>
                    <a:pt x="966" y="490"/>
                    <a:pt x="966" y="490"/>
                  </a:cubicBezTo>
                  <a:cubicBezTo>
                    <a:pt x="965" y="489"/>
                    <a:pt x="965" y="489"/>
                    <a:pt x="965" y="489"/>
                  </a:cubicBezTo>
                  <a:cubicBezTo>
                    <a:pt x="964" y="489"/>
                    <a:pt x="964" y="489"/>
                    <a:pt x="964" y="488"/>
                  </a:cubicBezTo>
                  <a:cubicBezTo>
                    <a:pt x="963" y="488"/>
                    <a:pt x="963" y="487"/>
                    <a:pt x="962" y="487"/>
                  </a:cubicBezTo>
                  <a:cubicBezTo>
                    <a:pt x="962" y="487"/>
                    <a:pt x="961" y="487"/>
                    <a:pt x="961" y="486"/>
                  </a:cubicBezTo>
                  <a:lnTo>
                    <a:pt x="960" y="486"/>
                  </a:lnTo>
                  <a:lnTo>
                    <a:pt x="960" y="485"/>
                  </a:lnTo>
                  <a:cubicBezTo>
                    <a:pt x="959" y="485"/>
                    <a:pt x="959" y="485"/>
                    <a:pt x="959" y="485"/>
                  </a:cubicBezTo>
                  <a:lnTo>
                    <a:pt x="958" y="485"/>
                  </a:lnTo>
                  <a:lnTo>
                    <a:pt x="744" y="379"/>
                  </a:lnTo>
                  <a:lnTo>
                    <a:pt x="744" y="141"/>
                  </a:lnTo>
                  <a:lnTo>
                    <a:pt x="744" y="140"/>
                  </a:lnTo>
                  <a:cubicBezTo>
                    <a:pt x="744" y="139"/>
                    <a:pt x="744" y="139"/>
                    <a:pt x="744" y="139"/>
                  </a:cubicBezTo>
                  <a:cubicBezTo>
                    <a:pt x="744" y="138"/>
                    <a:pt x="744" y="138"/>
                    <a:pt x="744" y="138"/>
                  </a:cubicBezTo>
                  <a:cubicBezTo>
                    <a:pt x="744" y="137"/>
                    <a:pt x="744" y="137"/>
                    <a:pt x="744" y="137"/>
                  </a:cubicBezTo>
                  <a:lnTo>
                    <a:pt x="744" y="136"/>
                  </a:lnTo>
                  <a:lnTo>
                    <a:pt x="744" y="135"/>
                  </a:lnTo>
                  <a:lnTo>
                    <a:pt x="743" y="134"/>
                  </a:lnTo>
                  <a:lnTo>
                    <a:pt x="743" y="133"/>
                  </a:lnTo>
                  <a:lnTo>
                    <a:pt x="743" y="132"/>
                  </a:lnTo>
                  <a:cubicBezTo>
                    <a:pt x="742" y="131"/>
                    <a:pt x="742" y="131"/>
                    <a:pt x="742" y="131"/>
                  </a:cubicBezTo>
                  <a:lnTo>
                    <a:pt x="742" y="130"/>
                  </a:lnTo>
                  <a:lnTo>
                    <a:pt x="742" y="129"/>
                  </a:lnTo>
                  <a:cubicBezTo>
                    <a:pt x="741" y="129"/>
                    <a:pt x="741" y="129"/>
                    <a:pt x="741" y="129"/>
                  </a:cubicBezTo>
                  <a:lnTo>
                    <a:pt x="741" y="128"/>
                  </a:lnTo>
                  <a:lnTo>
                    <a:pt x="741" y="127"/>
                  </a:lnTo>
                  <a:lnTo>
                    <a:pt x="740" y="127"/>
                  </a:lnTo>
                  <a:cubicBezTo>
                    <a:pt x="740" y="126"/>
                    <a:pt x="740" y="126"/>
                    <a:pt x="740" y="126"/>
                  </a:cubicBezTo>
                  <a:cubicBezTo>
                    <a:pt x="740" y="126"/>
                    <a:pt x="740" y="125"/>
                    <a:pt x="739" y="125"/>
                  </a:cubicBezTo>
                  <a:lnTo>
                    <a:pt x="739" y="124"/>
                  </a:lnTo>
                  <a:lnTo>
                    <a:pt x="738" y="124"/>
                  </a:lnTo>
                  <a:lnTo>
                    <a:pt x="738" y="123"/>
                  </a:lnTo>
                  <a:cubicBezTo>
                    <a:pt x="738" y="123"/>
                    <a:pt x="737" y="123"/>
                    <a:pt x="737" y="122"/>
                  </a:cubicBezTo>
                  <a:lnTo>
                    <a:pt x="736" y="122"/>
                  </a:lnTo>
                  <a:lnTo>
                    <a:pt x="736" y="121"/>
                  </a:lnTo>
                  <a:cubicBezTo>
                    <a:pt x="736" y="121"/>
                    <a:pt x="735" y="121"/>
                    <a:pt x="735" y="120"/>
                  </a:cubicBezTo>
                  <a:cubicBezTo>
                    <a:pt x="734" y="120"/>
                    <a:pt x="734" y="120"/>
                    <a:pt x="734" y="119"/>
                  </a:cubicBezTo>
                  <a:lnTo>
                    <a:pt x="733" y="119"/>
                  </a:lnTo>
                  <a:cubicBezTo>
                    <a:pt x="733" y="119"/>
                    <a:pt x="733" y="118"/>
                    <a:pt x="732" y="118"/>
                  </a:cubicBezTo>
                  <a:cubicBezTo>
                    <a:pt x="731" y="118"/>
                    <a:pt x="731" y="117"/>
                    <a:pt x="731" y="117"/>
                  </a:cubicBezTo>
                  <a:lnTo>
                    <a:pt x="730" y="117"/>
                  </a:lnTo>
                  <a:lnTo>
                    <a:pt x="729" y="116"/>
                  </a:lnTo>
                  <a:lnTo>
                    <a:pt x="502" y="4"/>
                  </a:lnTo>
                  <a:cubicBezTo>
                    <a:pt x="494" y="-1"/>
                    <a:pt x="484" y="-1"/>
                    <a:pt x="475" y="3"/>
                  </a:cubicBezTo>
                  <a:lnTo>
                    <a:pt x="247" y="116"/>
                  </a:lnTo>
                  <a:cubicBezTo>
                    <a:pt x="246" y="116"/>
                    <a:pt x="246" y="116"/>
                    <a:pt x="246" y="116"/>
                  </a:cubicBezTo>
                  <a:lnTo>
                    <a:pt x="16" y="230"/>
                  </a:lnTo>
                  <a:cubicBezTo>
                    <a:pt x="15" y="230"/>
                    <a:pt x="15" y="230"/>
                    <a:pt x="15" y="230"/>
                  </a:cubicBezTo>
                  <a:lnTo>
                    <a:pt x="14" y="230"/>
                  </a:lnTo>
                  <a:cubicBezTo>
                    <a:pt x="14" y="231"/>
                    <a:pt x="14" y="231"/>
                    <a:pt x="14" y="231"/>
                  </a:cubicBezTo>
                  <a:cubicBezTo>
                    <a:pt x="13" y="231"/>
                    <a:pt x="13" y="231"/>
                    <a:pt x="13" y="232"/>
                  </a:cubicBezTo>
                  <a:cubicBezTo>
                    <a:pt x="12" y="232"/>
                    <a:pt x="12" y="232"/>
                    <a:pt x="12" y="232"/>
                  </a:cubicBezTo>
                  <a:cubicBezTo>
                    <a:pt x="11" y="233"/>
                    <a:pt x="11" y="233"/>
                    <a:pt x="10" y="233"/>
                  </a:cubicBezTo>
                  <a:cubicBezTo>
                    <a:pt x="10" y="234"/>
                    <a:pt x="10" y="234"/>
                    <a:pt x="10" y="234"/>
                  </a:cubicBezTo>
                  <a:cubicBezTo>
                    <a:pt x="9" y="234"/>
                    <a:pt x="9" y="235"/>
                    <a:pt x="8" y="235"/>
                  </a:cubicBezTo>
                  <a:lnTo>
                    <a:pt x="8" y="236"/>
                  </a:lnTo>
                  <a:cubicBezTo>
                    <a:pt x="7" y="236"/>
                    <a:pt x="7" y="237"/>
                    <a:pt x="7" y="237"/>
                  </a:cubicBezTo>
                  <a:lnTo>
                    <a:pt x="6" y="237"/>
                  </a:lnTo>
                  <a:lnTo>
                    <a:pt x="6" y="238"/>
                  </a:lnTo>
                  <a:lnTo>
                    <a:pt x="5" y="239"/>
                  </a:lnTo>
                  <a:lnTo>
                    <a:pt x="5" y="240"/>
                  </a:lnTo>
                  <a:lnTo>
                    <a:pt x="4" y="240"/>
                  </a:lnTo>
                  <a:lnTo>
                    <a:pt x="4" y="241"/>
                  </a:lnTo>
                  <a:lnTo>
                    <a:pt x="3" y="242"/>
                  </a:lnTo>
                  <a:lnTo>
                    <a:pt x="3" y="243"/>
                  </a:lnTo>
                  <a:lnTo>
                    <a:pt x="3" y="244"/>
                  </a:lnTo>
                  <a:cubicBezTo>
                    <a:pt x="2" y="244"/>
                    <a:pt x="2" y="244"/>
                    <a:pt x="2" y="245"/>
                  </a:cubicBezTo>
                  <a:lnTo>
                    <a:pt x="2" y="246"/>
                  </a:lnTo>
                  <a:cubicBezTo>
                    <a:pt x="1" y="246"/>
                    <a:pt x="1" y="247"/>
                    <a:pt x="1" y="247"/>
                  </a:cubicBezTo>
                  <a:lnTo>
                    <a:pt x="1" y="248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1" y="251"/>
                  </a:lnTo>
                  <a:lnTo>
                    <a:pt x="0" y="251"/>
                  </a:lnTo>
                  <a:cubicBezTo>
                    <a:pt x="0" y="252"/>
                    <a:pt x="0" y="252"/>
                    <a:pt x="0" y="252"/>
                  </a:cubicBezTo>
                  <a:cubicBezTo>
                    <a:pt x="0" y="253"/>
                    <a:pt x="0" y="253"/>
                    <a:pt x="0" y="253"/>
                  </a:cubicBezTo>
                  <a:cubicBezTo>
                    <a:pt x="0" y="254"/>
                    <a:pt x="0" y="254"/>
                    <a:pt x="0" y="254"/>
                  </a:cubicBezTo>
                  <a:lnTo>
                    <a:pt x="0" y="255"/>
                  </a:lnTo>
                  <a:lnTo>
                    <a:pt x="0" y="511"/>
                  </a:lnTo>
                  <a:lnTo>
                    <a:pt x="0" y="512"/>
                  </a:lnTo>
                  <a:lnTo>
                    <a:pt x="0" y="767"/>
                  </a:lnTo>
                  <a:cubicBezTo>
                    <a:pt x="0" y="768"/>
                    <a:pt x="0" y="768"/>
                    <a:pt x="0" y="769"/>
                  </a:cubicBezTo>
                  <a:lnTo>
                    <a:pt x="1" y="770"/>
                  </a:lnTo>
                  <a:lnTo>
                    <a:pt x="1" y="771"/>
                  </a:lnTo>
                  <a:cubicBezTo>
                    <a:pt x="1" y="772"/>
                    <a:pt x="1" y="772"/>
                    <a:pt x="1" y="773"/>
                  </a:cubicBezTo>
                  <a:lnTo>
                    <a:pt x="1" y="774"/>
                  </a:lnTo>
                  <a:lnTo>
                    <a:pt x="2" y="775"/>
                  </a:lnTo>
                  <a:cubicBezTo>
                    <a:pt x="2" y="776"/>
                    <a:pt x="2" y="776"/>
                    <a:pt x="2" y="776"/>
                  </a:cubicBezTo>
                  <a:cubicBezTo>
                    <a:pt x="2" y="777"/>
                    <a:pt x="2" y="777"/>
                    <a:pt x="3" y="778"/>
                  </a:cubicBezTo>
                  <a:lnTo>
                    <a:pt x="3" y="779"/>
                  </a:lnTo>
                  <a:lnTo>
                    <a:pt x="4" y="780"/>
                  </a:lnTo>
                  <a:cubicBezTo>
                    <a:pt x="4" y="780"/>
                    <a:pt x="4" y="781"/>
                    <a:pt x="5" y="781"/>
                  </a:cubicBezTo>
                  <a:cubicBezTo>
                    <a:pt x="5" y="782"/>
                    <a:pt x="5" y="782"/>
                    <a:pt x="5" y="782"/>
                  </a:cubicBezTo>
                  <a:cubicBezTo>
                    <a:pt x="5" y="783"/>
                    <a:pt x="6" y="783"/>
                    <a:pt x="6" y="783"/>
                  </a:cubicBezTo>
                  <a:cubicBezTo>
                    <a:pt x="6" y="784"/>
                    <a:pt x="7" y="784"/>
                    <a:pt x="7" y="784"/>
                  </a:cubicBezTo>
                  <a:cubicBezTo>
                    <a:pt x="7" y="785"/>
                    <a:pt x="8" y="785"/>
                    <a:pt x="8" y="786"/>
                  </a:cubicBezTo>
                  <a:lnTo>
                    <a:pt x="9" y="786"/>
                  </a:lnTo>
                  <a:cubicBezTo>
                    <a:pt x="9" y="787"/>
                    <a:pt x="9" y="787"/>
                    <a:pt x="10" y="787"/>
                  </a:cubicBezTo>
                  <a:cubicBezTo>
                    <a:pt x="10" y="788"/>
                    <a:pt x="10" y="788"/>
                    <a:pt x="11" y="788"/>
                  </a:cubicBezTo>
                  <a:cubicBezTo>
                    <a:pt x="11" y="788"/>
                    <a:pt x="11" y="789"/>
                    <a:pt x="12" y="789"/>
                  </a:cubicBezTo>
                  <a:cubicBezTo>
                    <a:pt x="12" y="789"/>
                    <a:pt x="12" y="790"/>
                    <a:pt x="13" y="790"/>
                  </a:cubicBezTo>
                  <a:lnTo>
                    <a:pt x="14" y="790"/>
                  </a:lnTo>
                  <a:cubicBezTo>
                    <a:pt x="14" y="791"/>
                    <a:pt x="15" y="791"/>
                    <a:pt x="15" y="791"/>
                  </a:cubicBezTo>
                  <a:lnTo>
                    <a:pt x="16" y="791"/>
                  </a:lnTo>
                  <a:lnTo>
                    <a:pt x="245" y="905"/>
                  </a:lnTo>
                  <a:lnTo>
                    <a:pt x="246" y="905"/>
                  </a:lnTo>
                  <a:cubicBezTo>
                    <a:pt x="246" y="905"/>
                    <a:pt x="247" y="906"/>
                    <a:pt x="248" y="906"/>
                  </a:cubicBezTo>
                  <a:lnTo>
                    <a:pt x="249" y="906"/>
                  </a:lnTo>
                  <a:lnTo>
                    <a:pt x="250" y="906"/>
                  </a:lnTo>
                  <a:lnTo>
                    <a:pt x="475" y="1018"/>
                  </a:lnTo>
                  <a:cubicBezTo>
                    <a:pt x="476" y="1018"/>
                    <a:pt x="476" y="1018"/>
                    <a:pt x="476" y="1018"/>
                  </a:cubicBezTo>
                  <a:cubicBezTo>
                    <a:pt x="477" y="1018"/>
                    <a:pt x="477" y="1018"/>
                    <a:pt x="477" y="1019"/>
                  </a:cubicBezTo>
                  <a:lnTo>
                    <a:pt x="478" y="1019"/>
                  </a:lnTo>
                  <a:cubicBezTo>
                    <a:pt x="479" y="1019"/>
                    <a:pt x="479" y="1019"/>
                    <a:pt x="479" y="1019"/>
                  </a:cubicBezTo>
                  <a:cubicBezTo>
                    <a:pt x="480" y="1020"/>
                    <a:pt x="480" y="1020"/>
                    <a:pt x="481" y="1020"/>
                  </a:cubicBezTo>
                  <a:cubicBezTo>
                    <a:pt x="482" y="1020"/>
                    <a:pt x="482" y="1020"/>
                    <a:pt x="482" y="1020"/>
                  </a:cubicBezTo>
                  <a:cubicBezTo>
                    <a:pt x="483" y="1020"/>
                    <a:pt x="483" y="1020"/>
                    <a:pt x="484" y="1020"/>
                  </a:cubicBezTo>
                  <a:cubicBezTo>
                    <a:pt x="484" y="1021"/>
                    <a:pt x="484" y="1021"/>
                    <a:pt x="485" y="1021"/>
                  </a:cubicBezTo>
                  <a:cubicBezTo>
                    <a:pt x="485" y="1021"/>
                    <a:pt x="486" y="1021"/>
                    <a:pt x="487" y="1021"/>
                  </a:cubicBezTo>
                  <a:cubicBezTo>
                    <a:pt x="488" y="1021"/>
                    <a:pt x="489" y="1021"/>
                    <a:pt x="490" y="1021"/>
                  </a:cubicBezTo>
                  <a:lnTo>
                    <a:pt x="490" y="1020"/>
                  </a:lnTo>
                  <a:lnTo>
                    <a:pt x="491" y="1020"/>
                  </a:lnTo>
                  <a:lnTo>
                    <a:pt x="492" y="1020"/>
                  </a:lnTo>
                  <a:cubicBezTo>
                    <a:pt x="493" y="1020"/>
                    <a:pt x="493" y="1020"/>
                    <a:pt x="493" y="1020"/>
                  </a:cubicBezTo>
                  <a:lnTo>
                    <a:pt x="494" y="1020"/>
                  </a:lnTo>
                  <a:cubicBezTo>
                    <a:pt x="494" y="1020"/>
                    <a:pt x="495" y="1020"/>
                    <a:pt x="495" y="1019"/>
                  </a:cubicBezTo>
                  <a:lnTo>
                    <a:pt x="496" y="1019"/>
                  </a:lnTo>
                  <a:cubicBezTo>
                    <a:pt x="497" y="1019"/>
                    <a:pt x="497" y="1019"/>
                    <a:pt x="497" y="1019"/>
                  </a:cubicBezTo>
                  <a:cubicBezTo>
                    <a:pt x="498" y="1018"/>
                    <a:pt x="498" y="1018"/>
                    <a:pt x="498" y="1018"/>
                  </a:cubicBezTo>
                  <a:lnTo>
                    <a:pt x="499" y="1018"/>
                  </a:lnTo>
                  <a:lnTo>
                    <a:pt x="729" y="904"/>
                  </a:lnTo>
                  <a:cubicBezTo>
                    <a:pt x="730" y="904"/>
                    <a:pt x="732" y="903"/>
                    <a:pt x="733" y="902"/>
                  </a:cubicBezTo>
                  <a:lnTo>
                    <a:pt x="958" y="791"/>
                  </a:lnTo>
                  <a:cubicBezTo>
                    <a:pt x="966" y="787"/>
                    <a:pt x="970" y="781"/>
                    <a:pt x="973" y="774"/>
                  </a:cubicBezTo>
                  <a:cubicBezTo>
                    <a:pt x="973" y="773"/>
                    <a:pt x="973" y="773"/>
                    <a:pt x="973" y="77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dirty="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4D76B41-5ACC-CD4B-A596-AFB622421A2E}"/>
              </a:ext>
            </a:extLst>
          </p:cNvPr>
          <p:cNvSpPr txBox="1"/>
          <p:nvPr/>
        </p:nvSpPr>
        <p:spPr>
          <a:xfrm>
            <a:off x="588863" y="7931847"/>
            <a:ext cx="11140561" cy="477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Data Types: # - Number, ABC - Text,</a:t>
            </a: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Calendar - Date, T/F - Boolean, Globe - Geo fields</a:t>
            </a:r>
          </a:p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endParaRPr lang="en-GB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Field Name: Can be renamed in Tableau</a:t>
            </a:r>
          </a:p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endParaRPr lang="en-GB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Physical Table: Shows the table name in source</a:t>
            </a:r>
          </a:p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endParaRPr lang="en-GB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457200" indent="-457200">
              <a:lnSpc>
                <a:spcPts val="408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Remote Field: Original name from source (cannot rename)</a:t>
            </a:r>
          </a:p>
          <a:p>
            <a:pPr>
              <a:lnSpc>
                <a:spcPts val="4080"/>
              </a:lnSpc>
            </a:pPr>
            <a:endParaRPr lang="en-GB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F4955-1E83-0268-71AE-59DE2DBE4888}"/>
              </a:ext>
            </a:extLst>
          </p:cNvPr>
          <p:cNvSpPr txBox="1"/>
          <p:nvPr/>
        </p:nvSpPr>
        <p:spPr>
          <a:xfrm>
            <a:off x="3017730" y="6754832"/>
            <a:ext cx="43282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/>
              <a:t>2. Metadata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4EF28E-4345-6C8D-D5E7-A22B088CD624}"/>
              </a:ext>
            </a:extLst>
          </p:cNvPr>
          <p:cNvSpPr txBox="1"/>
          <p:nvPr/>
        </p:nvSpPr>
        <p:spPr>
          <a:xfrm>
            <a:off x="15594562" y="6679136"/>
            <a:ext cx="45754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2">
                    <a:lumMod val="50000"/>
                  </a:schemeClr>
                </a:solidFill>
              </a:rPr>
              <a:t>3. Data Preview Pane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18E934-85D9-2717-D3F3-ACDA8C73DA76}"/>
              </a:ext>
            </a:extLst>
          </p:cNvPr>
          <p:cNvSpPr txBox="1"/>
          <p:nvPr/>
        </p:nvSpPr>
        <p:spPr>
          <a:xfrm>
            <a:off x="5841443" y="1623930"/>
            <a:ext cx="13173373" cy="3627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Area where you drag and drop tables from your data connections.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Used for data combining techniques like Joins (Inner, Left, Right, Full) and Unions.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Let’s you define relationships between multiple tables or data sources.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Provides a visual view of your schema (how tables are connected).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6C560A-BB1C-589E-2C19-94424649BC90}"/>
              </a:ext>
            </a:extLst>
          </p:cNvPr>
          <p:cNvSpPr txBox="1"/>
          <p:nvPr/>
        </p:nvSpPr>
        <p:spPr>
          <a:xfrm>
            <a:off x="65899" y="13096764"/>
            <a:ext cx="2143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Divakar</a:t>
            </a:r>
          </a:p>
        </p:txBody>
      </p:sp>
    </p:spTree>
    <p:extLst>
      <p:ext uri="{BB962C8B-B14F-4D97-AF65-F5344CB8AC3E}">
        <p14:creationId xmlns:p14="http://schemas.microsoft.com/office/powerpoint/2010/main" val="197329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F07D86C6-BBA2-C29E-13F1-493DB539A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6795" y="-2350823"/>
            <a:ext cx="18417646" cy="18417646"/>
          </a:xfrm>
          <a:custGeom>
            <a:avLst/>
            <a:gdLst>
              <a:gd name="T0" fmla="*/ 1701 w 1702"/>
              <a:gd name="T1" fmla="*/ 851 h 1703"/>
              <a:gd name="T2" fmla="*/ 1701 w 1702"/>
              <a:gd name="T3" fmla="*/ 851 h 1703"/>
              <a:gd name="T4" fmla="*/ 850 w 1702"/>
              <a:gd name="T5" fmla="*/ 1702 h 1703"/>
              <a:gd name="T6" fmla="*/ 850 w 1702"/>
              <a:gd name="T7" fmla="*/ 1702 h 1703"/>
              <a:gd name="T8" fmla="*/ 0 w 1702"/>
              <a:gd name="T9" fmla="*/ 851 h 1703"/>
              <a:gd name="T10" fmla="*/ 0 w 1702"/>
              <a:gd name="T11" fmla="*/ 851 h 1703"/>
              <a:gd name="T12" fmla="*/ 850 w 1702"/>
              <a:gd name="T13" fmla="*/ 0 h 1703"/>
              <a:gd name="T14" fmla="*/ 850 w 1702"/>
              <a:gd name="T15" fmla="*/ 0 h 1703"/>
              <a:gd name="T16" fmla="*/ 1701 w 1702"/>
              <a:gd name="T17" fmla="*/ 851 h 1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02" h="1703">
                <a:moveTo>
                  <a:pt x="1701" y="851"/>
                </a:moveTo>
                <a:lnTo>
                  <a:pt x="1701" y="851"/>
                </a:lnTo>
                <a:cubicBezTo>
                  <a:pt x="1701" y="1321"/>
                  <a:pt x="1320" y="1702"/>
                  <a:pt x="850" y="1702"/>
                </a:cubicBezTo>
                <a:lnTo>
                  <a:pt x="850" y="1702"/>
                </a:lnTo>
                <a:cubicBezTo>
                  <a:pt x="380" y="1702"/>
                  <a:pt x="0" y="1321"/>
                  <a:pt x="0" y="851"/>
                </a:cubicBezTo>
                <a:lnTo>
                  <a:pt x="0" y="851"/>
                </a:lnTo>
                <a:cubicBezTo>
                  <a:pt x="0" y="381"/>
                  <a:pt x="380" y="0"/>
                  <a:pt x="850" y="0"/>
                </a:cubicBezTo>
                <a:lnTo>
                  <a:pt x="850" y="0"/>
                </a:lnTo>
                <a:cubicBezTo>
                  <a:pt x="1320" y="0"/>
                  <a:pt x="1701" y="381"/>
                  <a:pt x="1701" y="851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4000"/>
          </a:p>
        </p:txBody>
      </p:sp>
      <p:pic>
        <p:nvPicPr>
          <p:cNvPr id="4" name="Picture Placeholder 3" descr="A screenshot of a data&#10;&#10;AI-generated content may be incorrect.">
            <a:extLst>
              <a:ext uri="{FF2B5EF4-FFF2-40B4-BE49-F238E27FC236}">
                <a16:creationId xmlns:a16="http://schemas.microsoft.com/office/drawing/2014/main" id="{ADA718F7-ACE1-0827-BA92-2B33D35F8E1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" t="26509" r="9" b="26030"/>
          <a:stretch/>
        </p:blipFill>
        <p:spPr>
          <a:xfrm>
            <a:off x="1367761" y="2572075"/>
            <a:ext cx="10821064" cy="5414809"/>
          </a:xfr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3AE9B18-1177-2348-BFD5-3B6E86FA9CB6}"/>
              </a:ext>
            </a:extLst>
          </p:cNvPr>
          <p:cNvGrpSpPr/>
          <p:nvPr/>
        </p:nvGrpSpPr>
        <p:grpSpPr>
          <a:xfrm>
            <a:off x="1367764" y="2861893"/>
            <a:ext cx="21642125" cy="8361545"/>
            <a:chOff x="2261891" y="2647410"/>
            <a:chExt cx="21642125" cy="836154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E345FD-335D-7E4B-8BF8-B97E3A39D36B}"/>
                </a:ext>
              </a:extLst>
            </p:cNvPr>
            <p:cNvSpPr txBox="1"/>
            <p:nvPr/>
          </p:nvSpPr>
          <p:spPr>
            <a:xfrm>
              <a:off x="15581288" y="2647410"/>
              <a:ext cx="8322728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5400" spc="300" dirty="0">
                  <a:solidFill>
                    <a:schemeClr val="tx2"/>
                  </a:solidFill>
                  <a:latin typeface="Montserrat Medium" pitchFamily="2" charset="77"/>
                  <a:ea typeface="Roboto" panose="02000000000000000000" pitchFamily="2" charset="0"/>
                  <a:cs typeface="Poppins Medium" pitchFamily="2" charset="77"/>
                </a:rPr>
                <a:t>Dimension /  Discrete field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04B6A7-94D6-2B4D-A84A-A2A07D264EB7}"/>
                </a:ext>
              </a:extLst>
            </p:cNvPr>
            <p:cNvSpPr txBox="1"/>
            <p:nvPr/>
          </p:nvSpPr>
          <p:spPr>
            <a:xfrm>
              <a:off x="15162377" y="5064996"/>
              <a:ext cx="7687368" cy="5828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r>
                <a:rPr lang="en-GB" sz="2800" dirty="0">
                  <a:latin typeface="Montserrat Light" pitchFamily="2" charset="77"/>
                  <a:ea typeface="Roboto Light" panose="02000000000000000000" pitchFamily="2" charset="0"/>
                </a:rPr>
                <a:t>Dimensions are qualitative or categorical fields.</a:t>
              </a:r>
            </a:p>
            <a:p>
              <a:pPr marL="514350" indent="-51435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endParaRPr lang="en-US" sz="2800" dirty="0">
                <a:latin typeface="Montserrat Light" pitchFamily="2" charset="77"/>
                <a:ea typeface="Roboto Light" panose="02000000000000000000" pitchFamily="2" charset="0"/>
              </a:endParaRPr>
            </a:p>
            <a:p>
              <a:pPr marL="514350" indent="-51435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r>
                <a:rPr lang="en-GB" sz="2800" dirty="0">
                  <a:latin typeface="Montserrat Light" pitchFamily="2" charset="77"/>
                  <a:ea typeface="Roboto Light" panose="02000000000000000000" pitchFamily="2" charset="0"/>
                </a:rPr>
                <a:t>They describe "what" the data is about (categories, labels, attributes).</a:t>
              </a:r>
            </a:p>
            <a:p>
              <a:pPr>
                <a:lnSpc>
                  <a:spcPts val="4080"/>
                </a:lnSpc>
              </a:pPr>
              <a:endParaRPr lang="en-GB" sz="2800" dirty="0">
                <a:latin typeface="Montserrat Light" pitchFamily="2" charset="77"/>
                <a:ea typeface="Roboto Light" panose="02000000000000000000" pitchFamily="2" charset="0"/>
              </a:endParaRPr>
            </a:p>
            <a:p>
              <a:pPr marL="514350" indent="-51435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r>
                <a:rPr lang="en-GB" sz="2800" dirty="0">
                  <a:latin typeface="Montserrat Light" pitchFamily="2" charset="77"/>
                  <a:ea typeface="Roboto Light" panose="02000000000000000000" pitchFamily="2" charset="0"/>
                </a:rPr>
                <a:t>They cannot be aggregated </a:t>
              </a:r>
            </a:p>
            <a:p>
              <a:pPr marL="514350" indent="-51435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endParaRPr lang="en-GB" sz="2800" dirty="0">
                <a:latin typeface="Montserrat Light" pitchFamily="2" charset="77"/>
                <a:ea typeface="Roboto Light" panose="02000000000000000000" pitchFamily="2" charset="0"/>
              </a:endParaRPr>
            </a:p>
            <a:p>
              <a:pPr marL="514350" indent="-51435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r>
                <a:rPr lang="en-GB" sz="2800" dirty="0">
                  <a:latin typeface="Montserrat Light" pitchFamily="2" charset="77"/>
                  <a:ea typeface="Roboto Light" panose="02000000000000000000" pitchFamily="2" charset="0"/>
                </a:rPr>
                <a:t>Some numbers may also be treated as dimensions. Like, Aadhar numbers, Account numbers, Age, etc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1CE5FDC-0548-F64D-BF5B-822EF57EAE50}"/>
                </a:ext>
              </a:extLst>
            </p:cNvPr>
            <p:cNvGrpSpPr/>
            <p:nvPr/>
          </p:nvGrpSpPr>
          <p:grpSpPr>
            <a:xfrm>
              <a:off x="2261891" y="8856186"/>
              <a:ext cx="5053309" cy="1096839"/>
              <a:chOff x="1861626" y="7898166"/>
              <a:chExt cx="5053309" cy="1096839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6B19D2A-0D86-BA44-A227-9F2B656AE671}"/>
                  </a:ext>
                </a:extLst>
              </p:cNvPr>
              <p:cNvSpPr/>
              <p:nvPr/>
            </p:nvSpPr>
            <p:spPr>
              <a:xfrm>
                <a:off x="1861626" y="8276354"/>
                <a:ext cx="344824" cy="34482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B7AA89-6B7A-9A49-AE96-65D70D87B22C}"/>
                  </a:ext>
                </a:extLst>
              </p:cNvPr>
              <p:cNvSpPr txBox="1"/>
              <p:nvPr/>
            </p:nvSpPr>
            <p:spPr>
              <a:xfrm>
                <a:off x="2531017" y="7898166"/>
                <a:ext cx="4383918" cy="1096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4080"/>
                  </a:lnSpc>
                </a:pPr>
                <a:r>
                  <a:rPr lang="en-GB" sz="2800" dirty="0">
                    <a:latin typeface="Montserrat Light" pitchFamily="2" charset="77"/>
                    <a:ea typeface="Lato Light" panose="020F0502020204030203" pitchFamily="34" charset="0"/>
                    <a:cs typeface="Lato Light" panose="020F0502020204030203" pitchFamily="34" charset="0"/>
                  </a:rPr>
                  <a:t>They are shown in blue colour</a:t>
                </a:r>
                <a:endParaRPr lang="en-US" sz="2800" dirty="0">
                  <a:latin typeface="Montserrat Light" pitchFamily="2" charset="77"/>
                  <a:ea typeface="Lato Light" panose="020F0502020204030203" pitchFamily="34" charset="0"/>
                  <a:cs typeface="Lato Light" panose="020F0502020204030203" pitchFamily="34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77ADEED-A7AE-6D4C-85C7-47DF4351EAB0}"/>
                </a:ext>
              </a:extLst>
            </p:cNvPr>
            <p:cNvGrpSpPr/>
            <p:nvPr/>
          </p:nvGrpSpPr>
          <p:grpSpPr>
            <a:xfrm>
              <a:off x="8261591" y="8856186"/>
              <a:ext cx="5053309" cy="2152769"/>
              <a:chOff x="1861626" y="7898166"/>
              <a:chExt cx="5053309" cy="2152769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840D3E3-9727-3240-9522-2D7197564611}"/>
                  </a:ext>
                </a:extLst>
              </p:cNvPr>
              <p:cNvSpPr/>
              <p:nvPr/>
            </p:nvSpPr>
            <p:spPr>
              <a:xfrm>
                <a:off x="1861626" y="8276354"/>
                <a:ext cx="344824" cy="34482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6AB4177-DC16-C543-A764-21B20A7A06B9}"/>
                  </a:ext>
                </a:extLst>
              </p:cNvPr>
              <p:cNvSpPr txBox="1"/>
              <p:nvPr/>
            </p:nvSpPr>
            <p:spPr>
              <a:xfrm>
                <a:off x="2531017" y="7898166"/>
                <a:ext cx="4383918" cy="2152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4080"/>
                  </a:lnSpc>
                </a:pPr>
                <a:r>
                  <a:rPr lang="en-GB" sz="2800" dirty="0">
                    <a:latin typeface="Montserrat Light" pitchFamily="2" charset="77"/>
                    <a:ea typeface="Lato Light" panose="020F0502020204030203" pitchFamily="34" charset="0"/>
                    <a:cs typeface="Lato Light" panose="020F0502020204030203" pitchFamily="34" charset="0"/>
                  </a:rPr>
                  <a:t>Examples: Product Name, Customer ID, Country, City, Order Date.</a:t>
                </a:r>
                <a:endParaRPr lang="en-US" sz="2800" dirty="0">
                  <a:latin typeface="Montserrat Light" pitchFamily="2" charset="77"/>
                  <a:ea typeface="Lato Light" panose="020F0502020204030203" pitchFamily="34" charset="0"/>
                  <a:cs typeface="Lato Light" panose="020F0502020204030203" pitchFamily="34" charset="0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8F968FB-3F1F-1788-FDA8-8332CAEA0E9E}"/>
              </a:ext>
            </a:extLst>
          </p:cNvPr>
          <p:cNvSpPr txBox="1"/>
          <p:nvPr/>
        </p:nvSpPr>
        <p:spPr>
          <a:xfrm>
            <a:off x="65899" y="13096764"/>
            <a:ext cx="2143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Bhoomi </a:t>
            </a:r>
            <a:r>
              <a:rPr lang="en-IN" sz="2800" dirty="0" err="1"/>
              <a:t>gohil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0462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0963E-4283-7036-D8D3-BCE25BECE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A558B44A-1828-75C9-CDFF-F7A538931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1219" y="-2165216"/>
            <a:ext cx="18417646" cy="18417646"/>
          </a:xfrm>
          <a:custGeom>
            <a:avLst/>
            <a:gdLst>
              <a:gd name="T0" fmla="*/ 1701 w 1702"/>
              <a:gd name="T1" fmla="*/ 851 h 1703"/>
              <a:gd name="T2" fmla="*/ 1701 w 1702"/>
              <a:gd name="T3" fmla="*/ 851 h 1703"/>
              <a:gd name="T4" fmla="*/ 850 w 1702"/>
              <a:gd name="T5" fmla="*/ 1702 h 1703"/>
              <a:gd name="T6" fmla="*/ 850 w 1702"/>
              <a:gd name="T7" fmla="*/ 1702 h 1703"/>
              <a:gd name="T8" fmla="*/ 0 w 1702"/>
              <a:gd name="T9" fmla="*/ 851 h 1703"/>
              <a:gd name="T10" fmla="*/ 0 w 1702"/>
              <a:gd name="T11" fmla="*/ 851 h 1703"/>
              <a:gd name="T12" fmla="*/ 850 w 1702"/>
              <a:gd name="T13" fmla="*/ 0 h 1703"/>
              <a:gd name="T14" fmla="*/ 850 w 1702"/>
              <a:gd name="T15" fmla="*/ 0 h 1703"/>
              <a:gd name="T16" fmla="*/ 1701 w 1702"/>
              <a:gd name="T17" fmla="*/ 851 h 1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02" h="1703">
                <a:moveTo>
                  <a:pt x="1701" y="851"/>
                </a:moveTo>
                <a:lnTo>
                  <a:pt x="1701" y="851"/>
                </a:lnTo>
                <a:cubicBezTo>
                  <a:pt x="1701" y="1321"/>
                  <a:pt x="1320" y="1702"/>
                  <a:pt x="850" y="1702"/>
                </a:cubicBezTo>
                <a:lnTo>
                  <a:pt x="850" y="1702"/>
                </a:lnTo>
                <a:cubicBezTo>
                  <a:pt x="380" y="1702"/>
                  <a:pt x="0" y="1321"/>
                  <a:pt x="0" y="851"/>
                </a:cubicBezTo>
                <a:lnTo>
                  <a:pt x="0" y="851"/>
                </a:lnTo>
                <a:cubicBezTo>
                  <a:pt x="0" y="381"/>
                  <a:pt x="380" y="0"/>
                  <a:pt x="850" y="0"/>
                </a:cubicBezTo>
                <a:lnTo>
                  <a:pt x="850" y="0"/>
                </a:lnTo>
                <a:cubicBezTo>
                  <a:pt x="1320" y="0"/>
                  <a:pt x="1701" y="381"/>
                  <a:pt x="1701" y="851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4000"/>
          </a:p>
        </p:txBody>
      </p:sp>
      <p:pic>
        <p:nvPicPr>
          <p:cNvPr id="4" name="Picture Placeholder 3" descr="A screenshot of a data&#10;&#10;AI-generated content may be incorrect.">
            <a:extLst>
              <a:ext uri="{FF2B5EF4-FFF2-40B4-BE49-F238E27FC236}">
                <a16:creationId xmlns:a16="http://schemas.microsoft.com/office/drawing/2014/main" id="{3BCEBF94-2B32-EB08-0955-5CA194E0BF6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0" t="72482" r="9971" b="3040"/>
          <a:stretch/>
        </p:blipFill>
        <p:spPr>
          <a:xfrm>
            <a:off x="1222004" y="3588588"/>
            <a:ext cx="10821064" cy="3450567"/>
          </a:xfr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8845CFE-62D3-4611-A12F-3029995A6D09}"/>
              </a:ext>
            </a:extLst>
          </p:cNvPr>
          <p:cNvGrpSpPr/>
          <p:nvPr/>
        </p:nvGrpSpPr>
        <p:grpSpPr>
          <a:xfrm>
            <a:off x="1220987" y="2892096"/>
            <a:ext cx="21934659" cy="8886778"/>
            <a:chOff x="2261891" y="2677613"/>
            <a:chExt cx="21934659" cy="88867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48DC488-B944-060F-D9C2-E9E7592B01B2}"/>
                </a:ext>
              </a:extLst>
            </p:cNvPr>
            <p:cNvSpPr txBox="1"/>
            <p:nvPr/>
          </p:nvSpPr>
          <p:spPr>
            <a:xfrm>
              <a:off x="15873823" y="2677613"/>
              <a:ext cx="8322727" cy="17543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5400" spc="300" dirty="0">
                  <a:solidFill>
                    <a:schemeClr val="tx2"/>
                  </a:solidFill>
                  <a:latin typeface="Montserrat Medium" pitchFamily="2" charset="77"/>
                  <a:ea typeface="Roboto" panose="02000000000000000000" pitchFamily="2" charset="0"/>
                  <a:cs typeface="Poppins Medium" pitchFamily="2" charset="77"/>
                </a:rPr>
                <a:t>Measure /</a:t>
              </a:r>
            </a:p>
            <a:p>
              <a:r>
                <a:rPr lang="en-US" sz="5400" spc="300" dirty="0">
                  <a:solidFill>
                    <a:schemeClr val="tx2"/>
                  </a:solidFill>
                  <a:latin typeface="Montserrat Medium" pitchFamily="2" charset="77"/>
                  <a:ea typeface="Roboto" panose="02000000000000000000" pitchFamily="2" charset="0"/>
                  <a:cs typeface="Poppins Medium" pitchFamily="2" charset="77"/>
                </a:rPr>
                <a:t>Continuous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AB7AE47-B0B7-7C04-706A-CF5CA06FA448}"/>
                </a:ext>
              </a:extLst>
            </p:cNvPr>
            <p:cNvSpPr txBox="1"/>
            <p:nvPr/>
          </p:nvSpPr>
          <p:spPr>
            <a:xfrm>
              <a:off x="15839245" y="5209703"/>
              <a:ext cx="7687368" cy="6354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r>
                <a:rPr lang="en-GB" sz="2800" dirty="0">
                  <a:latin typeface="Montserrat Light" pitchFamily="2" charset="77"/>
                  <a:ea typeface="Roboto Light" panose="02000000000000000000" pitchFamily="2" charset="0"/>
                </a:rPr>
                <a:t>Measures are quantitative or numeric fields.</a:t>
              </a:r>
            </a:p>
            <a:p>
              <a:pPr marL="457200" indent="-45720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endParaRPr lang="en-GB" sz="2800" dirty="0">
                <a:latin typeface="Montserrat Light" pitchFamily="2" charset="77"/>
                <a:ea typeface="Roboto Light" panose="02000000000000000000" pitchFamily="2" charset="0"/>
              </a:endParaRPr>
            </a:p>
            <a:p>
              <a:pPr marL="457200" indent="-45720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r>
                <a:rPr lang="en-GB" sz="2800" dirty="0"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They represent values that can be aggregated (SUM, AVG, MIN, MAX).</a:t>
              </a:r>
            </a:p>
            <a:p>
              <a:pPr marL="457200" indent="-45720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endParaRPr lang="en-GB" sz="2800" dirty="0">
                <a:latin typeface="Montserrat Light" pitchFamily="2" charset="77"/>
                <a:ea typeface="Roboto Light" panose="02000000000000000000" pitchFamily="2" charset="0"/>
                <a:cs typeface="Lato Light" panose="020F0502020204030203" pitchFamily="34" charset="0"/>
              </a:endParaRPr>
            </a:p>
            <a:p>
              <a:pPr marL="457200" indent="-45720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r>
                <a:rPr lang="en-GB" sz="2800" dirty="0"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Measures are used for calculations, graphs, and trends.</a:t>
              </a:r>
            </a:p>
            <a:p>
              <a:pPr marL="457200" indent="-45720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endParaRPr lang="en-GB" sz="2800" dirty="0">
                <a:latin typeface="Montserrat Light" pitchFamily="2" charset="77"/>
                <a:ea typeface="Roboto Light" panose="02000000000000000000" pitchFamily="2" charset="0"/>
                <a:cs typeface="Lato Light" panose="020F0502020204030203" pitchFamily="34" charset="0"/>
              </a:endParaRPr>
            </a:p>
            <a:p>
              <a:pPr marL="457200" indent="-45720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r>
                <a:rPr lang="en-GB" sz="2800" dirty="0">
                  <a:latin typeface="Montserrat Light" pitchFamily="2" charset="77"/>
                  <a:ea typeface="Roboto Light" panose="02000000000000000000" pitchFamily="2" charset="0"/>
                  <a:cs typeface="Lato Light" panose="020F0502020204030203" pitchFamily="34" charset="0"/>
                </a:rPr>
                <a:t>Values keep incrementing and can be aggregated.</a:t>
              </a:r>
            </a:p>
            <a:p>
              <a:pPr marL="457200" indent="-457200">
                <a:lnSpc>
                  <a:spcPts val="4080"/>
                </a:lnSpc>
                <a:buFont typeface="Wingdings" panose="05000000000000000000" pitchFamily="2" charset="2"/>
                <a:buChar char="Ø"/>
              </a:pPr>
              <a:endParaRPr lang="en-US" sz="2800" dirty="0">
                <a:latin typeface="Montserrat Light" pitchFamily="2" charset="77"/>
                <a:ea typeface="Roboto Light" panose="02000000000000000000" pitchFamily="2" charset="0"/>
                <a:cs typeface="Lato Light" panose="020F0502020204030203" pitchFamily="34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F2F1EA-053F-D64F-D547-2994B49235F9}"/>
                </a:ext>
              </a:extLst>
            </p:cNvPr>
            <p:cNvGrpSpPr/>
            <p:nvPr/>
          </p:nvGrpSpPr>
          <p:grpSpPr>
            <a:xfrm>
              <a:off x="2261891" y="8856186"/>
              <a:ext cx="5411549" cy="1096839"/>
              <a:chOff x="1861626" y="7898166"/>
              <a:chExt cx="5411549" cy="1096839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6B4752B-2B75-8934-AE8A-CBCC6A42A38A}"/>
                  </a:ext>
                </a:extLst>
              </p:cNvPr>
              <p:cNvSpPr/>
              <p:nvPr/>
            </p:nvSpPr>
            <p:spPr>
              <a:xfrm>
                <a:off x="1861626" y="8276354"/>
                <a:ext cx="344824" cy="344824"/>
              </a:xfrm>
              <a:prstGeom prst="ellipse">
                <a:avLst/>
              </a:prstGeom>
              <a:solidFill>
                <a:srgbClr val="3D763A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08DC18E-8B90-43B8-6305-3AE5C88CB7BF}"/>
                  </a:ext>
                </a:extLst>
              </p:cNvPr>
              <p:cNvSpPr txBox="1"/>
              <p:nvPr/>
            </p:nvSpPr>
            <p:spPr>
              <a:xfrm>
                <a:off x="2531016" y="7898166"/>
                <a:ext cx="4742159" cy="1096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4080"/>
                  </a:lnSpc>
                </a:pPr>
                <a:r>
                  <a:rPr lang="en-GB" sz="2800" dirty="0">
                    <a:latin typeface="Montserrat Light" pitchFamily="2" charset="77"/>
                    <a:ea typeface="Lato Light" panose="020F0502020204030203" pitchFamily="34" charset="0"/>
                    <a:cs typeface="Lato Light" panose="020F0502020204030203" pitchFamily="34" charset="0"/>
                  </a:rPr>
                  <a:t>Typically shown in green colour in Tableau.</a:t>
                </a:r>
                <a:endParaRPr lang="en-US" sz="2800" dirty="0">
                  <a:latin typeface="Montserrat Light" pitchFamily="2" charset="77"/>
                  <a:ea typeface="Lato Light" panose="020F0502020204030203" pitchFamily="34" charset="0"/>
                  <a:cs typeface="Lato Light" panose="020F0502020204030203" pitchFamily="34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599716D-5379-1187-6DA5-5B873BC28ED4}"/>
                </a:ext>
              </a:extLst>
            </p:cNvPr>
            <p:cNvGrpSpPr/>
            <p:nvPr/>
          </p:nvGrpSpPr>
          <p:grpSpPr>
            <a:xfrm>
              <a:off x="8261591" y="8856186"/>
              <a:ext cx="5053309" cy="1096839"/>
              <a:chOff x="1861626" y="7898166"/>
              <a:chExt cx="5053309" cy="1096839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6077928-6AF1-D093-5EEC-652E2AB4211D}"/>
                  </a:ext>
                </a:extLst>
              </p:cNvPr>
              <p:cNvSpPr/>
              <p:nvPr/>
            </p:nvSpPr>
            <p:spPr>
              <a:xfrm>
                <a:off x="1861626" y="8276354"/>
                <a:ext cx="344824" cy="34482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E51D10-1D62-4A3A-CA84-52F38B8D2769}"/>
                  </a:ext>
                </a:extLst>
              </p:cNvPr>
              <p:cNvSpPr txBox="1"/>
              <p:nvPr/>
            </p:nvSpPr>
            <p:spPr>
              <a:xfrm>
                <a:off x="2531017" y="7898166"/>
                <a:ext cx="4383918" cy="1096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4080"/>
                  </a:lnSpc>
                </a:pPr>
                <a:r>
                  <a:rPr lang="en-US" sz="2800" dirty="0">
                    <a:latin typeface="Montserrat Light" pitchFamily="2" charset="77"/>
                    <a:ea typeface="Lato Light" panose="020F0502020204030203" pitchFamily="34" charset="0"/>
                    <a:cs typeface="Lato Light" panose="020F0502020204030203" pitchFamily="34" charset="0"/>
                  </a:rPr>
                  <a:t>Examples: Sales, Profit, Quantity, Discount.</a:t>
                </a: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C48A97F-5B4E-7EF7-E5C8-41AB3D79B1AB}"/>
              </a:ext>
            </a:extLst>
          </p:cNvPr>
          <p:cNvSpPr txBox="1"/>
          <p:nvPr/>
        </p:nvSpPr>
        <p:spPr>
          <a:xfrm>
            <a:off x="65899" y="13096764"/>
            <a:ext cx="2143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Bhoomi </a:t>
            </a:r>
            <a:r>
              <a:rPr lang="en-IN" sz="2800" dirty="0" err="1"/>
              <a:t>gohil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98374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95408B3-34F6-3C4E-8EC5-02C60CA130ED}"/>
              </a:ext>
            </a:extLst>
          </p:cNvPr>
          <p:cNvSpPr/>
          <p:nvPr/>
        </p:nvSpPr>
        <p:spPr>
          <a:xfrm rot="10800000" flipV="1">
            <a:off x="12188825" y="0"/>
            <a:ext cx="12188822" cy="13716000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71000">
                <a:schemeClr val="accent3">
                  <a:alpha val="80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47B762-4F2D-FB4A-B130-5AD6FD2762AF}"/>
              </a:ext>
            </a:extLst>
          </p:cNvPr>
          <p:cNvGrpSpPr/>
          <p:nvPr/>
        </p:nvGrpSpPr>
        <p:grpSpPr>
          <a:xfrm>
            <a:off x="1132902" y="582146"/>
            <a:ext cx="20759736" cy="1723842"/>
            <a:chOff x="7355742" y="818416"/>
            <a:chExt cx="20759736" cy="1723842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133785E-0B00-E64A-9AC0-44059588742B}"/>
                </a:ext>
              </a:extLst>
            </p:cNvPr>
            <p:cNvSpPr txBox="1"/>
            <p:nvPr/>
          </p:nvSpPr>
          <p:spPr>
            <a:xfrm>
              <a:off x="7355742" y="1618928"/>
              <a:ext cx="8751766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spc="300" dirty="0">
                  <a:solidFill>
                    <a:schemeClr val="tx2"/>
                  </a:solidFill>
                  <a:latin typeface="Montserrat Medium" pitchFamily="2" charset="77"/>
                  <a:ea typeface="Roboto" panose="02000000000000000000" pitchFamily="2" charset="0"/>
                  <a:cs typeface="Poppins Medium" pitchFamily="2" charset="77"/>
                </a:rPr>
                <a:t>Dimensions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E1BBD7F-73E1-B971-2CFB-02381953CB42}"/>
                </a:ext>
              </a:extLst>
            </p:cNvPr>
            <p:cNvSpPr txBox="1"/>
            <p:nvPr/>
          </p:nvSpPr>
          <p:spPr>
            <a:xfrm>
              <a:off x="19363712" y="1618928"/>
              <a:ext cx="8751766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spc="300" dirty="0">
                  <a:solidFill>
                    <a:schemeClr val="tx2"/>
                  </a:solidFill>
                  <a:latin typeface="Montserrat Medium" pitchFamily="2" charset="77"/>
                  <a:ea typeface="Roboto" panose="02000000000000000000" pitchFamily="2" charset="0"/>
                  <a:cs typeface="Poppins Medium" pitchFamily="2" charset="77"/>
                </a:rPr>
                <a:t>Measures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AFC3F07-C830-CBA8-1B32-AC05490FE178}"/>
                </a:ext>
              </a:extLst>
            </p:cNvPr>
            <p:cNvSpPr txBox="1"/>
            <p:nvPr/>
          </p:nvSpPr>
          <p:spPr>
            <a:xfrm>
              <a:off x="15330189" y="818416"/>
              <a:ext cx="52100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spc="600" dirty="0">
                  <a:latin typeface="Montserrat Light" pitchFamily="2" charset="77"/>
                  <a:ea typeface="Lato Medium" panose="020F0502020204030203" pitchFamily="34" charset="0"/>
                  <a:cs typeface="Lato Medium" panose="020F0502020204030203" pitchFamily="34" charset="0"/>
                </a:rPr>
                <a:t>Comparison</a:t>
              </a:r>
              <a:r>
                <a:rPr lang="en-US" sz="2400" spc="600" dirty="0">
                  <a:latin typeface="Montserrat Light" pitchFamily="2" charset="77"/>
                  <a:ea typeface="Lato Medium" panose="020F0502020204030203" pitchFamily="34" charset="0"/>
                  <a:cs typeface="Lato Medium" panose="020F0502020204030203" pitchFamily="34" charset="0"/>
                </a:rPr>
                <a:t> Between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E6EB409-10E6-A043-94F0-BE229606B0EA}"/>
              </a:ext>
            </a:extLst>
          </p:cNvPr>
          <p:cNvSpPr txBox="1"/>
          <p:nvPr/>
        </p:nvSpPr>
        <p:spPr>
          <a:xfrm>
            <a:off x="13917750" y="2993463"/>
            <a:ext cx="9685199" cy="845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80"/>
              </a:lnSpc>
            </a:pPr>
            <a:r>
              <a:rPr lang="en-US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Quantifies data (numbers)</a:t>
            </a:r>
          </a:p>
          <a:p>
            <a:pPr>
              <a:lnSpc>
                <a:spcPts val="4080"/>
              </a:lnSpc>
            </a:pPr>
            <a:endParaRPr lang="en-US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Describe “how much” or “how many”</a:t>
            </a:r>
          </a:p>
          <a:p>
            <a:pPr>
              <a:lnSpc>
                <a:spcPts val="4080"/>
              </a:lnSpc>
            </a:pPr>
            <a:endParaRPr lang="en-GB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Usually continuous (range of values)</a:t>
            </a:r>
          </a:p>
          <a:p>
            <a:pPr>
              <a:lnSpc>
                <a:spcPts val="4080"/>
              </a:lnSpc>
            </a:pPr>
            <a:endParaRPr lang="en-GB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Can be aggregated (SUM, AVG, MIN, MAX)</a:t>
            </a:r>
          </a:p>
          <a:p>
            <a:pPr>
              <a:lnSpc>
                <a:spcPts val="4080"/>
              </a:lnSpc>
            </a:pPr>
            <a:endParaRPr lang="en-GB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Used for calculations, metrics, KPIs</a:t>
            </a:r>
          </a:p>
          <a:p>
            <a:pPr>
              <a:lnSpc>
                <a:spcPts val="4080"/>
              </a:lnSpc>
            </a:pPr>
            <a:endParaRPr lang="en-GB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Shown as Green pills in Tableau</a:t>
            </a:r>
          </a:p>
          <a:p>
            <a:pPr>
              <a:lnSpc>
                <a:spcPts val="4080"/>
              </a:lnSpc>
            </a:pPr>
            <a:endParaRPr lang="en-GB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Often used on Rows/Columns to create axes or size</a:t>
            </a:r>
          </a:p>
          <a:p>
            <a:pPr>
              <a:lnSpc>
                <a:spcPts val="4080"/>
              </a:lnSpc>
            </a:pPr>
            <a:endParaRPr lang="en-GB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Best suited for charts, trends, and aggregations</a:t>
            </a:r>
          </a:p>
          <a:p>
            <a:pPr>
              <a:lnSpc>
                <a:spcPts val="4080"/>
              </a:lnSpc>
            </a:pPr>
            <a:endParaRPr lang="en-US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1D3E89-6F90-534C-F74D-8C156D20CF80}"/>
              </a:ext>
            </a:extLst>
          </p:cNvPr>
          <p:cNvSpPr txBox="1"/>
          <p:nvPr/>
        </p:nvSpPr>
        <p:spPr>
          <a:xfrm>
            <a:off x="2084509" y="3161067"/>
            <a:ext cx="9816376" cy="7932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80"/>
              </a:lnSpc>
            </a:pPr>
            <a:r>
              <a:rPr lang="en-US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Describes data (categories)</a:t>
            </a:r>
          </a:p>
          <a:p>
            <a:pPr>
              <a:lnSpc>
                <a:spcPts val="4080"/>
              </a:lnSpc>
            </a:pPr>
            <a:endParaRPr lang="en-US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Describe “what” the data is about</a:t>
            </a:r>
            <a:endParaRPr lang="en-US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endParaRPr lang="en-US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US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Usually discrete (fixed values)</a:t>
            </a:r>
          </a:p>
          <a:p>
            <a:pPr>
              <a:lnSpc>
                <a:spcPts val="4080"/>
              </a:lnSpc>
            </a:pPr>
            <a:endParaRPr lang="en-US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Cannot be aggregated (no SUM, AVG)</a:t>
            </a:r>
            <a:endParaRPr lang="en-US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endParaRPr lang="en-US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US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Used for grouping, filtering, slicing data</a:t>
            </a:r>
          </a:p>
          <a:p>
            <a:pPr>
              <a:lnSpc>
                <a:spcPts val="4080"/>
              </a:lnSpc>
            </a:pPr>
            <a:endParaRPr lang="en-US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Shown as Blue pills in Tableau</a:t>
            </a:r>
          </a:p>
          <a:p>
            <a:pPr>
              <a:lnSpc>
                <a:spcPts val="4080"/>
              </a:lnSpc>
            </a:pPr>
            <a:endParaRPr lang="en-GB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Often used on Rows/Columns to create categories</a:t>
            </a:r>
          </a:p>
          <a:p>
            <a:pPr>
              <a:lnSpc>
                <a:spcPts val="4080"/>
              </a:lnSpc>
            </a:pPr>
            <a:endParaRPr lang="en-GB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>
              <a:lnSpc>
                <a:spcPts val="4080"/>
              </a:lnSpc>
            </a:pPr>
            <a:r>
              <a:rPr lang="en-GB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Best suited for labels, headers, categories</a:t>
            </a:r>
            <a:endParaRPr lang="en-US" sz="28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532C6B8-28CB-AB43-AEC4-329042A088D0}"/>
              </a:ext>
            </a:extLst>
          </p:cNvPr>
          <p:cNvSpPr/>
          <p:nvPr/>
        </p:nvSpPr>
        <p:spPr>
          <a:xfrm>
            <a:off x="1383406" y="4340186"/>
            <a:ext cx="344824" cy="34482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DA143F0-7FFE-D4B2-EB7D-9509D5BB0859}"/>
              </a:ext>
            </a:extLst>
          </p:cNvPr>
          <p:cNvSpPr/>
          <p:nvPr/>
        </p:nvSpPr>
        <p:spPr>
          <a:xfrm>
            <a:off x="1371951" y="5352068"/>
            <a:ext cx="344824" cy="34482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E902434-BC18-96E7-4DBB-BE22051AACA5}"/>
              </a:ext>
            </a:extLst>
          </p:cNvPr>
          <p:cNvSpPr/>
          <p:nvPr/>
        </p:nvSpPr>
        <p:spPr>
          <a:xfrm>
            <a:off x="1371951" y="3323087"/>
            <a:ext cx="344824" cy="34482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19CEEC5-6473-D3B0-0A50-62EE8129220C}"/>
              </a:ext>
            </a:extLst>
          </p:cNvPr>
          <p:cNvSpPr/>
          <p:nvPr/>
        </p:nvSpPr>
        <p:spPr>
          <a:xfrm>
            <a:off x="1383406" y="6437884"/>
            <a:ext cx="344824" cy="34482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D533C11-3CFF-16FF-E4A8-93710F3F715A}"/>
              </a:ext>
            </a:extLst>
          </p:cNvPr>
          <p:cNvSpPr/>
          <p:nvPr/>
        </p:nvSpPr>
        <p:spPr>
          <a:xfrm>
            <a:off x="13284986" y="3150675"/>
            <a:ext cx="344824" cy="344824"/>
          </a:xfrm>
          <a:prstGeom prst="ellipse">
            <a:avLst/>
          </a:prstGeom>
          <a:solidFill>
            <a:srgbClr val="3D763A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4E2C35E-D9D5-B99E-1C9D-72CFBDAE7D26}"/>
              </a:ext>
            </a:extLst>
          </p:cNvPr>
          <p:cNvSpPr/>
          <p:nvPr/>
        </p:nvSpPr>
        <p:spPr>
          <a:xfrm>
            <a:off x="1468163" y="8464599"/>
            <a:ext cx="344824" cy="34482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0F9FA92-1F2C-12DD-387C-1F852A5A4054}"/>
              </a:ext>
            </a:extLst>
          </p:cNvPr>
          <p:cNvSpPr/>
          <p:nvPr/>
        </p:nvSpPr>
        <p:spPr>
          <a:xfrm>
            <a:off x="1456708" y="9476481"/>
            <a:ext cx="344824" cy="34482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E52DEEC-1566-DFE6-A073-B55A19031C57}"/>
              </a:ext>
            </a:extLst>
          </p:cNvPr>
          <p:cNvSpPr/>
          <p:nvPr/>
        </p:nvSpPr>
        <p:spPr>
          <a:xfrm>
            <a:off x="1456708" y="7447500"/>
            <a:ext cx="344824" cy="34482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28F7A50-0625-DEE0-19AC-578C05D7DD71}"/>
              </a:ext>
            </a:extLst>
          </p:cNvPr>
          <p:cNvSpPr/>
          <p:nvPr/>
        </p:nvSpPr>
        <p:spPr>
          <a:xfrm>
            <a:off x="1468163" y="10562297"/>
            <a:ext cx="344824" cy="34482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3631B92-CF43-334B-03FC-1F0F918CFBB3}"/>
              </a:ext>
            </a:extLst>
          </p:cNvPr>
          <p:cNvSpPr/>
          <p:nvPr/>
        </p:nvSpPr>
        <p:spPr>
          <a:xfrm>
            <a:off x="13284986" y="4167774"/>
            <a:ext cx="344824" cy="344824"/>
          </a:xfrm>
          <a:prstGeom prst="ellipse">
            <a:avLst/>
          </a:prstGeom>
          <a:solidFill>
            <a:srgbClr val="3D763A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FA719EE-D0C3-527B-7919-19E80B1CE000}"/>
              </a:ext>
            </a:extLst>
          </p:cNvPr>
          <p:cNvSpPr/>
          <p:nvPr/>
        </p:nvSpPr>
        <p:spPr>
          <a:xfrm>
            <a:off x="13313694" y="5248373"/>
            <a:ext cx="344824" cy="344824"/>
          </a:xfrm>
          <a:prstGeom prst="ellipse">
            <a:avLst/>
          </a:prstGeom>
          <a:solidFill>
            <a:srgbClr val="3D763A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E666D1A-85D2-3037-5043-17594D2E9DCD}"/>
              </a:ext>
            </a:extLst>
          </p:cNvPr>
          <p:cNvSpPr/>
          <p:nvPr/>
        </p:nvSpPr>
        <p:spPr>
          <a:xfrm>
            <a:off x="13313694" y="6265472"/>
            <a:ext cx="344824" cy="344824"/>
          </a:xfrm>
          <a:prstGeom prst="ellipse">
            <a:avLst/>
          </a:prstGeom>
          <a:solidFill>
            <a:srgbClr val="3D763A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02A1C3-61EA-4A06-AF01-1EA313043C52}"/>
              </a:ext>
            </a:extLst>
          </p:cNvPr>
          <p:cNvSpPr/>
          <p:nvPr/>
        </p:nvSpPr>
        <p:spPr>
          <a:xfrm>
            <a:off x="13313694" y="7339633"/>
            <a:ext cx="344824" cy="344824"/>
          </a:xfrm>
          <a:prstGeom prst="ellipse">
            <a:avLst/>
          </a:prstGeom>
          <a:solidFill>
            <a:srgbClr val="3D763A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AB39CF6-EB4D-D3EF-9F6B-CEA156939D3E}"/>
              </a:ext>
            </a:extLst>
          </p:cNvPr>
          <p:cNvSpPr/>
          <p:nvPr/>
        </p:nvSpPr>
        <p:spPr>
          <a:xfrm>
            <a:off x="13313694" y="8356732"/>
            <a:ext cx="344824" cy="344824"/>
          </a:xfrm>
          <a:prstGeom prst="ellipse">
            <a:avLst/>
          </a:prstGeom>
          <a:solidFill>
            <a:srgbClr val="3D763A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D7988B4-30F8-5BC4-EBB9-2C4CB1DBA28B}"/>
              </a:ext>
            </a:extLst>
          </p:cNvPr>
          <p:cNvSpPr/>
          <p:nvPr/>
        </p:nvSpPr>
        <p:spPr>
          <a:xfrm>
            <a:off x="13342402" y="9437331"/>
            <a:ext cx="344824" cy="344824"/>
          </a:xfrm>
          <a:prstGeom prst="ellipse">
            <a:avLst/>
          </a:prstGeom>
          <a:solidFill>
            <a:srgbClr val="3D763A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943A063-665E-BBBF-76AE-9FC2297C762B}"/>
              </a:ext>
            </a:extLst>
          </p:cNvPr>
          <p:cNvSpPr/>
          <p:nvPr/>
        </p:nvSpPr>
        <p:spPr>
          <a:xfrm>
            <a:off x="13342402" y="10454430"/>
            <a:ext cx="344824" cy="344824"/>
          </a:xfrm>
          <a:prstGeom prst="ellipse">
            <a:avLst/>
          </a:prstGeom>
          <a:solidFill>
            <a:srgbClr val="3D763A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7A2959-EC78-566D-8001-660C64E5B785}"/>
              </a:ext>
            </a:extLst>
          </p:cNvPr>
          <p:cNvSpPr txBox="1"/>
          <p:nvPr/>
        </p:nvSpPr>
        <p:spPr>
          <a:xfrm>
            <a:off x="21240751" y="13096764"/>
            <a:ext cx="3136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Adesh Arun Lakade</a:t>
            </a:r>
          </a:p>
        </p:txBody>
      </p:sp>
    </p:spTree>
    <p:extLst>
      <p:ext uri="{BB962C8B-B14F-4D97-AF65-F5344CB8AC3E}">
        <p14:creationId xmlns:p14="http://schemas.microsoft.com/office/powerpoint/2010/main" val="1110020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77BE16F6-4B9B-95F7-C95B-31A9DCB20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1911" y="1311033"/>
            <a:ext cx="1914028" cy="1915064"/>
          </a:xfrm>
          <a:custGeom>
            <a:avLst/>
            <a:gdLst>
              <a:gd name="T0" fmla="*/ 8141 w 8142"/>
              <a:gd name="T1" fmla="*/ 4071 h 8143"/>
              <a:gd name="T2" fmla="*/ 8141 w 8142"/>
              <a:gd name="T3" fmla="*/ 4071 h 8143"/>
              <a:gd name="T4" fmla="*/ 4070 w 8142"/>
              <a:gd name="T5" fmla="*/ 8142 h 8143"/>
              <a:gd name="T6" fmla="*/ 4070 w 8142"/>
              <a:gd name="T7" fmla="*/ 8142 h 8143"/>
              <a:gd name="T8" fmla="*/ 0 w 8142"/>
              <a:gd name="T9" fmla="*/ 4071 h 8143"/>
              <a:gd name="T10" fmla="*/ 0 w 8142"/>
              <a:gd name="T11" fmla="*/ 4071 h 8143"/>
              <a:gd name="T12" fmla="*/ 4070 w 8142"/>
              <a:gd name="T13" fmla="*/ 0 h 8143"/>
              <a:gd name="T14" fmla="*/ 4070 w 8142"/>
              <a:gd name="T15" fmla="*/ 0 h 8143"/>
              <a:gd name="T16" fmla="*/ 8141 w 8142"/>
              <a:gd name="T17" fmla="*/ 4071 h 8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42" h="8143">
                <a:moveTo>
                  <a:pt x="8141" y="4071"/>
                </a:moveTo>
                <a:lnTo>
                  <a:pt x="8141" y="4071"/>
                </a:lnTo>
                <a:cubicBezTo>
                  <a:pt x="8141" y="6319"/>
                  <a:pt x="6319" y="8142"/>
                  <a:pt x="4070" y="8142"/>
                </a:cubicBezTo>
                <a:lnTo>
                  <a:pt x="4070" y="8142"/>
                </a:lnTo>
                <a:cubicBezTo>
                  <a:pt x="1822" y="8142"/>
                  <a:pt x="0" y="6319"/>
                  <a:pt x="0" y="4071"/>
                </a:cubicBezTo>
                <a:lnTo>
                  <a:pt x="0" y="4071"/>
                </a:lnTo>
                <a:cubicBezTo>
                  <a:pt x="0" y="1823"/>
                  <a:pt x="1822" y="0"/>
                  <a:pt x="4070" y="0"/>
                </a:cubicBezTo>
                <a:lnTo>
                  <a:pt x="4070" y="0"/>
                </a:lnTo>
                <a:cubicBezTo>
                  <a:pt x="6319" y="0"/>
                  <a:pt x="8141" y="1823"/>
                  <a:pt x="8141" y="4071"/>
                </a:cubicBezTo>
              </a:path>
            </a:pathLst>
          </a:custGeom>
          <a:solidFill>
            <a:schemeClr val="bg1"/>
          </a:solidFill>
          <a:ln w="18000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highlight>
                <a:srgbClr val="F2F2F2"/>
              </a:highlight>
            </a:endParaRP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B6E70FF9-ED1E-974B-9835-36FFFDA7F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5598" y="10473225"/>
            <a:ext cx="1914028" cy="1915064"/>
          </a:xfrm>
          <a:custGeom>
            <a:avLst/>
            <a:gdLst>
              <a:gd name="T0" fmla="*/ 8141 w 8142"/>
              <a:gd name="T1" fmla="*/ 4071 h 8143"/>
              <a:gd name="T2" fmla="*/ 8141 w 8142"/>
              <a:gd name="T3" fmla="*/ 4071 h 8143"/>
              <a:gd name="T4" fmla="*/ 4070 w 8142"/>
              <a:gd name="T5" fmla="*/ 8142 h 8143"/>
              <a:gd name="T6" fmla="*/ 4070 w 8142"/>
              <a:gd name="T7" fmla="*/ 8142 h 8143"/>
              <a:gd name="T8" fmla="*/ 0 w 8142"/>
              <a:gd name="T9" fmla="*/ 4071 h 8143"/>
              <a:gd name="T10" fmla="*/ 0 w 8142"/>
              <a:gd name="T11" fmla="*/ 4071 h 8143"/>
              <a:gd name="T12" fmla="*/ 4070 w 8142"/>
              <a:gd name="T13" fmla="*/ 0 h 8143"/>
              <a:gd name="T14" fmla="*/ 4070 w 8142"/>
              <a:gd name="T15" fmla="*/ 0 h 8143"/>
              <a:gd name="T16" fmla="*/ 8141 w 8142"/>
              <a:gd name="T17" fmla="*/ 4071 h 8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42" h="8143">
                <a:moveTo>
                  <a:pt x="8141" y="4071"/>
                </a:moveTo>
                <a:lnTo>
                  <a:pt x="8141" y="4071"/>
                </a:lnTo>
                <a:cubicBezTo>
                  <a:pt x="8141" y="6319"/>
                  <a:pt x="6319" y="8142"/>
                  <a:pt x="4070" y="8142"/>
                </a:cubicBezTo>
                <a:lnTo>
                  <a:pt x="4070" y="8142"/>
                </a:lnTo>
                <a:cubicBezTo>
                  <a:pt x="1822" y="8142"/>
                  <a:pt x="0" y="6319"/>
                  <a:pt x="0" y="4071"/>
                </a:cubicBezTo>
                <a:lnTo>
                  <a:pt x="0" y="4071"/>
                </a:lnTo>
                <a:cubicBezTo>
                  <a:pt x="0" y="1823"/>
                  <a:pt x="1822" y="0"/>
                  <a:pt x="4070" y="0"/>
                </a:cubicBezTo>
                <a:lnTo>
                  <a:pt x="4070" y="0"/>
                </a:lnTo>
                <a:cubicBezTo>
                  <a:pt x="6319" y="0"/>
                  <a:pt x="8141" y="1823"/>
                  <a:pt x="8141" y="4071"/>
                </a:cubicBezTo>
              </a:path>
            </a:pathLst>
          </a:custGeom>
          <a:solidFill>
            <a:schemeClr val="bg1"/>
          </a:solidFill>
          <a:ln w="18000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highlight>
                <a:srgbClr val="F2F2F2"/>
              </a:highlight>
            </a:endParaRP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CB75B4DB-9B90-D5F1-C9AA-D9FE4ECB5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3494" y="7423901"/>
            <a:ext cx="1914028" cy="1915064"/>
          </a:xfrm>
          <a:custGeom>
            <a:avLst/>
            <a:gdLst>
              <a:gd name="T0" fmla="*/ 8141 w 8142"/>
              <a:gd name="T1" fmla="*/ 4071 h 8143"/>
              <a:gd name="T2" fmla="*/ 8141 w 8142"/>
              <a:gd name="T3" fmla="*/ 4071 h 8143"/>
              <a:gd name="T4" fmla="*/ 4070 w 8142"/>
              <a:gd name="T5" fmla="*/ 8142 h 8143"/>
              <a:gd name="T6" fmla="*/ 4070 w 8142"/>
              <a:gd name="T7" fmla="*/ 8142 h 8143"/>
              <a:gd name="T8" fmla="*/ 0 w 8142"/>
              <a:gd name="T9" fmla="*/ 4071 h 8143"/>
              <a:gd name="T10" fmla="*/ 0 w 8142"/>
              <a:gd name="T11" fmla="*/ 4071 h 8143"/>
              <a:gd name="T12" fmla="*/ 4070 w 8142"/>
              <a:gd name="T13" fmla="*/ 0 h 8143"/>
              <a:gd name="T14" fmla="*/ 4070 w 8142"/>
              <a:gd name="T15" fmla="*/ 0 h 8143"/>
              <a:gd name="T16" fmla="*/ 8141 w 8142"/>
              <a:gd name="T17" fmla="*/ 4071 h 8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42" h="8143">
                <a:moveTo>
                  <a:pt x="8141" y="4071"/>
                </a:moveTo>
                <a:lnTo>
                  <a:pt x="8141" y="4071"/>
                </a:lnTo>
                <a:cubicBezTo>
                  <a:pt x="8141" y="6319"/>
                  <a:pt x="6319" y="8142"/>
                  <a:pt x="4070" y="8142"/>
                </a:cubicBezTo>
                <a:lnTo>
                  <a:pt x="4070" y="8142"/>
                </a:lnTo>
                <a:cubicBezTo>
                  <a:pt x="1822" y="8142"/>
                  <a:pt x="0" y="6319"/>
                  <a:pt x="0" y="4071"/>
                </a:cubicBezTo>
                <a:lnTo>
                  <a:pt x="0" y="4071"/>
                </a:lnTo>
                <a:cubicBezTo>
                  <a:pt x="0" y="1823"/>
                  <a:pt x="1822" y="0"/>
                  <a:pt x="4070" y="0"/>
                </a:cubicBezTo>
                <a:lnTo>
                  <a:pt x="4070" y="0"/>
                </a:lnTo>
                <a:cubicBezTo>
                  <a:pt x="6319" y="0"/>
                  <a:pt x="8141" y="1823"/>
                  <a:pt x="8141" y="4071"/>
                </a:cubicBezTo>
              </a:path>
            </a:pathLst>
          </a:custGeom>
          <a:solidFill>
            <a:schemeClr val="bg1"/>
          </a:solidFill>
          <a:ln w="18000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highlight>
                <a:srgbClr val="F2F2F2"/>
              </a:highlight>
            </a:endParaRP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E6D2CBFD-69A0-65EE-A573-54E34A3B5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0082" y="4147116"/>
            <a:ext cx="1914028" cy="1915064"/>
          </a:xfrm>
          <a:custGeom>
            <a:avLst/>
            <a:gdLst>
              <a:gd name="T0" fmla="*/ 8141 w 8142"/>
              <a:gd name="T1" fmla="*/ 4071 h 8143"/>
              <a:gd name="T2" fmla="*/ 8141 w 8142"/>
              <a:gd name="T3" fmla="*/ 4071 h 8143"/>
              <a:gd name="T4" fmla="*/ 4070 w 8142"/>
              <a:gd name="T5" fmla="*/ 8142 h 8143"/>
              <a:gd name="T6" fmla="*/ 4070 w 8142"/>
              <a:gd name="T7" fmla="*/ 8142 h 8143"/>
              <a:gd name="T8" fmla="*/ 0 w 8142"/>
              <a:gd name="T9" fmla="*/ 4071 h 8143"/>
              <a:gd name="T10" fmla="*/ 0 w 8142"/>
              <a:gd name="T11" fmla="*/ 4071 h 8143"/>
              <a:gd name="T12" fmla="*/ 4070 w 8142"/>
              <a:gd name="T13" fmla="*/ 0 h 8143"/>
              <a:gd name="T14" fmla="*/ 4070 w 8142"/>
              <a:gd name="T15" fmla="*/ 0 h 8143"/>
              <a:gd name="T16" fmla="*/ 8141 w 8142"/>
              <a:gd name="T17" fmla="*/ 4071 h 8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42" h="8143">
                <a:moveTo>
                  <a:pt x="8141" y="4071"/>
                </a:moveTo>
                <a:lnTo>
                  <a:pt x="8141" y="4071"/>
                </a:lnTo>
                <a:cubicBezTo>
                  <a:pt x="8141" y="6319"/>
                  <a:pt x="6319" y="8142"/>
                  <a:pt x="4070" y="8142"/>
                </a:cubicBezTo>
                <a:lnTo>
                  <a:pt x="4070" y="8142"/>
                </a:lnTo>
                <a:cubicBezTo>
                  <a:pt x="1822" y="8142"/>
                  <a:pt x="0" y="6319"/>
                  <a:pt x="0" y="4071"/>
                </a:cubicBezTo>
                <a:lnTo>
                  <a:pt x="0" y="4071"/>
                </a:lnTo>
                <a:cubicBezTo>
                  <a:pt x="0" y="1823"/>
                  <a:pt x="1822" y="0"/>
                  <a:pt x="4070" y="0"/>
                </a:cubicBezTo>
                <a:lnTo>
                  <a:pt x="4070" y="0"/>
                </a:lnTo>
                <a:cubicBezTo>
                  <a:pt x="6319" y="0"/>
                  <a:pt x="8141" y="1823"/>
                  <a:pt x="8141" y="4071"/>
                </a:cubicBezTo>
              </a:path>
            </a:pathLst>
          </a:custGeom>
          <a:solidFill>
            <a:schemeClr val="bg1"/>
          </a:solidFill>
          <a:ln w="18000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highlight>
                <a:srgbClr val="F2F2F2"/>
              </a:highlight>
            </a:endParaRPr>
          </a:p>
        </p:txBody>
      </p:sp>
      <p:sp>
        <p:nvSpPr>
          <p:cNvPr id="29" name="Freeform 2">
            <a:extLst>
              <a:ext uri="{FF2B5EF4-FFF2-40B4-BE49-F238E27FC236}">
                <a16:creationId xmlns:a16="http://schemas.microsoft.com/office/drawing/2014/main" id="{64E92F29-86E5-444E-9778-826DA9FAA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566059" y="-1023709"/>
            <a:ext cx="15754884" cy="15763418"/>
          </a:xfrm>
          <a:custGeom>
            <a:avLst/>
            <a:gdLst>
              <a:gd name="T0" fmla="*/ 8141 w 8142"/>
              <a:gd name="T1" fmla="*/ 4071 h 8143"/>
              <a:gd name="T2" fmla="*/ 8141 w 8142"/>
              <a:gd name="T3" fmla="*/ 4071 h 8143"/>
              <a:gd name="T4" fmla="*/ 4070 w 8142"/>
              <a:gd name="T5" fmla="*/ 8142 h 8143"/>
              <a:gd name="T6" fmla="*/ 4070 w 8142"/>
              <a:gd name="T7" fmla="*/ 8142 h 8143"/>
              <a:gd name="T8" fmla="*/ 0 w 8142"/>
              <a:gd name="T9" fmla="*/ 4071 h 8143"/>
              <a:gd name="T10" fmla="*/ 0 w 8142"/>
              <a:gd name="T11" fmla="*/ 4071 h 8143"/>
              <a:gd name="T12" fmla="*/ 4070 w 8142"/>
              <a:gd name="T13" fmla="*/ 0 h 8143"/>
              <a:gd name="T14" fmla="*/ 4070 w 8142"/>
              <a:gd name="T15" fmla="*/ 0 h 8143"/>
              <a:gd name="T16" fmla="*/ 8141 w 8142"/>
              <a:gd name="T17" fmla="*/ 4071 h 8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42" h="8143">
                <a:moveTo>
                  <a:pt x="8141" y="4071"/>
                </a:moveTo>
                <a:lnTo>
                  <a:pt x="8141" y="4071"/>
                </a:lnTo>
                <a:cubicBezTo>
                  <a:pt x="8141" y="6319"/>
                  <a:pt x="6319" y="8142"/>
                  <a:pt x="4070" y="8142"/>
                </a:cubicBezTo>
                <a:lnTo>
                  <a:pt x="4070" y="8142"/>
                </a:lnTo>
                <a:cubicBezTo>
                  <a:pt x="1822" y="8142"/>
                  <a:pt x="0" y="6319"/>
                  <a:pt x="0" y="4071"/>
                </a:cubicBezTo>
                <a:lnTo>
                  <a:pt x="0" y="4071"/>
                </a:lnTo>
                <a:cubicBezTo>
                  <a:pt x="0" y="1823"/>
                  <a:pt x="1822" y="0"/>
                  <a:pt x="4070" y="0"/>
                </a:cubicBezTo>
                <a:lnTo>
                  <a:pt x="4070" y="0"/>
                </a:lnTo>
                <a:cubicBezTo>
                  <a:pt x="6319" y="0"/>
                  <a:pt x="8141" y="1823"/>
                  <a:pt x="8141" y="4071"/>
                </a:cubicBezTo>
              </a:path>
            </a:pathLst>
          </a:custGeom>
          <a:gradFill>
            <a:gsLst>
              <a:gs pos="0">
                <a:schemeClr val="accent1"/>
              </a:gs>
              <a:gs pos="71000">
                <a:schemeClr val="accent3"/>
              </a:gs>
            </a:gsLst>
            <a:lin ang="3000000" scaled="0"/>
          </a:gradFill>
          <a:ln w="18000" cap="flat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458DA5-AF6F-9D4C-97B0-4A5C9B24FEBA}"/>
              </a:ext>
            </a:extLst>
          </p:cNvPr>
          <p:cNvSpPr txBox="1"/>
          <p:nvPr/>
        </p:nvSpPr>
        <p:spPr>
          <a:xfrm>
            <a:off x="5096652" y="5671778"/>
            <a:ext cx="7242517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spc="300" dirty="0">
                <a:latin typeface="Montserrat Medium" pitchFamily="2" charset="77"/>
                <a:ea typeface="Roboto" panose="02000000000000000000" pitchFamily="2" charset="0"/>
                <a:cs typeface="Poppins Medium" pitchFamily="2" charset="77"/>
              </a:rPr>
              <a:t>Relationship Between Them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CC4B6-80DC-CA41-A56B-E34250A60EC3}"/>
              </a:ext>
            </a:extLst>
          </p:cNvPr>
          <p:cNvSpPr txBox="1"/>
          <p:nvPr/>
        </p:nvSpPr>
        <p:spPr>
          <a:xfrm>
            <a:off x="11880508" y="1660660"/>
            <a:ext cx="8143255" cy="618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80"/>
              </a:lnSpc>
            </a:pPr>
            <a:r>
              <a:rPr lang="en-GB" sz="40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Data Source provides raw data</a:t>
            </a:r>
            <a:endParaRPr lang="en-US" sz="40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5A2BFC-6DB8-734A-88AE-8D968F5A006E}"/>
              </a:ext>
            </a:extLst>
          </p:cNvPr>
          <p:cNvSpPr txBox="1"/>
          <p:nvPr/>
        </p:nvSpPr>
        <p:spPr>
          <a:xfrm>
            <a:off x="13579394" y="4646796"/>
            <a:ext cx="8143255" cy="618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80"/>
              </a:lnSpc>
            </a:pPr>
            <a:r>
              <a:rPr lang="en-US" sz="40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Dimensions categorize &amp; filter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470AA2-98C6-844C-93D3-E31903EB1B6C}"/>
              </a:ext>
            </a:extLst>
          </p:cNvPr>
          <p:cNvSpPr txBox="1"/>
          <p:nvPr/>
        </p:nvSpPr>
        <p:spPr>
          <a:xfrm>
            <a:off x="13855439" y="8116295"/>
            <a:ext cx="11647857" cy="618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80"/>
              </a:lnSpc>
            </a:pPr>
            <a:r>
              <a:rPr lang="en-US" sz="40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Measures calculate metrics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9BF169-D152-32AD-5CBF-3ED24CB2AB19}"/>
              </a:ext>
            </a:extLst>
          </p:cNvPr>
          <p:cNvSpPr txBox="1"/>
          <p:nvPr/>
        </p:nvSpPr>
        <p:spPr>
          <a:xfrm>
            <a:off x="11880508" y="11478217"/>
            <a:ext cx="12187607" cy="1143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80"/>
              </a:lnSpc>
            </a:pPr>
            <a:r>
              <a:rPr lang="en-GB" sz="40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Together they create meaningful </a:t>
            </a:r>
          </a:p>
          <a:p>
            <a:pPr>
              <a:lnSpc>
                <a:spcPts val="4080"/>
              </a:lnSpc>
            </a:pPr>
            <a:r>
              <a:rPr lang="en-GB" sz="40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rPr>
              <a:t>visualizations</a:t>
            </a:r>
            <a:endParaRPr lang="en-US" sz="4000" dirty="0">
              <a:latin typeface="Montserrat Light" pitchFamily="2" charset="77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840A36-DDF2-9879-0725-292702290B07}"/>
              </a:ext>
            </a:extLst>
          </p:cNvPr>
          <p:cNvSpPr txBox="1"/>
          <p:nvPr/>
        </p:nvSpPr>
        <p:spPr>
          <a:xfrm>
            <a:off x="21722649" y="13096764"/>
            <a:ext cx="2655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Shravani Bhosale</a:t>
            </a:r>
          </a:p>
        </p:txBody>
      </p:sp>
    </p:spTree>
    <p:extLst>
      <p:ext uri="{BB962C8B-B14F-4D97-AF65-F5344CB8AC3E}">
        <p14:creationId xmlns:p14="http://schemas.microsoft.com/office/powerpoint/2010/main" val="1682634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B8406C-2238-83D7-B7FC-8300AF58CF7D}"/>
              </a:ext>
            </a:extLst>
          </p:cNvPr>
          <p:cNvSpPr/>
          <p:nvPr/>
        </p:nvSpPr>
        <p:spPr>
          <a:xfrm rot="10800000" flipV="1">
            <a:off x="3935658" y="0"/>
            <a:ext cx="6094413" cy="13715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133785E-0B00-E64A-9AC0-44059588742B}"/>
              </a:ext>
            </a:extLst>
          </p:cNvPr>
          <p:cNvSpPr txBox="1"/>
          <p:nvPr/>
        </p:nvSpPr>
        <p:spPr>
          <a:xfrm>
            <a:off x="7017860" y="1018884"/>
            <a:ext cx="1087755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spc="300" dirty="0">
                <a:solidFill>
                  <a:schemeClr val="tx2"/>
                </a:solidFill>
                <a:latin typeface="Montserrat Medium" pitchFamily="2" charset="77"/>
                <a:ea typeface="Roboto" panose="02000000000000000000" pitchFamily="2" charset="0"/>
                <a:cs typeface="Poppins Medium" pitchFamily="2" charset="77"/>
              </a:rPr>
              <a:t>Uses Cases / Examples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8F4C7CA-CF6F-8344-9FD1-79518CF5FE59}"/>
              </a:ext>
            </a:extLst>
          </p:cNvPr>
          <p:cNvGrpSpPr/>
          <p:nvPr/>
        </p:nvGrpSpPr>
        <p:grpSpPr>
          <a:xfrm>
            <a:off x="11119886" y="3816467"/>
            <a:ext cx="8027071" cy="1101199"/>
            <a:chOff x="1861626" y="7898166"/>
            <a:chExt cx="8027071" cy="1101199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B48C8B9-2703-C14E-B6C1-41B3422C8F09}"/>
                </a:ext>
              </a:extLst>
            </p:cNvPr>
            <p:cNvSpPr/>
            <p:nvPr/>
          </p:nvSpPr>
          <p:spPr>
            <a:xfrm>
              <a:off x="1861626" y="8276354"/>
              <a:ext cx="344824" cy="3448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FC26FC9-80CB-8A4B-A63E-405346B32644}"/>
                </a:ext>
              </a:extLst>
            </p:cNvPr>
            <p:cNvSpPr txBox="1"/>
            <p:nvPr/>
          </p:nvSpPr>
          <p:spPr>
            <a:xfrm>
              <a:off x="2531017" y="7898166"/>
              <a:ext cx="7357680" cy="1101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080"/>
                </a:lnSpc>
              </a:pPr>
              <a:r>
                <a:rPr lang="en-GB" sz="2800" dirty="0">
                  <a:latin typeface="Montserrat Light" pitchFamily="2" charset="77"/>
                  <a:ea typeface="Lato Light" panose="020F0502020204030203" pitchFamily="34" charset="0"/>
                  <a:cs typeface="Lato Light" panose="020F0502020204030203" pitchFamily="34" charset="0"/>
                </a:rPr>
                <a:t>Retail: Region (Dimension) + Sales (Measure)</a:t>
              </a:r>
              <a:endParaRPr lang="en-US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4B2C646-CCD7-8A47-B9F2-FC4800AA9EA1}"/>
              </a:ext>
            </a:extLst>
          </p:cNvPr>
          <p:cNvGrpSpPr/>
          <p:nvPr/>
        </p:nvGrpSpPr>
        <p:grpSpPr>
          <a:xfrm>
            <a:off x="11119886" y="5766440"/>
            <a:ext cx="9000320" cy="1622624"/>
            <a:chOff x="1861626" y="7898166"/>
            <a:chExt cx="8027071" cy="162262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07722A9-04F4-8046-A250-F1A51C2617AB}"/>
                </a:ext>
              </a:extLst>
            </p:cNvPr>
            <p:cNvSpPr/>
            <p:nvPr/>
          </p:nvSpPr>
          <p:spPr>
            <a:xfrm>
              <a:off x="1861626" y="8276354"/>
              <a:ext cx="344824" cy="3448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312C791-65F9-734E-A345-AA21C695842B}"/>
                </a:ext>
              </a:extLst>
            </p:cNvPr>
            <p:cNvSpPr txBox="1"/>
            <p:nvPr/>
          </p:nvSpPr>
          <p:spPr>
            <a:xfrm>
              <a:off x="2531017" y="7898166"/>
              <a:ext cx="7357680" cy="1622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080"/>
                </a:lnSpc>
              </a:pPr>
              <a:r>
                <a:rPr lang="en-GB" sz="2800" dirty="0">
                  <a:latin typeface="Montserrat Light" pitchFamily="2" charset="77"/>
                  <a:ea typeface="Lato Light" panose="020F0502020204030203" pitchFamily="34" charset="0"/>
                  <a:cs typeface="Lato Light" panose="020F0502020204030203" pitchFamily="34" charset="0"/>
                </a:rPr>
                <a:t>Healthcare: Patient Age Group (Dimension) + Average Recovery Time (Measure)</a:t>
              </a:r>
              <a:endParaRPr lang="en-US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93A4EEF-15B3-E540-B302-ED36280C6C3F}"/>
              </a:ext>
            </a:extLst>
          </p:cNvPr>
          <p:cNvGrpSpPr/>
          <p:nvPr/>
        </p:nvGrpSpPr>
        <p:grpSpPr>
          <a:xfrm>
            <a:off x="11239715" y="9624722"/>
            <a:ext cx="8027071" cy="1101199"/>
            <a:chOff x="1861626" y="7898166"/>
            <a:chExt cx="8027071" cy="1101199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7203270-596C-6D44-8D2C-553B54D3A4A5}"/>
                </a:ext>
              </a:extLst>
            </p:cNvPr>
            <p:cNvSpPr/>
            <p:nvPr/>
          </p:nvSpPr>
          <p:spPr>
            <a:xfrm>
              <a:off x="1861626" y="8276354"/>
              <a:ext cx="344824" cy="34482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5C5029B-95F6-C744-8F18-901A24530531}"/>
                </a:ext>
              </a:extLst>
            </p:cNvPr>
            <p:cNvSpPr txBox="1"/>
            <p:nvPr/>
          </p:nvSpPr>
          <p:spPr>
            <a:xfrm>
              <a:off x="2531017" y="7898166"/>
              <a:ext cx="7357680" cy="1101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080"/>
                </a:lnSpc>
              </a:pPr>
              <a:r>
                <a:rPr lang="en-GB" sz="2800" dirty="0">
                  <a:latin typeface="Montserrat Light" pitchFamily="2" charset="77"/>
                  <a:ea typeface="Lato Light" panose="020F0502020204030203" pitchFamily="34" charset="0"/>
                  <a:cs typeface="Lato Light" panose="020F0502020204030203" pitchFamily="34" charset="0"/>
                </a:rPr>
                <a:t>Education: Course Name (Dimension) + Number of Enrolments (Measure).</a:t>
              </a:r>
              <a:endParaRPr lang="en-US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B679939-D17F-3E0D-E051-CBFC47CFCA9E}"/>
              </a:ext>
            </a:extLst>
          </p:cNvPr>
          <p:cNvGrpSpPr/>
          <p:nvPr/>
        </p:nvGrpSpPr>
        <p:grpSpPr>
          <a:xfrm>
            <a:off x="11239715" y="7674749"/>
            <a:ext cx="8249768" cy="1101199"/>
            <a:chOff x="1861626" y="7898166"/>
            <a:chExt cx="8027071" cy="11011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529B1C7-1DC3-5CA8-53D9-DA7BD9211891}"/>
                </a:ext>
              </a:extLst>
            </p:cNvPr>
            <p:cNvSpPr/>
            <p:nvPr/>
          </p:nvSpPr>
          <p:spPr>
            <a:xfrm>
              <a:off x="1861626" y="8276354"/>
              <a:ext cx="344824" cy="3448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B71C93-7E3D-537D-B4F3-322CE32C4BD2}"/>
                </a:ext>
              </a:extLst>
            </p:cNvPr>
            <p:cNvSpPr txBox="1"/>
            <p:nvPr/>
          </p:nvSpPr>
          <p:spPr>
            <a:xfrm>
              <a:off x="2531017" y="7898166"/>
              <a:ext cx="7357680" cy="1101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080"/>
                </a:lnSpc>
              </a:pPr>
              <a:r>
                <a:rPr lang="en-GB" sz="2800" dirty="0">
                  <a:latin typeface="Montserrat Light" pitchFamily="2" charset="77"/>
                  <a:ea typeface="Lato Light" panose="020F0502020204030203" pitchFamily="34" charset="0"/>
                  <a:cs typeface="Lato Light" panose="020F0502020204030203" pitchFamily="34" charset="0"/>
                </a:rPr>
                <a:t>Finance: Account Type (Dimension) + Total Transactions (Measure).</a:t>
              </a:r>
              <a:endParaRPr lang="en-US" sz="2800" dirty="0">
                <a:latin typeface="Montserrat Light" pitchFamily="2" charset="77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7" name="Freeform 40">
            <a:extLst>
              <a:ext uri="{FF2B5EF4-FFF2-40B4-BE49-F238E27FC236}">
                <a16:creationId xmlns:a16="http://schemas.microsoft.com/office/drawing/2014/main" id="{81F9F992-19B5-412F-6E0B-4BA5EC72FF4D}"/>
              </a:ext>
            </a:extLst>
          </p:cNvPr>
          <p:cNvSpPr/>
          <p:nvPr/>
        </p:nvSpPr>
        <p:spPr>
          <a:xfrm>
            <a:off x="5380340" y="3339115"/>
            <a:ext cx="2956830" cy="205590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6" h="964">
                <a:moveTo>
                  <a:pt x="1051" y="523"/>
                </a:moveTo>
                <a:cubicBezTo>
                  <a:pt x="1046" y="533"/>
                  <a:pt x="1040" y="542"/>
                  <a:pt x="1034" y="551"/>
                </a:cubicBezTo>
                <a:cubicBezTo>
                  <a:pt x="1032" y="553"/>
                  <a:pt x="1026" y="558"/>
                  <a:pt x="1020" y="563"/>
                </a:cubicBezTo>
                <a:lnTo>
                  <a:pt x="917" y="480"/>
                </a:lnTo>
                <a:lnTo>
                  <a:pt x="917" y="479"/>
                </a:lnTo>
                <a:cubicBezTo>
                  <a:pt x="916" y="479"/>
                  <a:pt x="896" y="460"/>
                  <a:pt x="865" y="433"/>
                </a:cubicBezTo>
                <a:cubicBezTo>
                  <a:pt x="863" y="431"/>
                  <a:pt x="860" y="429"/>
                  <a:pt x="858" y="428"/>
                </a:cubicBezTo>
                <a:cubicBezTo>
                  <a:pt x="852" y="419"/>
                  <a:pt x="842" y="413"/>
                  <a:pt x="831" y="415"/>
                </a:cubicBezTo>
                <a:cubicBezTo>
                  <a:pt x="813" y="416"/>
                  <a:pt x="796" y="411"/>
                  <a:pt x="783" y="401"/>
                </a:cubicBezTo>
                <a:cubicBezTo>
                  <a:pt x="769" y="390"/>
                  <a:pt x="760" y="374"/>
                  <a:pt x="758" y="357"/>
                </a:cubicBezTo>
                <a:cubicBezTo>
                  <a:pt x="757" y="342"/>
                  <a:pt x="743" y="331"/>
                  <a:pt x="728" y="332"/>
                </a:cubicBezTo>
                <a:lnTo>
                  <a:pt x="608" y="345"/>
                </a:lnTo>
                <a:cubicBezTo>
                  <a:pt x="602" y="346"/>
                  <a:pt x="597" y="348"/>
                  <a:pt x="593" y="352"/>
                </a:cubicBezTo>
                <a:cubicBezTo>
                  <a:pt x="587" y="357"/>
                  <a:pt x="583" y="365"/>
                  <a:pt x="583" y="373"/>
                </a:cubicBezTo>
                <a:cubicBezTo>
                  <a:pt x="583" y="374"/>
                  <a:pt x="583" y="375"/>
                  <a:pt x="583" y="376"/>
                </a:cubicBezTo>
                <a:cubicBezTo>
                  <a:pt x="584" y="383"/>
                  <a:pt x="581" y="405"/>
                  <a:pt x="569" y="435"/>
                </a:cubicBezTo>
                <a:cubicBezTo>
                  <a:pt x="558" y="465"/>
                  <a:pt x="546" y="482"/>
                  <a:pt x="540" y="486"/>
                </a:cubicBezTo>
                <a:cubicBezTo>
                  <a:pt x="538" y="487"/>
                  <a:pt x="530" y="490"/>
                  <a:pt x="518" y="488"/>
                </a:cubicBezTo>
                <a:cubicBezTo>
                  <a:pt x="508" y="486"/>
                  <a:pt x="502" y="483"/>
                  <a:pt x="499" y="481"/>
                </a:cubicBezTo>
                <a:lnTo>
                  <a:pt x="533" y="311"/>
                </a:lnTo>
                <a:lnTo>
                  <a:pt x="651" y="274"/>
                </a:lnTo>
                <a:cubicBezTo>
                  <a:pt x="653" y="274"/>
                  <a:pt x="655" y="273"/>
                  <a:pt x="656" y="272"/>
                </a:cubicBezTo>
                <a:lnTo>
                  <a:pt x="943" y="229"/>
                </a:lnTo>
                <a:lnTo>
                  <a:pt x="1109" y="445"/>
                </a:lnTo>
                <a:cubicBezTo>
                  <a:pt x="1081" y="473"/>
                  <a:pt x="1065" y="499"/>
                  <a:pt x="1051" y="523"/>
                </a:cubicBezTo>
                <a:close/>
                <a:moveTo>
                  <a:pt x="1073" y="709"/>
                </a:moveTo>
                <a:lnTo>
                  <a:pt x="1072" y="710"/>
                </a:lnTo>
                <a:cubicBezTo>
                  <a:pt x="1072" y="710"/>
                  <a:pt x="1072" y="711"/>
                  <a:pt x="1071" y="711"/>
                </a:cubicBezTo>
                <a:cubicBezTo>
                  <a:pt x="1063" y="721"/>
                  <a:pt x="1049" y="722"/>
                  <a:pt x="1039" y="714"/>
                </a:cubicBezTo>
                <a:lnTo>
                  <a:pt x="1010" y="691"/>
                </a:lnTo>
                <a:cubicBezTo>
                  <a:pt x="1010" y="690"/>
                  <a:pt x="1009" y="690"/>
                  <a:pt x="1009" y="689"/>
                </a:cubicBezTo>
                <a:lnTo>
                  <a:pt x="849" y="560"/>
                </a:lnTo>
                <a:cubicBezTo>
                  <a:pt x="837" y="551"/>
                  <a:pt x="820" y="553"/>
                  <a:pt x="810" y="565"/>
                </a:cubicBezTo>
                <a:cubicBezTo>
                  <a:pt x="805" y="571"/>
                  <a:pt x="803" y="578"/>
                  <a:pt x="804" y="585"/>
                </a:cubicBezTo>
                <a:cubicBezTo>
                  <a:pt x="805" y="593"/>
                  <a:pt x="808" y="599"/>
                  <a:pt x="814" y="604"/>
                </a:cubicBezTo>
                <a:lnTo>
                  <a:pt x="975" y="733"/>
                </a:lnTo>
                <a:cubicBezTo>
                  <a:pt x="986" y="743"/>
                  <a:pt x="988" y="761"/>
                  <a:pt x="979" y="773"/>
                </a:cubicBezTo>
                <a:lnTo>
                  <a:pt x="978" y="774"/>
                </a:lnTo>
                <a:cubicBezTo>
                  <a:pt x="971" y="783"/>
                  <a:pt x="957" y="784"/>
                  <a:pt x="949" y="777"/>
                </a:cubicBezTo>
                <a:lnTo>
                  <a:pt x="783" y="643"/>
                </a:lnTo>
                <a:cubicBezTo>
                  <a:pt x="771" y="634"/>
                  <a:pt x="753" y="635"/>
                  <a:pt x="744" y="647"/>
                </a:cubicBezTo>
                <a:cubicBezTo>
                  <a:pt x="739" y="653"/>
                  <a:pt x="737" y="661"/>
                  <a:pt x="738" y="668"/>
                </a:cubicBezTo>
                <a:cubicBezTo>
                  <a:pt x="739" y="675"/>
                  <a:pt x="742" y="682"/>
                  <a:pt x="748" y="687"/>
                </a:cubicBezTo>
                <a:lnTo>
                  <a:pt x="877" y="790"/>
                </a:lnTo>
                <a:cubicBezTo>
                  <a:pt x="889" y="800"/>
                  <a:pt x="891" y="817"/>
                  <a:pt x="883" y="829"/>
                </a:cubicBezTo>
                <a:cubicBezTo>
                  <a:pt x="882" y="829"/>
                  <a:pt x="882" y="830"/>
                  <a:pt x="882" y="830"/>
                </a:cubicBezTo>
                <a:cubicBezTo>
                  <a:pt x="881" y="830"/>
                  <a:pt x="881" y="831"/>
                  <a:pt x="880" y="831"/>
                </a:cubicBezTo>
                <a:cubicBezTo>
                  <a:pt x="873" y="840"/>
                  <a:pt x="859" y="841"/>
                  <a:pt x="850" y="834"/>
                </a:cubicBezTo>
                <a:lnTo>
                  <a:pt x="716" y="726"/>
                </a:lnTo>
                <a:cubicBezTo>
                  <a:pt x="707" y="719"/>
                  <a:pt x="695" y="718"/>
                  <a:pt x="686" y="724"/>
                </a:cubicBezTo>
                <a:cubicBezTo>
                  <a:pt x="682" y="725"/>
                  <a:pt x="679" y="728"/>
                  <a:pt x="677" y="731"/>
                </a:cubicBezTo>
                <a:cubicBezTo>
                  <a:pt x="667" y="743"/>
                  <a:pt x="669" y="760"/>
                  <a:pt x="681" y="770"/>
                </a:cubicBezTo>
                <a:lnTo>
                  <a:pt x="774" y="843"/>
                </a:lnTo>
                <a:cubicBezTo>
                  <a:pt x="780" y="848"/>
                  <a:pt x="784" y="855"/>
                  <a:pt x="785" y="862"/>
                </a:cubicBezTo>
                <a:cubicBezTo>
                  <a:pt x="788" y="875"/>
                  <a:pt x="784" y="881"/>
                  <a:pt x="781" y="885"/>
                </a:cubicBezTo>
                <a:cubicBezTo>
                  <a:pt x="776" y="891"/>
                  <a:pt x="771" y="893"/>
                  <a:pt x="764" y="893"/>
                </a:cubicBezTo>
                <a:cubicBezTo>
                  <a:pt x="758" y="893"/>
                  <a:pt x="751" y="890"/>
                  <a:pt x="745" y="886"/>
                </a:cubicBezTo>
                <a:lnTo>
                  <a:pt x="684" y="837"/>
                </a:lnTo>
                <a:cubicBezTo>
                  <a:pt x="681" y="818"/>
                  <a:pt x="671" y="800"/>
                  <a:pt x="655" y="786"/>
                </a:cubicBezTo>
                <a:cubicBezTo>
                  <a:pt x="648" y="781"/>
                  <a:pt x="640" y="777"/>
                  <a:pt x="632" y="774"/>
                </a:cubicBezTo>
                <a:lnTo>
                  <a:pt x="643" y="760"/>
                </a:lnTo>
                <a:cubicBezTo>
                  <a:pt x="671" y="726"/>
                  <a:pt x="665" y="675"/>
                  <a:pt x="630" y="647"/>
                </a:cubicBezTo>
                <a:cubicBezTo>
                  <a:pt x="597" y="620"/>
                  <a:pt x="548" y="624"/>
                  <a:pt x="520" y="656"/>
                </a:cubicBezTo>
                <a:cubicBezTo>
                  <a:pt x="515" y="649"/>
                  <a:pt x="509" y="642"/>
                  <a:pt x="502" y="636"/>
                </a:cubicBezTo>
                <a:cubicBezTo>
                  <a:pt x="476" y="615"/>
                  <a:pt x="441" y="613"/>
                  <a:pt x="413" y="629"/>
                </a:cubicBezTo>
                <a:cubicBezTo>
                  <a:pt x="408" y="619"/>
                  <a:pt x="401" y="610"/>
                  <a:pt x="392" y="603"/>
                </a:cubicBezTo>
                <a:cubicBezTo>
                  <a:pt x="385" y="597"/>
                  <a:pt x="377" y="593"/>
                  <a:pt x="369" y="590"/>
                </a:cubicBezTo>
                <a:cubicBezTo>
                  <a:pt x="367" y="586"/>
                  <a:pt x="363" y="582"/>
                  <a:pt x="359" y="579"/>
                </a:cubicBezTo>
                <a:cubicBezTo>
                  <a:pt x="349" y="572"/>
                  <a:pt x="337" y="563"/>
                  <a:pt x="334" y="560"/>
                </a:cubicBezTo>
                <a:cubicBezTo>
                  <a:pt x="327" y="550"/>
                  <a:pt x="322" y="541"/>
                  <a:pt x="316" y="531"/>
                </a:cubicBezTo>
                <a:cubicBezTo>
                  <a:pt x="302" y="507"/>
                  <a:pt x="286" y="481"/>
                  <a:pt x="258" y="453"/>
                </a:cubicBezTo>
                <a:lnTo>
                  <a:pt x="426" y="243"/>
                </a:lnTo>
                <a:cubicBezTo>
                  <a:pt x="430" y="243"/>
                  <a:pt x="434" y="243"/>
                  <a:pt x="437" y="244"/>
                </a:cubicBezTo>
                <a:cubicBezTo>
                  <a:pt x="463" y="246"/>
                  <a:pt x="498" y="250"/>
                  <a:pt x="531" y="254"/>
                </a:cubicBezTo>
                <a:lnTo>
                  <a:pt x="501" y="264"/>
                </a:lnTo>
                <a:cubicBezTo>
                  <a:pt x="492" y="267"/>
                  <a:pt x="485" y="275"/>
                  <a:pt x="483" y="284"/>
                </a:cubicBezTo>
                <a:lnTo>
                  <a:pt x="443" y="476"/>
                </a:lnTo>
                <a:cubicBezTo>
                  <a:pt x="443" y="478"/>
                  <a:pt x="443" y="480"/>
                  <a:pt x="443" y="482"/>
                </a:cubicBezTo>
                <a:cubicBezTo>
                  <a:pt x="443" y="503"/>
                  <a:pt x="456" y="521"/>
                  <a:pt x="478" y="532"/>
                </a:cubicBezTo>
                <a:cubicBezTo>
                  <a:pt x="492" y="539"/>
                  <a:pt x="510" y="544"/>
                  <a:pt x="527" y="544"/>
                </a:cubicBezTo>
                <a:cubicBezTo>
                  <a:pt x="544" y="544"/>
                  <a:pt x="561" y="540"/>
                  <a:pt x="573" y="530"/>
                </a:cubicBezTo>
                <a:cubicBezTo>
                  <a:pt x="596" y="514"/>
                  <a:pt x="613" y="476"/>
                  <a:pt x="621" y="455"/>
                </a:cubicBezTo>
                <a:cubicBezTo>
                  <a:pt x="624" y="446"/>
                  <a:pt x="633" y="421"/>
                  <a:pt x="637" y="398"/>
                </a:cubicBezTo>
                <a:lnTo>
                  <a:pt x="710" y="390"/>
                </a:lnTo>
                <a:cubicBezTo>
                  <a:pt x="717" y="411"/>
                  <a:pt x="730" y="429"/>
                  <a:pt x="748" y="444"/>
                </a:cubicBezTo>
                <a:cubicBezTo>
                  <a:pt x="770" y="461"/>
                  <a:pt x="796" y="470"/>
                  <a:pt x="823" y="470"/>
                </a:cubicBezTo>
                <a:cubicBezTo>
                  <a:pt x="824" y="470"/>
                  <a:pt x="824" y="470"/>
                  <a:pt x="825" y="470"/>
                </a:cubicBezTo>
                <a:cubicBezTo>
                  <a:pt x="826" y="472"/>
                  <a:pt x="827" y="473"/>
                  <a:pt x="829" y="474"/>
                </a:cubicBezTo>
                <a:cubicBezTo>
                  <a:pt x="853" y="496"/>
                  <a:pt x="871" y="512"/>
                  <a:pt x="877" y="518"/>
                </a:cubicBezTo>
                <a:cubicBezTo>
                  <a:pt x="878" y="519"/>
                  <a:pt x="879" y="520"/>
                  <a:pt x="881" y="521"/>
                </a:cubicBezTo>
                <a:lnTo>
                  <a:pt x="1069" y="672"/>
                </a:lnTo>
                <a:cubicBezTo>
                  <a:pt x="1080" y="681"/>
                  <a:pt x="1082" y="698"/>
                  <a:pt x="1073" y="709"/>
                </a:cubicBezTo>
                <a:close/>
                <a:moveTo>
                  <a:pt x="598" y="899"/>
                </a:moveTo>
                <a:cubicBezTo>
                  <a:pt x="589" y="910"/>
                  <a:pt x="573" y="912"/>
                  <a:pt x="562" y="903"/>
                </a:cubicBezTo>
                <a:cubicBezTo>
                  <a:pt x="551" y="894"/>
                  <a:pt x="549" y="878"/>
                  <a:pt x="558" y="867"/>
                </a:cubicBezTo>
                <a:lnTo>
                  <a:pt x="585" y="834"/>
                </a:lnTo>
                <a:cubicBezTo>
                  <a:pt x="590" y="827"/>
                  <a:pt x="597" y="824"/>
                  <a:pt x="605" y="824"/>
                </a:cubicBezTo>
                <a:cubicBezTo>
                  <a:pt x="610" y="824"/>
                  <a:pt x="616" y="826"/>
                  <a:pt x="621" y="830"/>
                </a:cubicBezTo>
                <a:cubicBezTo>
                  <a:pt x="632" y="838"/>
                  <a:pt x="633" y="854"/>
                  <a:pt x="625" y="865"/>
                </a:cubicBezTo>
                <a:close/>
                <a:moveTo>
                  <a:pt x="484" y="858"/>
                </a:moveTo>
                <a:cubicBezTo>
                  <a:pt x="477" y="859"/>
                  <a:pt x="471" y="857"/>
                  <a:pt x="465" y="853"/>
                </a:cubicBezTo>
                <a:cubicBezTo>
                  <a:pt x="460" y="849"/>
                  <a:pt x="457" y="843"/>
                  <a:pt x="456" y="836"/>
                </a:cubicBezTo>
                <a:cubicBezTo>
                  <a:pt x="455" y="829"/>
                  <a:pt x="457" y="822"/>
                  <a:pt x="461" y="817"/>
                </a:cubicBezTo>
                <a:lnTo>
                  <a:pt x="560" y="694"/>
                </a:lnTo>
                <a:cubicBezTo>
                  <a:pt x="569" y="683"/>
                  <a:pt x="585" y="681"/>
                  <a:pt x="596" y="690"/>
                </a:cubicBezTo>
                <a:cubicBezTo>
                  <a:pt x="607" y="699"/>
                  <a:pt x="609" y="715"/>
                  <a:pt x="600" y="726"/>
                </a:cubicBezTo>
                <a:lnTo>
                  <a:pt x="501" y="849"/>
                </a:lnTo>
                <a:cubicBezTo>
                  <a:pt x="497" y="854"/>
                  <a:pt x="491" y="857"/>
                  <a:pt x="484" y="858"/>
                </a:cubicBezTo>
                <a:close/>
                <a:moveTo>
                  <a:pt x="382" y="786"/>
                </a:moveTo>
                <a:cubicBezTo>
                  <a:pt x="377" y="782"/>
                  <a:pt x="374" y="776"/>
                  <a:pt x="373" y="769"/>
                </a:cubicBezTo>
                <a:cubicBezTo>
                  <a:pt x="372" y="762"/>
                  <a:pt x="374" y="756"/>
                  <a:pt x="378" y="750"/>
                </a:cubicBezTo>
                <a:lnTo>
                  <a:pt x="432" y="684"/>
                </a:lnTo>
                <a:cubicBezTo>
                  <a:pt x="440" y="672"/>
                  <a:pt x="457" y="671"/>
                  <a:pt x="468" y="680"/>
                </a:cubicBezTo>
                <a:cubicBezTo>
                  <a:pt x="473" y="684"/>
                  <a:pt x="476" y="690"/>
                  <a:pt x="477" y="697"/>
                </a:cubicBezTo>
                <a:cubicBezTo>
                  <a:pt x="478" y="703"/>
                  <a:pt x="476" y="710"/>
                  <a:pt x="472" y="715"/>
                </a:cubicBezTo>
                <a:lnTo>
                  <a:pt x="418" y="782"/>
                </a:lnTo>
                <a:cubicBezTo>
                  <a:pt x="409" y="793"/>
                  <a:pt x="393" y="795"/>
                  <a:pt x="382" y="786"/>
                </a:cubicBezTo>
                <a:close/>
                <a:moveTo>
                  <a:pt x="299" y="719"/>
                </a:moveTo>
                <a:cubicBezTo>
                  <a:pt x="288" y="710"/>
                  <a:pt x="286" y="694"/>
                  <a:pt x="295" y="683"/>
                </a:cubicBezTo>
                <a:lnTo>
                  <a:pt x="322" y="650"/>
                </a:lnTo>
                <a:cubicBezTo>
                  <a:pt x="326" y="645"/>
                  <a:pt x="332" y="641"/>
                  <a:pt x="339" y="641"/>
                </a:cubicBezTo>
                <a:cubicBezTo>
                  <a:pt x="340" y="640"/>
                  <a:pt x="341" y="640"/>
                  <a:pt x="341" y="640"/>
                </a:cubicBezTo>
                <a:cubicBezTo>
                  <a:pt x="347" y="640"/>
                  <a:pt x="353" y="642"/>
                  <a:pt x="357" y="646"/>
                </a:cubicBezTo>
                <a:cubicBezTo>
                  <a:pt x="368" y="655"/>
                  <a:pt x="370" y="671"/>
                  <a:pt x="361" y="682"/>
                </a:cubicBezTo>
                <a:lnTo>
                  <a:pt x="335" y="715"/>
                </a:lnTo>
                <a:cubicBezTo>
                  <a:pt x="326" y="726"/>
                  <a:pt x="310" y="728"/>
                  <a:pt x="299" y="719"/>
                </a:cubicBezTo>
                <a:close/>
                <a:moveTo>
                  <a:pt x="1381" y="389"/>
                </a:moveTo>
                <a:cubicBezTo>
                  <a:pt x="1372" y="377"/>
                  <a:pt x="1354" y="375"/>
                  <a:pt x="1342" y="384"/>
                </a:cubicBezTo>
                <a:lnTo>
                  <a:pt x="1235" y="466"/>
                </a:lnTo>
                <a:cubicBezTo>
                  <a:pt x="1221" y="477"/>
                  <a:pt x="1200" y="474"/>
                  <a:pt x="1189" y="460"/>
                </a:cubicBezTo>
                <a:lnTo>
                  <a:pt x="1172" y="438"/>
                </a:lnTo>
                <a:cubicBezTo>
                  <a:pt x="1171" y="435"/>
                  <a:pt x="1170" y="432"/>
                  <a:pt x="1168" y="430"/>
                </a:cubicBezTo>
                <a:cubicBezTo>
                  <a:pt x="1167" y="428"/>
                  <a:pt x="1165" y="427"/>
                  <a:pt x="1163" y="426"/>
                </a:cubicBezTo>
                <a:lnTo>
                  <a:pt x="986" y="194"/>
                </a:lnTo>
                <a:cubicBezTo>
                  <a:pt x="980" y="187"/>
                  <a:pt x="978" y="178"/>
                  <a:pt x="979" y="169"/>
                </a:cubicBezTo>
                <a:cubicBezTo>
                  <a:pt x="980" y="161"/>
                  <a:pt x="985" y="153"/>
                  <a:pt x="992" y="148"/>
                </a:cubicBezTo>
                <a:lnTo>
                  <a:pt x="1099" y="66"/>
                </a:lnTo>
                <a:cubicBezTo>
                  <a:pt x="1111" y="57"/>
                  <a:pt x="1113" y="39"/>
                  <a:pt x="1104" y="27"/>
                </a:cubicBezTo>
                <a:cubicBezTo>
                  <a:pt x="1095" y="15"/>
                  <a:pt x="1077" y="13"/>
                  <a:pt x="1065" y="22"/>
                </a:cubicBezTo>
                <a:lnTo>
                  <a:pt x="958" y="104"/>
                </a:lnTo>
                <a:cubicBezTo>
                  <a:pt x="940" y="118"/>
                  <a:pt x="928" y="139"/>
                  <a:pt x="925" y="162"/>
                </a:cubicBezTo>
                <a:cubicBezTo>
                  <a:pt x="924" y="167"/>
                  <a:pt x="924" y="171"/>
                  <a:pt x="924" y="175"/>
                </a:cubicBezTo>
                <a:lnTo>
                  <a:pt x="639" y="219"/>
                </a:lnTo>
                <a:cubicBezTo>
                  <a:pt x="638" y="219"/>
                  <a:pt x="636" y="220"/>
                  <a:pt x="635" y="220"/>
                </a:cubicBezTo>
                <a:cubicBezTo>
                  <a:pt x="602" y="207"/>
                  <a:pt x="537" y="199"/>
                  <a:pt x="461" y="191"/>
                </a:cubicBezTo>
                <a:cubicBezTo>
                  <a:pt x="475" y="156"/>
                  <a:pt x="465" y="115"/>
                  <a:pt x="434" y="90"/>
                </a:cubicBezTo>
                <a:lnTo>
                  <a:pt x="329" y="6"/>
                </a:lnTo>
                <a:cubicBezTo>
                  <a:pt x="317" y="-3"/>
                  <a:pt x="299" y="-1"/>
                  <a:pt x="290" y="11"/>
                </a:cubicBezTo>
                <a:cubicBezTo>
                  <a:pt x="280" y="23"/>
                  <a:pt x="282" y="40"/>
                  <a:pt x="294" y="50"/>
                </a:cubicBezTo>
                <a:lnTo>
                  <a:pt x="400" y="133"/>
                </a:lnTo>
                <a:cubicBezTo>
                  <a:pt x="414" y="145"/>
                  <a:pt x="416" y="165"/>
                  <a:pt x="405" y="180"/>
                </a:cubicBezTo>
                <a:lnTo>
                  <a:pt x="196" y="442"/>
                </a:lnTo>
                <a:cubicBezTo>
                  <a:pt x="185" y="456"/>
                  <a:pt x="164" y="458"/>
                  <a:pt x="150" y="447"/>
                </a:cubicBezTo>
                <a:lnTo>
                  <a:pt x="45" y="363"/>
                </a:lnTo>
                <a:cubicBezTo>
                  <a:pt x="33" y="354"/>
                  <a:pt x="16" y="356"/>
                  <a:pt x="6" y="367"/>
                </a:cubicBezTo>
                <a:cubicBezTo>
                  <a:pt x="-3" y="379"/>
                  <a:pt x="-1" y="397"/>
                  <a:pt x="10" y="406"/>
                </a:cubicBezTo>
                <a:lnTo>
                  <a:pt x="116" y="490"/>
                </a:lnTo>
                <a:cubicBezTo>
                  <a:pt x="132" y="503"/>
                  <a:pt x="151" y="509"/>
                  <a:pt x="171" y="509"/>
                </a:cubicBezTo>
                <a:cubicBezTo>
                  <a:pt x="188" y="509"/>
                  <a:pt x="206" y="504"/>
                  <a:pt x="220" y="494"/>
                </a:cubicBezTo>
                <a:cubicBezTo>
                  <a:pt x="243" y="516"/>
                  <a:pt x="255" y="537"/>
                  <a:pt x="268" y="559"/>
                </a:cubicBezTo>
                <a:cubicBezTo>
                  <a:pt x="274" y="569"/>
                  <a:pt x="281" y="580"/>
                  <a:pt x="288" y="591"/>
                </a:cubicBezTo>
                <a:cubicBezTo>
                  <a:pt x="290" y="594"/>
                  <a:pt x="293" y="597"/>
                  <a:pt x="295" y="599"/>
                </a:cubicBezTo>
                <a:cubicBezTo>
                  <a:pt x="289" y="604"/>
                  <a:pt x="283" y="609"/>
                  <a:pt x="278" y="615"/>
                </a:cubicBezTo>
                <a:lnTo>
                  <a:pt x="252" y="649"/>
                </a:lnTo>
                <a:cubicBezTo>
                  <a:pt x="224" y="684"/>
                  <a:pt x="229" y="734"/>
                  <a:pt x="264" y="762"/>
                </a:cubicBezTo>
                <a:cubicBezTo>
                  <a:pt x="279" y="774"/>
                  <a:pt x="297" y="780"/>
                  <a:pt x="315" y="780"/>
                </a:cubicBezTo>
                <a:cubicBezTo>
                  <a:pt x="316" y="780"/>
                  <a:pt x="317" y="780"/>
                  <a:pt x="319" y="780"/>
                </a:cubicBezTo>
                <a:cubicBezTo>
                  <a:pt x="322" y="799"/>
                  <a:pt x="332" y="817"/>
                  <a:pt x="348" y="829"/>
                </a:cubicBezTo>
                <a:cubicBezTo>
                  <a:pt x="362" y="841"/>
                  <a:pt x="380" y="847"/>
                  <a:pt x="398" y="847"/>
                </a:cubicBezTo>
                <a:cubicBezTo>
                  <a:pt x="399" y="847"/>
                  <a:pt x="401" y="847"/>
                  <a:pt x="402" y="847"/>
                </a:cubicBezTo>
                <a:cubicBezTo>
                  <a:pt x="405" y="866"/>
                  <a:pt x="415" y="883"/>
                  <a:pt x="431" y="896"/>
                </a:cubicBezTo>
                <a:cubicBezTo>
                  <a:pt x="445" y="908"/>
                  <a:pt x="463" y="914"/>
                  <a:pt x="481" y="914"/>
                </a:cubicBezTo>
                <a:cubicBezTo>
                  <a:pt x="484" y="914"/>
                  <a:pt x="487" y="913"/>
                  <a:pt x="490" y="913"/>
                </a:cubicBezTo>
                <a:cubicBezTo>
                  <a:pt x="494" y="913"/>
                  <a:pt x="498" y="912"/>
                  <a:pt x="502" y="911"/>
                </a:cubicBezTo>
                <a:cubicBezTo>
                  <a:pt x="507" y="924"/>
                  <a:pt x="516" y="936"/>
                  <a:pt x="528" y="946"/>
                </a:cubicBezTo>
                <a:cubicBezTo>
                  <a:pt x="542" y="958"/>
                  <a:pt x="560" y="964"/>
                  <a:pt x="578" y="964"/>
                </a:cubicBezTo>
                <a:cubicBezTo>
                  <a:pt x="602" y="964"/>
                  <a:pt x="625" y="953"/>
                  <a:pt x="641" y="933"/>
                </a:cubicBezTo>
                <a:lnTo>
                  <a:pt x="668" y="900"/>
                </a:lnTo>
                <a:cubicBezTo>
                  <a:pt x="669" y="899"/>
                  <a:pt x="670" y="898"/>
                  <a:pt x="670" y="896"/>
                </a:cubicBezTo>
                <a:lnTo>
                  <a:pt x="711" y="929"/>
                </a:lnTo>
                <a:cubicBezTo>
                  <a:pt x="726" y="941"/>
                  <a:pt x="745" y="948"/>
                  <a:pt x="764" y="948"/>
                </a:cubicBezTo>
                <a:lnTo>
                  <a:pt x="765" y="948"/>
                </a:lnTo>
                <a:cubicBezTo>
                  <a:pt x="789" y="948"/>
                  <a:pt x="809" y="938"/>
                  <a:pt x="824" y="920"/>
                </a:cubicBezTo>
                <a:cubicBezTo>
                  <a:pt x="831" y="911"/>
                  <a:pt x="836" y="901"/>
                  <a:pt x="839" y="890"/>
                </a:cubicBezTo>
                <a:cubicBezTo>
                  <a:pt x="847" y="893"/>
                  <a:pt x="856" y="894"/>
                  <a:pt x="864" y="894"/>
                </a:cubicBezTo>
                <a:cubicBezTo>
                  <a:pt x="886" y="894"/>
                  <a:pt x="907" y="885"/>
                  <a:pt x="922" y="867"/>
                </a:cubicBezTo>
                <a:cubicBezTo>
                  <a:pt x="923" y="866"/>
                  <a:pt x="924" y="865"/>
                  <a:pt x="925" y="864"/>
                </a:cubicBezTo>
                <a:cubicBezTo>
                  <a:pt x="925" y="863"/>
                  <a:pt x="926" y="863"/>
                  <a:pt x="927" y="862"/>
                </a:cubicBezTo>
                <a:cubicBezTo>
                  <a:pt x="933" y="853"/>
                  <a:pt x="938" y="843"/>
                  <a:pt x="940" y="834"/>
                </a:cubicBezTo>
                <a:cubicBezTo>
                  <a:pt x="947" y="836"/>
                  <a:pt x="954" y="837"/>
                  <a:pt x="962" y="837"/>
                </a:cubicBezTo>
                <a:cubicBezTo>
                  <a:pt x="984" y="837"/>
                  <a:pt x="1006" y="827"/>
                  <a:pt x="1020" y="809"/>
                </a:cubicBezTo>
                <a:cubicBezTo>
                  <a:pt x="1021" y="809"/>
                  <a:pt x="1021" y="808"/>
                  <a:pt x="1021" y="808"/>
                </a:cubicBezTo>
                <a:cubicBezTo>
                  <a:pt x="1022" y="807"/>
                  <a:pt x="1022" y="807"/>
                  <a:pt x="1022" y="807"/>
                </a:cubicBezTo>
                <a:cubicBezTo>
                  <a:pt x="1030" y="796"/>
                  <a:pt x="1036" y="785"/>
                  <a:pt x="1038" y="773"/>
                </a:cubicBezTo>
                <a:cubicBezTo>
                  <a:pt x="1043" y="774"/>
                  <a:pt x="1049" y="774"/>
                  <a:pt x="1054" y="774"/>
                </a:cubicBezTo>
                <a:cubicBezTo>
                  <a:pt x="1076" y="774"/>
                  <a:pt x="1098" y="765"/>
                  <a:pt x="1113" y="747"/>
                </a:cubicBezTo>
                <a:cubicBezTo>
                  <a:pt x="1114" y="746"/>
                  <a:pt x="1115" y="745"/>
                  <a:pt x="1115" y="745"/>
                </a:cubicBezTo>
                <a:lnTo>
                  <a:pt x="1117" y="743"/>
                </a:lnTo>
                <a:cubicBezTo>
                  <a:pt x="1144" y="708"/>
                  <a:pt x="1138" y="657"/>
                  <a:pt x="1103" y="629"/>
                </a:cubicBezTo>
                <a:lnTo>
                  <a:pt x="1064" y="598"/>
                </a:lnTo>
                <a:cubicBezTo>
                  <a:pt x="1071" y="593"/>
                  <a:pt x="1076" y="588"/>
                  <a:pt x="1079" y="583"/>
                </a:cubicBezTo>
                <a:cubicBezTo>
                  <a:pt x="1087" y="572"/>
                  <a:pt x="1093" y="561"/>
                  <a:pt x="1099" y="551"/>
                </a:cubicBezTo>
                <a:cubicBezTo>
                  <a:pt x="1111" y="530"/>
                  <a:pt x="1123" y="510"/>
                  <a:pt x="1143" y="490"/>
                </a:cubicBezTo>
                <a:lnTo>
                  <a:pt x="1145" y="493"/>
                </a:lnTo>
                <a:cubicBezTo>
                  <a:pt x="1163" y="516"/>
                  <a:pt x="1189" y="528"/>
                  <a:pt x="1215" y="528"/>
                </a:cubicBezTo>
                <a:cubicBezTo>
                  <a:pt x="1234" y="528"/>
                  <a:pt x="1253" y="522"/>
                  <a:pt x="1269" y="510"/>
                </a:cubicBezTo>
                <a:lnTo>
                  <a:pt x="1376" y="428"/>
                </a:lnTo>
                <a:cubicBezTo>
                  <a:pt x="1388" y="418"/>
                  <a:pt x="1390" y="401"/>
                  <a:pt x="1381" y="389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8" name="Freeform 44">
            <a:extLst>
              <a:ext uri="{FF2B5EF4-FFF2-40B4-BE49-F238E27FC236}">
                <a16:creationId xmlns:a16="http://schemas.microsoft.com/office/drawing/2014/main" id="{FB20F9AB-236B-486B-0AAD-97445A5A9338}"/>
              </a:ext>
            </a:extLst>
          </p:cNvPr>
          <p:cNvSpPr/>
          <p:nvPr/>
        </p:nvSpPr>
        <p:spPr>
          <a:xfrm>
            <a:off x="5558643" y="6301799"/>
            <a:ext cx="2600224" cy="286866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4" h="920">
                <a:moveTo>
                  <a:pt x="550" y="826"/>
                </a:moveTo>
                <a:lnTo>
                  <a:pt x="550" y="718"/>
                </a:lnTo>
                <a:cubicBezTo>
                  <a:pt x="550" y="710"/>
                  <a:pt x="547" y="703"/>
                  <a:pt x="542" y="698"/>
                </a:cubicBezTo>
                <a:cubicBezTo>
                  <a:pt x="537" y="693"/>
                  <a:pt x="530" y="690"/>
                  <a:pt x="522" y="690"/>
                </a:cubicBezTo>
                <a:lnTo>
                  <a:pt x="126" y="690"/>
                </a:lnTo>
                <a:lnTo>
                  <a:pt x="126" y="528"/>
                </a:lnTo>
                <a:lnTo>
                  <a:pt x="174" y="528"/>
                </a:lnTo>
                <a:cubicBezTo>
                  <a:pt x="182" y="528"/>
                  <a:pt x="190" y="524"/>
                  <a:pt x="195" y="518"/>
                </a:cubicBezTo>
                <a:lnTo>
                  <a:pt x="291" y="614"/>
                </a:lnTo>
                <a:cubicBezTo>
                  <a:pt x="296" y="620"/>
                  <a:pt x="303" y="622"/>
                  <a:pt x="311" y="622"/>
                </a:cubicBezTo>
                <a:cubicBezTo>
                  <a:pt x="314" y="622"/>
                  <a:pt x="318" y="622"/>
                  <a:pt x="321" y="620"/>
                </a:cubicBezTo>
                <a:cubicBezTo>
                  <a:pt x="332" y="616"/>
                  <a:pt x="338" y="606"/>
                  <a:pt x="338" y="595"/>
                </a:cubicBezTo>
                <a:lnTo>
                  <a:pt x="338" y="528"/>
                </a:lnTo>
                <a:lnTo>
                  <a:pt x="523" y="528"/>
                </a:lnTo>
                <a:cubicBezTo>
                  <a:pt x="538" y="528"/>
                  <a:pt x="550" y="515"/>
                  <a:pt x="550" y="500"/>
                </a:cubicBezTo>
                <a:lnTo>
                  <a:pt x="550" y="392"/>
                </a:lnTo>
                <a:lnTo>
                  <a:pt x="767" y="609"/>
                </a:lnTo>
                <a:close/>
                <a:moveTo>
                  <a:pt x="495" y="447"/>
                </a:moveTo>
                <a:lnTo>
                  <a:pt x="495" y="472"/>
                </a:lnTo>
                <a:lnTo>
                  <a:pt x="339" y="472"/>
                </a:lnTo>
                <a:lnTo>
                  <a:pt x="339" y="447"/>
                </a:lnTo>
                <a:close/>
                <a:moveTo>
                  <a:pt x="284" y="94"/>
                </a:moveTo>
                <a:lnTo>
                  <a:pt x="283" y="202"/>
                </a:lnTo>
                <a:cubicBezTo>
                  <a:pt x="283" y="209"/>
                  <a:pt x="286" y="217"/>
                  <a:pt x="292" y="222"/>
                </a:cubicBezTo>
                <a:cubicBezTo>
                  <a:pt x="297" y="227"/>
                  <a:pt x="304" y="230"/>
                  <a:pt x="311" y="230"/>
                </a:cubicBezTo>
                <a:lnTo>
                  <a:pt x="707" y="230"/>
                </a:lnTo>
                <a:lnTo>
                  <a:pt x="707" y="392"/>
                </a:lnTo>
                <a:lnTo>
                  <a:pt x="646" y="392"/>
                </a:lnTo>
                <a:cubicBezTo>
                  <a:pt x="641" y="392"/>
                  <a:pt x="637" y="394"/>
                  <a:pt x="633" y="396"/>
                </a:cubicBezTo>
                <a:lnTo>
                  <a:pt x="542" y="306"/>
                </a:lnTo>
                <a:cubicBezTo>
                  <a:pt x="534" y="298"/>
                  <a:pt x="523" y="295"/>
                  <a:pt x="512" y="300"/>
                </a:cubicBezTo>
                <a:cubicBezTo>
                  <a:pt x="502" y="304"/>
                  <a:pt x="495" y="314"/>
                  <a:pt x="495" y="325"/>
                </a:cubicBezTo>
                <a:lnTo>
                  <a:pt x="495" y="392"/>
                </a:lnTo>
                <a:lnTo>
                  <a:pt x="311" y="392"/>
                </a:lnTo>
                <a:cubicBezTo>
                  <a:pt x="296" y="392"/>
                  <a:pt x="283" y="404"/>
                  <a:pt x="283" y="420"/>
                </a:cubicBezTo>
                <a:lnTo>
                  <a:pt x="283" y="528"/>
                </a:lnTo>
                <a:lnTo>
                  <a:pt x="66" y="311"/>
                </a:lnTo>
                <a:close/>
                <a:moveTo>
                  <a:pt x="826" y="589"/>
                </a:moveTo>
                <a:lnTo>
                  <a:pt x="684" y="447"/>
                </a:lnTo>
                <a:lnTo>
                  <a:pt x="735" y="447"/>
                </a:lnTo>
                <a:cubicBezTo>
                  <a:pt x="750" y="447"/>
                  <a:pt x="763" y="435"/>
                  <a:pt x="763" y="420"/>
                </a:cubicBezTo>
                <a:lnTo>
                  <a:pt x="763" y="202"/>
                </a:lnTo>
                <a:cubicBezTo>
                  <a:pt x="763" y="187"/>
                  <a:pt x="750" y="174"/>
                  <a:pt x="735" y="174"/>
                </a:cubicBezTo>
                <a:lnTo>
                  <a:pt x="339" y="174"/>
                </a:lnTo>
                <a:lnTo>
                  <a:pt x="339" y="27"/>
                </a:lnTo>
                <a:cubicBezTo>
                  <a:pt x="339" y="16"/>
                  <a:pt x="332" y="6"/>
                  <a:pt x="322" y="2"/>
                </a:cubicBezTo>
                <a:cubicBezTo>
                  <a:pt x="312" y="-3"/>
                  <a:pt x="300" y="0"/>
                  <a:pt x="292" y="8"/>
                </a:cubicBezTo>
                <a:lnTo>
                  <a:pt x="8" y="292"/>
                </a:lnTo>
                <a:cubicBezTo>
                  <a:pt x="2" y="297"/>
                  <a:pt x="0" y="304"/>
                  <a:pt x="0" y="311"/>
                </a:cubicBezTo>
                <a:cubicBezTo>
                  <a:pt x="0" y="319"/>
                  <a:pt x="2" y="326"/>
                  <a:pt x="8" y="331"/>
                </a:cubicBezTo>
                <a:lnTo>
                  <a:pt x="149" y="472"/>
                </a:lnTo>
                <a:lnTo>
                  <a:pt x="98" y="472"/>
                </a:lnTo>
                <a:cubicBezTo>
                  <a:pt x="83" y="472"/>
                  <a:pt x="71" y="485"/>
                  <a:pt x="71" y="500"/>
                </a:cubicBezTo>
                <a:lnTo>
                  <a:pt x="71" y="718"/>
                </a:lnTo>
                <a:cubicBezTo>
                  <a:pt x="71" y="733"/>
                  <a:pt x="83" y="745"/>
                  <a:pt x="98" y="745"/>
                </a:cubicBezTo>
                <a:lnTo>
                  <a:pt x="495" y="745"/>
                </a:lnTo>
                <a:lnTo>
                  <a:pt x="495" y="893"/>
                </a:lnTo>
                <a:cubicBezTo>
                  <a:pt x="495" y="904"/>
                  <a:pt x="501" y="914"/>
                  <a:pt x="512" y="918"/>
                </a:cubicBezTo>
                <a:cubicBezTo>
                  <a:pt x="515" y="920"/>
                  <a:pt x="519" y="920"/>
                  <a:pt x="522" y="920"/>
                </a:cubicBezTo>
                <a:cubicBezTo>
                  <a:pt x="529" y="920"/>
                  <a:pt x="536" y="917"/>
                  <a:pt x="542" y="912"/>
                </a:cubicBezTo>
                <a:lnTo>
                  <a:pt x="826" y="628"/>
                </a:lnTo>
                <a:cubicBezTo>
                  <a:pt x="831" y="623"/>
                  <a:pt x="834" y="616"/>
                  <a:pt x="834" y="609"/>
                </a:cubicBezTo>
                <a:cubicBezTo>
                  <a:pt x="834" y="601"/>
                  <a:pt x="831" y="594"/>
                  <a:pt x="826" y="589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E3154B-EA7F-3425-6DD6-2170CA368B62}"/>
              </a:ext>
            </a:extLst>
          </p:cNvPr>
          <p:cNvGrpSpPr/>
          <p:nvPr/>
        </p:nvGrpSpPr>
        <p:grpSpPr>
          <a:xfrm>
            <a:off x="5631826" y="10077248"/>
            <a:ext cx="2790250" cy="2290192"/>
            <a:chOff x="428400" y="2589727"/>
            <a:chExt cx="478080" cy="392400"/>
          </a:xfrm>
          <a:solidFill>
            <a:schemeClr val="bg1"/>
          </a:solidFill>
        </p:grpSpPr>
        <p:sp>
          <p:nvSpPr>
            <p:cNvPr id="10" name="Freeform 42">
              <a:extLst>
                <a:ext uri="{FF2B5EF4-FFF2-40B4-BE49-F238E27FC236}">
                  <a16:creationId xmlns:a16="http://schemas.microsoft.com/office/drawing/2014/main" id="{C61B88CF-83C9-04D4-5680-6FE3E6B637EA}"/>
                </a:ext>
              </a:extLst>
            </p:cNvPr>
            <p:cNvSpPr/>
            <p:nvPr/>
          </p:nvSpPr>
          <p:spPr>
            <a:xfrm>
              <a:off x="711360" y="2589727"/>
              <a:ext cx="195120" cy="191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43" h="534">
                  <a:moveTo>
                    <a:pt x="81" y="159"/>
                  </a:moveTo>
                  <a:lnTo>
                    <a:pt x="244" y="266"/>
                  </a:lnTo>
                  <a:lnTo>
                    <a:pt x="220" y="459"/>
                  </a:lnTo>
                  <a:lnTo>
                    <a:pt x="57" y="352"/>
                  </a:lnTo>
                  <a:close/>
                  <a:moveTo>
                    <a:pt x="298" y="58"/>
                  </a:moveTo>
                  <a:lnTo>
                    <a:pt x="453" y="160"/>
                  </a:lnTo>
                  <a:lnTo>
                    <a:pt x="277" y="222"/>
                  </a:lnTo>
                  <a:lnTo>
                    <a:pt x="121" y="119"/>
                  </a:lnTo>
                  <a:close/>
                  <a:moveTo>
                    <a:pt x="458" y="401"/>
                  </a:moveTo>
                  <a:lnTo>
                    <a:pt x="275" y="466"/>
                  </a:lnTo>
                  <a:lnTo>
                    <a:pt x="299" y="273"/>
                  </a:lnTo>
                  <a:lnTo>
                    <a:pt x="482" y="208"/>
                  </a:lnTo>
                  <a:close/>
                  <a:moveTo>
                    <a:pt x="543" y="168"/>
                  </a:moveTo>
                  <a:cubicBezTo>
                    <a:pt x="543" y="167"/>
                    <a:pt x="543" y="167"/>
                    <a:pt x="543" y="167"/>
                  </a:cubicBezTo>
                  <a:cubicBezTo>
                    <a:pt x="543" y="167"/>
                    <a:pt x="543" y="166"/>
                    <a:pt x="542" y="166"/>
                  </a:cubicBezTo>
                  <a:cubicBezTo>
                    <a:pt x="542" y="165"/>
                    <a:pt x="542" y="165"/>
                    <a:pt x="542" y="165"/>
                  </a:cubicBezTo>
                  <a:lnTo>
                    <a:pt x="542" y="164"/>
                  </a:lnTo>
                  <a:lnTo>
                    <a:pt x="542" y="163"/>
                  </a:lnTo>
                  <a:lnTo>
                    <a:pt x="542" y="162"/>
                  </a:lnTo>
                  <a:lnTo>
                    <a:pt x="542" y="161"/>
                  </a:lnTo>
                  <a:cubicBezTo>
                    <a:pt x="542" y="160"/>
                    <a:pt x="541" y="160"/>
                    <a:pt x="541" y="159"/>
                  </a:cubicBezTo>
                  <a:lnTo>
                    <a:pt x="541" y="158"/>
                  </a:lnTo>
                  <a:lnTo>
                    <a:pt x="541" y="157"/>
                  </a:lnTo>
                  <a:cubicBezTo>
                    <a:pt x="540" y="157"/>
                    <a:pt x="540" y="156"/>
                    <a:pt x="540" y="156"/>
                  </a:cubicBezTo>
                  <a:lnTo>
                    <a:pt x="540" y="155"/>
                  </a:lnTo>
                  <a:lnTo>
                    <a:pt x="539" y="155"/>
                  </a:lnTo>
                  <a:cubicBezTo>
                    <a:pt x="539" y="154"/>
                    <a:pt x="539" y="154"/>
                    <a:pt x="539" y="154"/>
                  </a:cubicBezTo>
                  <a:cubicBezTo>
                    <a:pt x="539" y="153"/>
                    <a:pt x="538" y="153"/>
                    <a:pt x="538" y="153"/>
                  </a:cubicBezTo>
                  <a:lnTo>
                    <a:pt x="538" y="152"/>
                  </a:lnTo>
                  <a:lnTo>
                    <a:pt x="537" y="151"/>
                  </a:lnTo>
                  <a:cubicBezTo>
                    <a:pt x="537" y="151"/>
                    <a:pt x="537" y="150"/>
                    <a:pt x="536" y="150"/>
                  </a:cubicBezTo>
                  <a:lnTo>
                    <a:pt x="536" y="149"/>
                  </a:lnTo>
                  <a:lnTo>
                    <a:pt x="535" y="149"/>
                  </a:lnTo>
                  <a:lnTo>
                    <a:pt x="535" y="148"/>
                  </a:lnTo>
                  <a:cubicBezTo>
                    <a:pt x="534" y="148"/>
                    <a:pt x="534" y="148"/>
                    <a:pt x="534" y="147"/>
                  </a:cubicBezTo>
                  <a:lnTo>
                    <a:pt x="533" y="147"/>
                  </a:lnTo>
                  <a:lnTo>
                    <a:pt x="533" y="146"/>
                  </a:lnTo>
                  <a:cubicBezTo>
                    <a:pt x="532" y="146"/>
                    <a:pt x="532" y="146"/>
                    <a:pt x="532" y="146"/>
                  </a:cubicBezTo>
                  <a:cubicBezTo>
                    <a:pt x="532" y="145"/>
                    <a:pt x="531" y="145"/>
                    <a:pt x="531" y="145"/>
                  </a:cubicBezTo>
                  <a:lnTo>
                    <a:pt x="530" y="145"/>
                  </a:lnTo>
                  <a:lnTo>
                    <a:pt x="530" y="144"/>
                  </a:lnTo>
                  <a:lnTo>
                    <a:pt x="318" y="5"/>
                  </a:lnTo>
                  <a:cubicBezTo>
                    <a:pt x="311" y="0"/>
                    <a:pt x="301" y="-2"/>
                    <a:pt x="292" y="1"/>
                  </a:cubicBezTo>
                  <a:lnTo>
                    <a:pt x="50" y="86"/>
                  </a:lnTo>
                  <a:lnTo>
                    <a:pt x="49" y="86"/>
                  </a:lnTo>
                  <a:lnTo>
                    <a:pt x="48" y="86"/>
                  </a:lnTo>
                  <a:cubicBezTo>
                    <a:pt x="48" y="87"/>
                    <a:pt x="47" y="87"/>
                    <a:pt x="47" y="87"/>
                  </a:cubicBezTo>
                  <a:cubicBezTo>
                    <a:pt x="46" y="87"/>
                    <a:pt x="46" y="88"/>
                    <a:pt x="46" y="88"/>
                  </a:cubicBezTo>
                  <a:cubicBezTo>
                    <a:pt x="45" y="88"/>
                    <a:pt x="45" y="88"/>
                    <a:pt x="44" y="88"/>
                  </a:cubicBezTo>
                  <a:cubicBezTo>
                    <a:pt x="44" y="89"/>
                    <a:pt x="44" y="89"/>
                    <a:pt x="43" y="89"/>
                  </a:cubicBezTo>
                  <a:lnTo>
                    <a:pt x="42" y="90"/>
                  </a:lnTo>
                  <a:lnTo>
                    <a:pt x="41" y="91"/>
                  </a:lnTo>
                  <a:lnTo>
                    <a:pt x="40" y="92"/>
                  </a:lnTo>
                  <a:lnTo>
                    <a:pt x="39" y="92"/>
                  </a:lnTo>
                  <a:cubicBezTo>
                    <a:pt x="39" y="93"/>
                    <a:pt x="39" y="93"/>
                    <a:pt x="38" y="94"/>
                  </a:cubicBezTo>
                  <a:cubicBezTo>
                    <a:pt x="37" y="95"/>
                    <a:pt x="37" y="95"/>
                    <a:pt x="37" y="96"/>
                  </a:cubicBezTo>
                  <a:lnTo>
                    <a:pt x="36" y="96"/>
                  </a:lnTo>
                  <a:lnTo>
                    <a:pt x="36" y="97"/>
                  </a:lnTo>
                  <a:lnTo>
                    <a:pt x="35" y="98"/>
                  </a:lnTo>
                  <a:lnTo>
                    <a:pt x="35" y="99"/>
                  </a:lnTo>
                  <a:cubicBezTo>
                    <a:pt x="34" y="99"/>
                    <a:pt x="34" y="100"/>
                    <a:pt x="34" y="100"/>
                  </a:cubicBezTo>
                  <a:lnTo>
                    <a:pt x="34" y="101"/>
                  </a:lnTo>
                  <a:cubicBezTo>
                    <a:pt x="34" y="101"/>
                    <a:pt x="33" y="101"/>
                    <a:pt x="33" y="102"/>
                  </a:cubicBezTo>
                  <a:lnTo>
                    <a:pt x="33" y="103"/>
                  </a:lnTo>
                  <a:lnTo>
                    <a:pt x="33" y="104"/>
                  </a:lnTo>
                  <a:cubicBezTo>
                    <a:pt x="33" y="105"/>
                    <a:pt x="32" y="105"/>
                    <a:pt x="32" y="105"/>
                  </a:cubicBezTo>
                  <a:lnTo>
                    <a:pt x="32" y="106"/>
                  </a:lnTo>
                  <a:lnTo>
                    <a:pt x="32" y="107"/>
                  </a:lnTo>
                  <a:lnTo>
                    <a:pt x="32" y="108"/>
                  </a:lnTo>
                  <a:lnTo>
                    <a:pt x="1" y="363"/>
                  </a:lnTo>
                  <a:cubicBezTo>
                    <a:pt x="1" y="363"/>
                    <a:pt x="0" y="364"/>
                    <a:pt x="0" y="365"/>
                  </a:cubicBezTo>
                  <a:lnTo>
                    <a:pt x="0" y="366"/>
                  </a:lnTo>
                  <a:lnTo>
                    <a:pt x="0" y="367"/>
                  </a:lnTo>
                  <a:cubicBezTo>
                    <a:pt x="0" y="368"/>
                    <a:pt x="0" y="368"/>
                    <a:pt x="1" y="369"/>
                  </a:cubicBezTo>
                  <a:lnTo>
                    <a:pt x="1" y="370"/>
                  </a:lnTo>
                  <a:lnTo>
                    <a:pt x="1" y="371"/>
                  </a:lnTo>
                  <a:lnTo>
                    <a:pt x="1" y="372"/>
                  </a:lnTo>
                  <a:cubicBezTo>
                    <a:pt x="1" y="373"/>
                    <a:pt x="1" y="373"/>
                    <a:pt x="2" y="374"/>
                  </a:cubicBezTo>
                  <a:lnTo>
                    <a:pt x="2" y="375"/>
                  </a:lnTo>
                  <a:lnTo>
                    <a:pt x="2" y="376"/>
                  </a:lnTo>
                  <a:cubicBezTo>
                    <a:pt x="3" y="377"/>
                    <a:pt x="3" y="377"/>
                    <a:pt x="3" y="377"/>
                  </a:cubicBezTo>
                  <a:cubicBezTo>
                    <a:pt x="3" y="378"/>
                    <a:pt x="3" y="378"/>
                    <a:pt x="3" y="379"/>
                  </a:cubicBezTo>
                  <a:cubicBezTo>
                    <a:pt x="4" y="379"/>
                    <a:pt x="4" y="380"/>
                    <a:pt x="4" y="380"/>
                  </a:cubicBezTo>
                  <a:lnTo>
                    <a:pt x="5" y="381"/>
                  </a:lnTo>
                  <a:lnTo>
                    <a:pt x="6" y="382"/>
                  </a:lnTo>
                  <a:lnTo>
                    <a:pt x="6" y="383"/>
                  </a:lnTo>
                  <a:cubicBezTo>
                    <a:pt x="7" y="383"/>
                    <a:pt x="7" y="384"/>
                    <a:pt x="7" y="384"/>
                  </a:cubicBezTo>
                  <a:cubicBezTo>
                    <a:pt x="8" y="384"/>
                    <a:pt x="8" y="385"/>
                    <a:pt x="8" y="385"/>
                  </a:cubicBezTo>
                  <a:lnTo>
                    <a:pt x="9" y="386"/>
                  </a:lnTo>
                  <a:cubicBezTo>
                    <a:pt x="10" y="386"/>
                    <a:pt x="10" y="387"/>
                    <a:pt x="10" y="387"/>
                  </a:cubicBezTo>
                  <a:cubicBezTo>
                    <a:pt x="10" y="387"/>
                    <a:pt x="11" y="387"/>
                    <a:pt x="11" y="388"/>
                  </a:cubicBezTo>
                  <a:cubicBezTo>
                    <a:pt x="12" y="388"/>
                    <a:pt x="12" y="388"/>
                    <a:pt x="12" y="389"/>
                  </a:cubicBezTo>
                  <a:cubicBezTo>
                    <a:pt x="13" y="389"/>
                    <a:pt x="13" y="389"/>
                    <a:pt x="13" y="389"/>
                  </a:cubicBezTo>
                  <a:lnTo>
                    <a:pt x="227" y="529"/>
                  </a:lnTo>
                  <a:lnTo>
                    <a:pt x="227" y="530"/>
                  </a:lnTo>
                  <a:cubicBezTo>
                    <a:pt x="228" y="530"/>
                    <a:pt x="228" y="530"/>
                    <a:pt x="228" y="530"/>
                  </a:cubicBezTo>
                  <a:cubicBezTo>
                    <a:pt x="229" y="531"/>
                    <a:pt x="229" y="531"/>
                    <a:pt x="229" y="531"/>
                  </a:cubicBezTo>
                  <a:cubicBezTo>
                    <a:pt x="230" y="531"/>
                    <a:pt x="230" y="531"/>
                    <a:pt x="230" y="531"/>
                  </a:cubicBezTo>
                  <a:lnTo>
                    <a:pt x="231" y="531"/>
                  </a:lnTo>
                  <a:lnTo>
                    <a:pt x="231" y="532"/>
                  </a:lnTo>
                  <a:cubicBezTo>
                    <a:pt x="232" y="532"/>
                    <a:pt x="232" y="532"/>
                    <a:pt x="232" y="532"/>
                  </a:cubicBezTo>
                  <a:lnTo>
                    <a:pt x="233" y="532"/>
                  </a:lnTo>
                  <a:lnTo>
                    <a:pt x="233" y="533"/>
                  </a:lnTo>
                  <a:cubicBezTo>
                    <a:pt x="234" y="533"/>
                    <a:pt x="234" y="533"/>
                    <a:pt x="234" y="533"/>
                  </a:cubicBezTo>
                  <a:lnTo>
                    <a:pt x="235" y="533"/>
                  </a:lnTo>
                  <a:lnTo>
                    <a:pt x="236" y="533"/>
                  </a:lnTo>
                  <a:lnTo>
                    <a:pt x="237" y="533"/>
                  </a:lnTo>
                  <a:lnTo>
                    <a:pt x="238" y="534"/>
                  </a:lnTo>
                  <a:lnTo>
                    <a:pt x="239" y="534"/>
                  </a:lnTo>
                  <a:lnTo>
                    <a:pt x="240" y="534"/>
                  </a:lnTo>
                  <a:lnTo>
                    <a:pt x="241" y="534"/>
                  </a:lnTo>
                  <a:lnTo>
                    <a:pt x="242" y="534"/>
                  </a:lnTo>
                  <a:cubicBezTo>
                    <a:pt x="243" y="534"/>
                    <a:pt x="244" y="534"/>
                    <a:pt x="244" y="534"/>
                  </a:cubicBezTo>
                  <a:cubicBezTo>
                    <a:pt x="245" y="534"/>
                    <a:pt x="245" y="534"/>
                    <a:pt x="245" y="534"/>
                  </a:cubicBezTo>
                  <a:lnTo>
                    <a:pt x="246" y="534"/>
                  </a:lnTo>
                  <a:lnTo>
                    <a:pt x="247" y="533"/>
                  </a:lnTo>
                  <a:lnTo>
                    <a:pt x="248" y="533"/>
                  </a:lnTo>
                  <a:cubicBezTo>
                    <a:pt x="249" y="533"/>
                    <a:pt x="249" y="533"/>
                    <a:pt x="249" y="533"/>
                  </a:cubicBezTo>
                  <a:cubicBezTo>
                    <a:pt x="250" y="533"/>
                    <a:pt x="250" y="533"/>
                    <a:pt x="250" y="533"/>
                  </a:cubicBezTo>
                  <a:cubicBezTo>
                    <a:pt x="251" y="533"/>
                    <a:pt x="251" y="532"/>
                    <a:pt x="251" y="532"/>
                  </a:cubicBezTo>
                  <a:lnTo>
                    <a:pt x="493" y="448"/>
                  </a:lnTo>
                  <a:cubicBezTo>
                    <a:pt x="500" y="445"/>
                    <a:pt x="506" y="440"/>
                    <a:pt x="509" y="433"/>
                  </a:cubicBezTo>
                  <a:cubicBezTo>
                    <a:pt x="509" y="432"/>
                    <a:pt x="509" y="432"/>
                    <a:pt x="510" y="431"/>
                  </a:cubicBezTo>
                  <a:cubicBezTo>
                    <a:pt x="510" y="429"/>
                    <a:pt x="511" y="427"/>
                    <a:pt x="511" y="425"/>
                  </a:cubicBezTo>
                  <a:lnTo>
                    <a:pt x="542" y="171"/>
                  </a:lnTo>
                  <a:lnTo>
                    <a:pt x="542" y="170"/>
                  </a:lnTo>
                  <a:lnTo>
                    <a:pt x="542" y="169"/>
                  </a:ln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1" name="Freeform 43">
              <a:extLst>
                <a:ext uri="{FF2B5EF4-FFF2-40B4-BE49-F238E27FC236}">
                  <a16:creationId xmlns:a16="http://schemas.microsoft.com/office/drawing/2014/main" id="{225C1CC7-3E4B-D48A-6792-BE2C6B6559E2}"/>
                </a:ext>
              </a:extLst>
            </p:cNvPr>
            <p:cNvSpPr/>
            <p:nvPr/>
          </p:nvSpPr>
          <p:spPr>
            <a:xfrm>
              <a:off x="428400" y="2614927"/>
              <a:ext cx="350280" cy="367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74" h="1021">
                  <a:moveTo>
                    <a:pt x="744" y="640"/>
                  </a:moveTo>
                  <a:lnTo>
                    <a:pt x="919" y="554"/>
                  </a:lnTo>
                  <a:lnTo>
                    <a:pt x="919" y="749"/>
                  </a:lnTo>
                  <a:lnTo>
                    <a:pt x="744" y="835"/>
                  </a:lnTo>
                  <a:close/>
                  <a:moveTo>
                    <a:pt x="515" y="755"/>
                  </a:moveTo>
                  <a:lnTo>
                    <a:pt x="689" y="669"/>
                  </a:lnTo>
                  <a:lnTo>
                    <a:pt x="689" y="862"/>
                  </a:lnTo>
                  <a:lnTo>
                    <a:pt x="515" y="949"/>
                  </a:lnTo>
                  <a:close/>
                  <a:moveTo>
                    <a:pt x="285" y="669"/>
                  </a:moveTo>
                  <a:lnTo>
                    <a:pt x="460" y="755"/>
                  </a:lnTo>
                  <a:lnTo>
                    <a:pt x="460" y="949"/>
                  </a:lnTo>
                  <a:lnTo>
                    <a:pt x="285" y="862"/>
                  </a:lnTo>
                  <a:close/>
                  <a:moveTo>
                    <a:pt x="56" y="555"/>
                  </a:moveTo>
                  <a:lnTo>
                    <a:pt x="230" y="641"/>
                  </a:lnTo>
                  <a:lnTo>
                    <a:pt x="230" y="836"/>
                  </a:lnTo>
                  <a:lnTo>
                    <a:pt x="56" y="750"/>
                  </a:lnTo>
                  <a:close/>
                  <a:moveTo>
                    <a:pt x="257" y="172"/>
                  </a:moveTo>
                  <a:lnTo>
                    <a:pt x="425" y="254"/>
                  </a:lnTo>
                  <a:lnTo>
                    <a:pt x="257" y="337"/>
                  </a:lnTo>
                  <a:lnTo>
                    <a:pt x="90" y="255"/>
                  </a:lnTo>
                  <a:close/>
                  <a:moveTo>
                    <a:pt x="744" y="579"/>
                  </a:moveTo>
                  <a:lnTo>
                    <a:pt x="744" y="441"/>
                  </a:lnTo>
                  <a:lnTo>
                    <a:pt x="884" y="509"/>
                  </a:lnTo>
                  <a:close/>
                  <a:moveTo>
                    <a:pt x="230" y="580"/>
                  </a:moveTo>
                  <a:lnTo>
                    <a:pt x="55" y="493"/>
                  </a:lnTo>
                  <a:lnTo>
                    <a:pt x="55" y="299"/>
                  </a:lnTo>
                  <a:lnTo>
                    <a:pt x="230" y="385"/>
                  </a:lnTo>
                  <a:close/>
                  <a:moveTo>
                    <a:pt x="689" y="324"/>
                  </a:moveTo>
                  <a:lnTo>
                    <a:pt x="550" y="254"/>
                  </a:lnTo>
                  <a:lnTo>
                    <a:pt x="689" y="185"/>
                  </a:lnTo>
                  <a:close/>
                  <a:moveTo>
                    <a:pt x="487" y="451"/>
                  </a:moveTo>
                  <a:lnTo>
                    <a:pt x="320" y="368"/>
                  </a:lnTo>
                  <a:lnTo>
                    <a:pt x="487" y="285"/>
                  </a:lnTo>
                  <a:lnTo>
                    <a:pt x="654" y="368"/>
                  </a:lnTo>
                  <a:close/>
                  <a:moveTo>
                    <a:pt x="515" y="499"/>
                  </a:moveTo>
                  <a:lnTo>
                    <a:pt x="689" y="412"/>
                  </a:lnTo>
                  <a:lnTo>
                    <a:pt x="689" y="606"/>
                  </a:lnTo>
                  <a:lnTo>
                    <a:pt x="515" y="693"/>
                  </a:lnTo>
                  <a:close/>
                  <a:moveTo>
                    <a:pt x="285" y="413"/>
                  </a:moveTo>
                  <a:lnTo>
                    <a:pt x="459" y="499"/>
                  </a:lnTo>
                  <a:lnTo>
                    <a:pt x="459" y="693"/>
                  </a:lnTo>
                  <a:lnTo>
                    <a:pt x="285" y="606"/>
                  </a:lnTo>
                  <a:close/>
                  <a:moveTo>
                    <a:pt x="487" y="59"/>
                  </a:moveTo>
                  <a:lnTo>
                    <a:pt x="654" y="141"/>
                  </a:lnTo>
                  <a:lnTo>
                    <a:pt x="487" y="224"/>
                  </a:lnTo>
                  <a:lnTo>
                    <a:pt x="320" y="141"/>
                  </a:lnTo>
                  <a:close/>
                  <a:moveTo>
                    <a:pt x="973" y="772"/>
                  </a:moveTo>
                  <a:cubicBezTo>
                    <a:pt x="974" y="770"/>
                    <a:pt x="974" y="768"/>
                    <a:pt x="974" y="765"/>
                  </a:cubicBezTo>
                  <a:lnTo>
                    <a:pt x="974" y="509"/>
                  </a:lnTo>
                  <a:lnTo>
                    <a:pt x="974" y="508"/>
                  </a:lnTo>
                  <a:lnTo>
                    <a:pt x="974" y="507"/>
                  </a:lnTo>
                  <a:lnTo>
                    <a:pt x="974" y="506"/>
                  </a:lnTo>
                  <a:lnTo>
                    <a:pt x="973" y="505"/>
                  </a:lnTo>
                  <a:cubicBezTo>
                    <a:pt x="973" y="504"/>
                    <a:pt x="973" y="504"/>
                    <a:pt x="973" y="503"/>
                  </a:cubicBezTo>
                  <a:cubicBezTo>
                    <a:pt x="973" y="502"/>
                    <a:pt x="973" y="502"/>
                    <a:pt x="973" y="502"/>
                  </a:cubicBezTo>
                  <a:cubicBezTo>
                    <a:pt x="973" y="502"/>
                    <a:pt x="973" y="501"/>
                    <a:pt x="972" y="501"/>
                  </a:cubicBezTo>
                  <a:lnTo>
                    <a:pt x="972" y="500"/>
                  </a:lnTo>
                  <a:lnTo>
                    <a:pt x="972" y="499"/>
                  </a:lnTo>
                  <a:lnTo>
                    <a:pt x="971" y="498"/>
                  </a:lnTo>
                  <a:lnTo>
                    <a:pt x="971" y="497"/>
                  </a:lnTo>
                  <a:cubicBezTo>
                    <a:pt x="971" y="497"/>
                    <a:pt x="971" y="496"/>
                    <a:pt x="970" y="496"/>
                  </a:cubicBezTo>
                  <a:lnTo>
                    <a:pt x="970" y="495"/>
                  </a:lnTo>
                  <a:lnTo>
                    <a:pt x="969" y="495"/>
                  </a:lnTo>
                  <a:cubicBezTo>
                    <a:pt x="969" y="494"/>
                    <a:pt x="969" y="494"/>
                    <a:pt x="969" y="494"/>
                  </a:cubicBezTo>
                  <a:cubicBezTo>
                    <a:pt x="969" y="493"/>
                    <a:pt x="969" y="493"/>
                    <a:pt x="968" y="493"/>
                  </a:cubicBezTo>
                  <a:lnTo>
                    <a:pt x="968" y="492"/>
                  </a:lnTo>
                  <a:lnTo>
                    <a:pt x="967" y="492"/>
                  </a:lnTo>
                  <a:cubicBezTo>
                    <a:pt x="967" y="491"/>
                    <a:pt x="967" y="491"/>
                    <a:pt x="967" y="491"/>
                  </a:cubicBezTo>
                  <a:cubicBezTo>
                    <a:pt x="966" y="491"/>
                    <a:pt x="966" y="490"/>
                    <a:pt x="966" y="490"/>
                  </a:cubicBezTo>
                  <a:cubicBezTo>
                    <a:pt x="965" y="489"/>
                    <a:pt x="965" y="489"/>
                    <a:pt x="965" y="489"/>
                  </a:cubicBezTo>
                  <a:cubicBezTo>
                    <a:pt x="964" y="489"/>
                    <a:pt x="964" y="489"/>
                    <a:pt x="964" y="488"/>
                  </a:cubicBezTo>
                  <a:cubicBezTo>
                    <a:pt x="963" y="488"/>
                    <a:pt x="963" y="487"/>
                    <a:pt x="962" y="487"/>
                  </a:cubicBezTo>
                  <a:cubicBezTo>
                    <a:pt x="962" y="487"/>
                    <a:pt x="961" y="487"/>
                    <a:pt x="961" y="486"/>
                  </a:cubicBezTo>
                  <a:lnTo>
                    <a:pt x="960" y="486"/>
                  </a:lnTo>
                  <a:lnTo>
                    <a:pt x="960" y="485"/>
                  </a:lnTo>
                  <a:cubicBezTo>
                    <a:pt x="959" y="485"/>
                    <a:pt x="959" y="485"/>
                    <a:pt x="959" y="485"/>
                  </a:cubicBezTo>
                  <a:lnTo>
                    <a:pt x="958" y="485"/>
                  </a:lnTo>
                  <a:lnTo>
                    <a:pt x="744" y="379"/>
                  </a:lnTo>
                  <a:lnTo>
                    <a:pt x="744" y="141"/>
                  </a:lnTo>
                  <a:lnTo>
                    <a:pt x="744" y="140"/>
                  </a:lnTo>
                  <a:cubicBezTo>
                    <a:pt x="744" y="139"/>
                    <a:pt x="744" y="139"/>
                    <a:pt x="744" y="139"/>
                  </a:cubicBezTo>
                  <a:cubicBezTo>
                    <a:pt x="744" y="138"/>
                    <a:pt x="744" y="138"/>
                    <a:pt x="744" y="138"/>
                  </a:cubicBezTo>
                  <a:cubicBezTo>
                    <a:pt x="744" y="137"/>
                    <a:pt x="744" y="137"/>
                    <a:pt x="744" y="137"/>
                  </a:cubicBezTo>
                  <a:lnTo>
                    <a:pt x="744" y="136"/>
                  </a:lnTo>
                  <a:lnTo>
                    <a:pt x="744" y="135"/>
                  </a:lnTo>
                  <a:lnTo>
                    <a:pt x="743" y="134"/>
                  </a:lnTo>
                  <a:lnTo>
                    <a:pt x="743" y="133"/>
                  </a:lnTo>
                  <a:lnTo>
                    <a:pt x="743" y="132"/>
                  </a:lnTo>
                  <a:cubicBezTo>
                    <a:pt x="742" y="131"/>
                    <a:pt x="742" y="131"/>
                    <a:pt x="742" y="131"/>
                  </a:cubicBezTo>
                  <a:lnTo>
                    <a:pt x="742" y="130"/>
                  </a:lnTo>
                  <a:lnTo>
                    <a:pt x="742" y="129"/>
                  </a:lnTo>
                  <a:cubicBezTo>
                    <a:pt x="741" y="129"/>
                    <a:pt x="741" y="129"/>
                    <a:pt x="741" y="129"/>
                  </a:cubicBezTo>
                  <a:lnTo>
                    <a:pt x="741" y="128"/>
                  </a:lnTo>
                  <a:lnTo>
                    <a:pt x="741" y="127"/>
                  </a:lnTo>
                  <a:lnTo>
                    <a:pt x="740" y="127"/>
                  </a:lnTo>
                  <a:cubicBezTo>
                    <a:pt x="740" y="126"/>
                    <a:pt x="740" y="126"/>
                    <a:pt x="740" y="126"/>
                  </a:cubicBezTo>
                  <a:cubicBezTo>
                    <a:pt x="740" y="126"/>
                    <a:pt x="740" y="125"/>
                    <a:pt x="739" y="125"/>
                  </a:cubicBezTo>
                  <a:lnTo>
                    <a:pt x="739" y="124"/>
                  </a:lnTo>
                  <a:lnTo>
                    <a:pt x="738" y="124"/>
                  </a:lnTo>
                  <a:lnTo>
                    <a:pt x="738" y="123"/>
                  </a:lnTo>
                  <a:cubicBezTo>
                    <a:pt x="738" y="123"/>
                    <a:pt x="737" y="123"/>
                    <a:pt x="737" y="122"/>
                  </a:cubicBezTo>
                  <a:lnTo>
                    <a:pt x="736" y="122"/>
                  </a:lnTo>
                  <a:lnTo>
                    <a:pt x="736" y="121"/>
                  </a:lnTo>
                  <a:cubicBezTo>
                    <a:pt x="736" y="121"/>
                    <a:pt x="735" y="121"/>
                    <a:pt x="735" y="120"/>
                  </a:cubicBezTo>
                  <a:cubicBezTo>
                    <a:pt x="734" y="120"/>
                    <a:pt x="734" y="120"/>
                    <a:pt x="734" y="119"/>
                  </a:cubicBezTo>
                  <a:lnTo>
                    <a:pt x="733" y="119"/>
                  </a:lnTo>
                  <a:cubicBezTo>
                    <a:pt x="733" y="119"/>
                    <a:pt x="733" y="118"/>
                    <a:pt x="732" y="118"/>
                  </a:cubicBezTo>
                  <a:cubicBezTo>
                    <a:pt x="731" y="118"/>
                    <a:pt x="731" y="117"/>
                    <a:pt x="731" y="117"/>
                  </a:cubicBezTo>
                  <a:lnTo>
                    <a:pt x="730" y="117"/>
                  </a:lnTo>
                  <a:lnTo>
                    <a:pt x="729" y="116"/>
                  </a:lnTo>
                  <a:lnTo>
                    <a:pt x="502" y="4"/>
                  </a:lnTo>
                  <a:cubicBezTo>
                    <a:pt x="494" y="-1"/>
                    <a:pt x="484" y="-1"/>
                    <a:pt x="475" y="3"/>
                  </a:cubicBezTo>
                  <a:lnTo>
                    <a:pt x="247" y="116"/>
                  </a:lnTo>
                  <a:cubicBezTo>
                    <a:pt x="246" y="116"/>
                    <a:pt x="246" y="116"/>
                    <a:pt x="246" y="116"/>
                  </a:cubicBezTo>
                  <a:lnTo>
                    <a:pt x="16" y="230"/>
                  </a:lnTo>
                  <a:cubicBezTo>
                    <a:pt x="15" y="230"/>
                    <a:pt x="15" y="230"/>
                    <a:pt x="15" y="230"/>
                  </a:cubicBezTo>
                  <a:lnTo>
                    <a:pt x="14" y="230"/>
                  </a:lnTo>
                  <a:cubicBezTo>
                    <a:pt x="14" y="231"/>
                    <a:pt x="14" y="231"/>
                    <a:pt x="14" y="231"/>
                  </a:cubicBezTo>
                  <a:cubicBezTo>
                    <a:pt x="13" y="231"/>
                    <a:pt x="13" y="231"/>
                    <a:pt x="13" y="232"/>
                  </a:cubicBezTo>
                  <a:cubicBezTo>
                    <a:pt x="12" y="232"/>
                    <a:pt x="12" y="232"/>
                    <a:pt x="12" y="232"/>
                  </a:cubicBezTo>
                  <a:cubicBezTo>
                    <a:pt x="11" y="233"/>
                    <a:pt x="11" y="233"/>
                    <a:pt x="10" y="233"/>
                  </a:cubicBezTo>
                  <a:cubicBezTo>
                    <a:pt x="10" y="234"/>
                    <a:pt x="10" y="234"/>
                    <a:pt x="10" y="234"/>
                  </a:cubicBezTo>
                  <a:cubicBezTo>
                    <a:pt x="9" y="234"/>
                    <a:pt x="9" y="235"/>
                    <a:pt x="8" y="235"/>
                  </a:cubicBezTo>
                  <a:lnTo>
                    <a:pt x="8" y="236"/>
                  </a:lnTo>
                  <a:cubicBezTo>
                    <a:pt x="7" y="236"/>
                    <a:pt x="7" y="237"/>
                    <a:pt x="7" y="237"/>
                  </a:cubicBezTo>
                  <a:lnTo>
                    <a:pt x="6" y="237"/>
                  </a:lnTo>
                  <a:lnTo>
                    <a:pt x="6" y="238"/>
                  </a:lnTo>
                  <a:lnTo>
                    <a:pt x="5" y="239"/>
                  </a:lnTo>
                  <a:lnTo>
                    <a:pt x="5" y="240"/>
                  </a:lnTo>
                  <a:lnTo>
                    <a:pt x="4" y="240"/>
                  </a:lnTo>
                  <a:lnTo>
                    <a:pt x="4" y="241"/>
                  </a:lnTo>
                  <a:lnTo>
                    <a:pt x="3" y="242"/>
                  </a:lnTo>
                  <a:lnTo>
                    <a:pt x="3" y="243"/>
                  </a:lnTo>
                  <a:lnTo>
                    <a:pt x="3" y="244"/>
                  </a:lnTo>
                  <a:cubicBezTo>
                    <a:pt x="2" y="244"/>
                    <a:pt x="2" y="244"/>
                    <a:pt x="2" y="245"/>
                  </a:cubicBezTo>
                  <a:lnTo>
                    <a:pt x="2" y="246"/>
                  </a:lnTo>
                  <a:cubicBezTo>
                    <a:pt x="1" y="246"/>
                    <a:pt x="1" y="247"/>
                    <a:pt x="1" y="247"/>
                  </a:cubicBezTo>
                  <a:lnTo>
                    <a:pt x="1" y="248"/>
                  </a:lnTo>
                  <a:lnTo>
                    <a:pt x="1" y="249"/>
                  </a:lnTo>
                  <a:lnTo>
                    <a:pt x="1" y="250"/>
                  </a:lnTo>
                  <a:lnTo>
                    <a:pt x="1" y="251"/>
                  </a:lnTo>
                  <a:lnTo>
                    <a:pt x="0" y="251"/>
                  </a:lnTo>
                  <a:cubicBezTo>
                    <a:pt x="0" y="252"/>
                    <a:pt x="0" y="252"/>
                    <a:pt x="0" y="252"/>
                  </a:cubicBezTo>
                  <a:cubicBezTo>
                    <a:pt x="0" y="253"/>
                    <a:pt x="0" y="253"/>
                    <a:pt x="0" y="253"/>
                  </a:cubicBezTo>
                  <a:cubicBezTo>
                    <a:pt x="0" y="254"/>
                    <a:pt x="0" y="254"/>
                    <a:pt x="0" y="254"/>
                  </a:cubicBezTo>
                  <a:lnTo>
                    <a:pt x="0" y="255"/>
                  </a:lnTo>
                  <a:lnTo>
                    <a:pt x="0" y="511"/>
                  </a:lnTo>
                  <a:lnTo>
                    <a:pt x="0" y="512"/>
                  </a:lnTo>
                  <a:lnTo>
                    <a:pt x="0" y="767"/>
                  </a:lnTo>
                  <a:cubicBezTo>
                    <a:pt x="0" y="768"/>
                    <a:pt x="0" y="768"/>
                    <a:pt x="0" y="769"/>
                  </a:cubicBezTo>
                  <a:lnTo>
                    <a:pt x="1" y="770"/>
                  </a:lnTo>
                  <a:lnTo>
                    <a:pt x="1" y="771"/>
                  </a:lnTo>
                  <a:cubicBezTo>
                    <a:pt x="1" y="772"/>
                    <a:pt x="1" y="772"/>
                    <a:pt x="1" y="773"/>
                  </a:cubicBezTo>
                  <a:lnTo>
                    <a:pt x="1" y="774"/>
                  </a:lnTo>
                  <a:lnTo>
                    <a:pt x="2" y="775"/>
                  </a:lnTo>
                  <a:cubicBezTo>
                    <a:pt x="2" y="776"/>
                    <a:pt x="2" y="776"/>
                    <a:pt x="2" y="776"/>
                  </a:cubicBezTo>
                  <a:cubicBezTo>
                    <a:pt x="2" y="777"/>
                    <a:pt x="2" y="777"/>
                    <a:pt x="3" y="778"/>
                  </a:cubicBezTo>
                  <a:lnTo>
                    <a:pt x="3" y="779"/>
                  </a:lnTo>
                  <a:lnTo>
                    <a:pt x="4" y="780"/>
                  </a:lnTo>
                  <a:cubicBezTo>
                    <a:pt x="4" y="780"/>
                    <a:pt x="4" y="781"/>
                    <a:pt x="5" y="781"/>
                  </a:cubicBezTo>
                  <a:cubicBezTo>
                    <a:pt x="5" y="782"/>
                    <a:pt x="5" y="782"/>
                    <a:pt x="5" y="782"/>
                  </a:cubicBezTo>
                  <a:cubicBezTo>
                    <a:pt x="5" y="783"/>
                    <a:pt x="6" y="783"/>
                    <a:pt x="6" y="783"/>
                  </a:cubicBezTo>
                  <a:cubicBezTo>
                    <a:pt x="6" y="784"/>
                    <a:pt x="7" y="784"/>
                    <a:pt x="7" y="784"/>
                  </a:cubicBezTo>
                  <a:cubicBezTo>
                    <a:pt x="7" y="785"/>
                    <a:pt x="8" y="785"/>
                    <a:pt x="8" y="786"/>
                  </a:cubicBezTo>
                  <a:lnTo>
                    <a:pt x="9" y="786"/>
                  </a:lnTo>
                  <a:cubicBezTo>
                    <a:pt x="9" y="787"/>
                    <a:pt x="9" y="787"/>
                    <a:pt x="10" y="787"/>
                  </a:cubicBezTo>
                  <a:cubicBezTo>
                    <a:pt x="10" y="788"/>
                    <a:pt x="10" y="788"/>
                    <a:pt x="11" y="788"/>
                  </a:cubicBezTo>
                  <a:cubicBezTo>
                    <a:pt x="11" y="788"/>
                    <a:pt x="11" y="789"/>
                    <a:pt x="12" y="789"/>
                  </a:cubicBezTo>
                  <a:cubicBezTo>
                    <a:pt x="12" y="789"/>
                    <a:pt x="12" y="790"/>
                    <a:pt x="13" y="790"/>
                  </a:cubicBezTo>
                  <a:lnTo>
                    <a:pt x="14" y="790"/>
                  </a:lnTo>
                  <a:cubicBezTo>
                    <a:pt x="14" y="791"/>
                    <a:pt x="15" y="791"/>
                    <a:pt x="15" y="791"/>
                  </a:cubicBezTo>
                  <a:lnTo>
                    <a:pt x="16" y="791"/>
                  </a:lnTo>
                  <a:lnTo>
                    <a:pt x="245" y="905"/>
                  </a:lnTo>
                  <a:lnTo>
                    <a:pt x="246" y="905"/>
                  </a:lnTo>
                  <a:cubicBezTo>
                    <a:pt x="246" y="905"/>
                    <a:pt x="247" y="906"/>
                    <a:pt x="248" y="906"/>
                  </a:cubicBezTo>
                  <a:lnTo>
                    <a:pt x="249" y="906"/>
                  </a:lnTo>
                  <a:lnTo>
                    <a:pt x="250" y="906"/>
                  </a:lnTo>
                  <a:lnTo>
                    <a:pt x="475" y="1018"/>
                  </a:lnTo>
                  <a:cubicBezTo>
                    <a:pt x="476" y="1018"/>
                    <a:pt x="476" y="1018"/>
                    <a:pt x="476" y="1018"/>
                  </a:cubicBezTo>
                  <a:cubicBezTo>
                    <a:pt x="477" y="1018"/>
                    <a:pt x="477" y="1018"/>
                    <a:pt x="477" y="1019"/>
                  </a:cubicBezTo>
                  <a:lnTo>
                    <a:pt x="478" y="1019"/>
                  </a:lnTo>
                  <a:cubicBezTo>
                    <a:pt x="479" y="1019"/>
                    <a:pt x="479" y="1019"/>
                    <a:pt x="479" y="1019"/>
                  </a:cubicBezTo>
                  <a:cubicBezTo>
                    <a:pt x="480" y="1020"/>
                    <a:pt x="480" y="1020"/>
                    <a:pt x="481" y="1020"/>
                  </a:cubicBezTo>
                  <a:cubicBezTo>
                    <a:pt x="482" y="1020"/>
                    <a:pt x="482" y="1020"/>
                    <a:pt x="482" y="1020"/>
                  </a:cubicBezTo>
                  <a:cubicBezTo>
                    <a:pt x="483" y="1020"/>
                    <a:pt x="483" y="1020"/>
                    <a:pt x="484" y="1020"/>
                  </a:cubicBezTo>
                  <a:cubicBezTo>
                    <a:pt x="484" y="1021"/>
                    <a:pt x="484" y="1021"/>
                    <a:pt x="485" y="1021"/>
                  </a:cubicBezTo>
                  <a:cubicBezTo>
                    <a:pt x="485" y="1021"/>
                    <a:pt x="486" y="1021"/>
                    <a:pt x="487" y="1021"/>
                  </a:cubicBezTo>
                  <a:cubicBezTo>
                    <a:pt x="488" y="1021"/>
                    <a:pt x="489" y="1021"/>
                    <a:pt x="490" y="1021"/>
                  </a:cubicBezTo>
                  <a:lnTo>
                    <a:pt x="490" y="1020"/>
                  </a:lnTo>
                  <a:lnTo>
                    <a:pt x="491" y="1020"/>
                  </a:lnTo>
                  <a:lnTo>
                    <a:pt x="492" y="1020"/>
                  </a:lnTo>
                  <a:cubicBezTo>
                    <a:pt x="493" y="1020"/>
                    <a:pt x="493" y="1020"/>
                    <a:pt x="493" y="1020"/>
                  </a:cubicBezTo>
                  <a:lnTo>
                    <a:pt x="494" y="1020"/>
                  </a:lnTo>
                  <a:cubicBezTo>
                    <a:pt x="494" y="1020"/>
                    <a:pt x="495" y="1020"/>
                    <a:pt x="495" y="1019"/>
                  </a:cubicBezTo>
                  <a:lnTo>
                    <a:pt x="496" y="1019"/>
                  </a:lnTo>
                  <a:cubicBezTo>
                    <a:pt x="497" y="1019"/>
                    <a:pt x="497" y="1019"/>
                    <a:pt x="497" y="1019"/>
                  </a:cubicBezTo>
                  <a:cubicBezTo>
                    <a:pt x="498" y="1018"/>
                    <a:pt x="498" y="1018"/>
                    <a:pt x="498" y="1018"/>
                  </a:cubicBezTo>
                  <a:lnTo>
                    <a:pt x="499" y="1018"/>
                  </a:lnTo>
                  <a:lnTo>
                    <a:pt x="729" y="904"/>
                  </a:lnTo>
                  <a:cubicBezTo>
                    <a:pt x="730" y="904"/>
                    <a:pt x="732" y="903"/>
                    <a:pt x="733" y="902"/>
                  </a:cubicBezTo>
                  <a:lnTo>
                    <a:pt x="958" y="791"/>
                  </a:lnTo>
                  <a:cubicBezTo>
                    <a:pt x="966" y="787"/>
                    <a:pt x="970" y="781"/>
                    <a:pt x="973" y="774"/>
                  </a:cubicBezTo>
                  <a:cubicBezTo>
                    <a:pt x="973" y="773"/>
                    <a:pt x="973" y="773"/>
                    <a:pt x="973" y="77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8FFDE86-D1B0-5345-F827-2B8E09BE6342}"/>
              </a:ext>
            </a:extLst>
          </p:cNvPr>
          <p:cNvSpPr txBox="1"/>
          <p:nvPr/>
        </p:nvSpPr>
        <p:spPr>
          <a:xfrm>
            <a:off x="21722649" y="13096764"/>
            <a:ext cx="2655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Shravani Bhosale</a:t>
            </a:r>
          </a:p>
        </p:txBody>
      </p:sp>
    </p:spTree>
    <p:extLst>
      <p:ext uri="{BB962C8B-B14F-4D97-AF65-F5344CB8AC3E}">
        <p14:creationId xmlns:p14="http://schemas.microsoft.com/office/powerpoint/2010/main" val="359002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1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ADD8E3-8414-514E-9C2F-1405D13389AD}"/>
              </a:ext>
            </a:extLst>
          </p:cNvPr>
          <p:cNvSpPr/>
          <p:nvPr/>
        </p:nvSpPr>
        <p:spPr>
          <a:xfrm rot="10800000" flipV="1">
            <a:off x="0" y="1"/>
            <a:ext cx="24377653" cy="13716000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71000">
                <a:schemeClr val="accent3">
                  <a:alpha val="80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903787A-35FA-A94C-B53E-10CAAC54A10C}"/>
              </a:ext>
            </a:extLst>
          </p:cNvPr>
          <p:cNvSpPr txBox="1">
            <a:spLocks/>
          </p:cNvSpPr>
          <p:nvPr/>
        </p:nvSpPr>
        <p:spPr>
          <a:xfrm>
            <a:off x="8645347" y="6497062"/>
            <a:ext cx="7086949" cy="770992"/>
          </a:xfrm>
          <a:prstGeom prst="rect">
            <a:avLst/>
          </a:prstGeom>
        </p:spPr>
        <p:txBody>
          <a:bodyPr vert="horz" wrap="square" lIns="217433" tIns="108718" rIns="217433" bIns="108718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299"/>
              </a:lnSpc>
            </a:pPr>
            <a:r>
              <a:rPr lang="en-US" sz="4800" dirty="0">
                <a:solidFill>
                  <a:schemeClr val="tx1"/>
                </a:solidFill>
                <a:latin typeface="Montserrat Light" pitchFamily="2" charset="77"/>
                <a:ea typeface="Roboto Light" panose="02000000000000000000" pitchFamily="2" charset="0"/>
                <a:cs typeface="Lato Light" panose="020F0502020204030203" pitchFamily="34" charset="0"/>
              </a:rPr>
              <a:t>Thankyou All</a:t>
            </a:r>
          </a:p>
        </p:txBody>
      </p:sp>
    </p:spTree>
    <p:extLst>
      <p:ext uri="{BB962C8B-B14F-4D97-AF65-F5344CB8AC3E}">
        <p14:creationId xmlns:p14="http://schemas.microsoft.com/office/powerpoint/2010/main" val="1724304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SQ - Element Dark">
      <a:dk1>
        <a:srgbClr val="FFFFFF"/>
      </a:dk1>
      <a:lt1>
        <a:srgbClr val="FFFFFF"/>
      </a:lt1>
      <a:dk2>
        <a:srgbClr val="FFFFFF"/>
      </a:dk2>
      <a:lt2>
        <a:srgbClr val="363D48"/>
      </a:lt2>
      <a:accent1>
        <a:srgbClr val="3F85FC"/>
      </a:accent1>
      <a:accent2>
        <a:srgbClr val="796BE8"/>
      </a:accent2>
      <a:accent3>
        <a:srgbClr val="663BB2"/>
      </a:accent3>
      <a:accent4>
        <a:srgbClr val="3F85FC"/>
      </a:accent4>
      <a:accent5>
        <a:srgbClr val="796BE8"/>
      </a:accent5>
      <a:accent6>
        <a:srgbClr val="663BB2"/>
      </a:accent6>
      <a:hlink>
        <a:srgbClr val="1E9272"/>
      </a:hlink>
      <a:folHlink>
        <a:srgbClr val="AC2624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91082</TotalTime>
  <Words>617</Words>
  <Application>Microsoft Office PowerPoint</Application>
  <PresentationFormat>Custom</PresentationFormat>
  <Paragraphs>110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Calibri Light</vt:lpstr>
      <vt:lpstr>Montserrat</vt:lpstr>
      <vt:lpstr>Montserrat Alternates Medium</vt:lpstr>
      <vt:lpstr>Montserrat Alternates Thin</vt:lpstr>
      <vt:lpstr>Montserrat Light</vt:lpstr>
      <vt:lpstr>Montserrat Medium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Divakar P</cp:lastModifiedBy>
  <cp:revision>16459</cp:revision>
  <dcterms:created xsi:type="dcterms:W3CDTF">2014-11-12T21:47:38Z</dcterms:created>
  <dcterms:modified xsi:type="dcterms:W3CDTF">2025-09-02T02:09:26Z</dcterms:modified>
  <cp:category/>
</cp:coreProperties>
</file>