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notesMasterIdLst>
    <p:notesMasterId r:id="rId10"/>
  </p:notesMasterIdLst>
  <p:sldIdLst>
    <p:sldId id="4412" r:id="rId2"/>
    <p:sldId id="4288" r:id="rId3"/>
    <p:sldId id="4414" r:id="rId4"/>
    <p:sldId id="4403" r:id="rId5"/>
    <p:sldId id="4431" r:id="rId6"/>
    <p:sldId id="4418" r:id="rId7"/>
    <p:sldId id="4425" r:id="rId8"/>
    <p:sldId id="4405" r:id="rId9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71"/>
    <a:srgbClr val="FFFFFF"/>
    <a:srgbClr val="445469"/>
    <a:srgbClr val="375B8A"/>
    <a:srgbClr val="EFF1F8"/>
    <a:srgbClr val="F2F2F2"/>
    <a:srgbClr val="373737"/>
    <a:srgbClr val="000000"/>
    <a:srgbClr val="5A5A66"/>
    <a:srgbClr val="6261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5763" autoAdjust="0"/>
  </p:normalViewPr>
  <p:slideViewPr>
    <p:cSldViewPr snapToGrid="0" snapToObjects="1">
      <p:cViewPr varScale="1">
        <p:scale>
          <a:sx n="56" d="100"/>
          <a:sy n="56" d="100"/>
        </p:scale>
        <p:origin x="306" y="9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A232150-BF59-1F46-AA4B-2E93E5FCE9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-261256"/>
            <a:ext cx="24930938" cy="1423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A232150-BF59-1F46-AA4B-2E93E5FCE9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-261256"/>
            <a:ext cx="9057398" cy="1423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50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A232150-BF59-1F46-AA4B-2E93E5FCE9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88824" y="-261255"/>
            <a:ext cx="12499975" cy="1423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2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A232150-BF59-1F46-AA4B-2E93E5FCE9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75709" y="-261255"/>
            <a:ext cx="15136799" cy="1423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3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A232150-BF59-1F46-AA4B-2E93E5FCE9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75709" y="-261255"/>
            <a:ext cx="6370109" cy="1423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7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A232150-BF59-1F46-AA4B-2E93E5FCE9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17651" y="1691508"/>
            <a:ext cx="10332983" cy="103329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45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22369BA-5730-3E45-98D4-8D41A5D721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53385" y="5049038"/>
            <a:ext cx="6670876" cy="4256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45B8A37B-EDE3-CB4B-B8D3-165FDAD8DE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042820" y="5049037"/>
            <a:ext cx="6670876" cy="4256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A232150-BF59-1F46-AA4B-2E93E5FCE9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63950" y="5049038"/>
            <a:ext cx="6670876" cy="4256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13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22369BA-5730-3E45-98D4-8D41A5D721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383248" y="-335762"/>
            <a:ext cx="6271685" cy="144242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21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22369BA-5730-3E45-98D4-8D41A5D721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72532" y="-335762"/>
            <a:ext cx="25027466" cy="95439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31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22369BA-5730-3E45-98D4-8D41A5D721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188826" y="-335762"/>
            <a:ext cx="12466107" cy="144581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97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1D2B881-47A0-064B-8DEB-F6600590062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421" y="5882754"/>
            <a:ext cx="6119127" cy="611911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12C82A0D-EA5C-6F49-AF54-B655AC47F8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25142" y="6756823"/>
            <a:ext cx="4337398" cy="433738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993035F9-AD67-664D-9F85-A7F49DC5E5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175034" y="6786782"/>
            <a:ext cx="4337398" cy="433738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344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071EAB6-9F9A-FC48-8E49-5489F8F4BD1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72532" y="-335762"/>
            <a:ext cx="25027466" cy="109170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5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  <p:sldLayoutId id="2147483988" r:id="rId12"/>
    <p:sldLayoutId id="2147483989" r:id="rId13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6B5E956-B85B-2D4B-AC53-FC1428E2829F}"/>
              </a:ext>
            </a:extLst>
          </p:cNvPr>
          <p:cNvSpPr/>
          <p:nvPr/>
        </p:nvSpPr>
        <p:spPr>
          <a:xfrm rot="10800000" flipV="1">
            <a:off x="0" y="-7"/>
            <a:ext cx="24377650" cy="1371600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33BA67-E0AF-4F45-AC59-548701C43E31}"/>
              </a:ext>
            </a:extLst>
          </p:cNvPr>
          <p:cNvSpPr/>
          <p:nvPr/>
        </p:nvSpPr>
        <p:spPr>
          <a:xfrm rot="10800000" flipV="1">
            <a:off x="0" y="12357787"/>
            <a:ext cx="24377646" cy="2380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E9F80DB8-54D5-F049-945C-A046008DF263}"/>
              </a:ext>
            </a:extLst>
          </p:cNvPr>
          <p:cNvSpPr txBox="1">
            <a:spLocks/>
          </p:cNvSpPr>
          <p:nvPr/>
        </p:nvSpPr>
        <p:spPr>
          <a:xfrm>
            <a:off x="18495034" y="11212345"/>
            <a:ext cx="4834609" cy="773557"/>
          </a:xfrm>
          <a:prstGeom prst="rect">
            <a:avLst/>
          </a:prstGeom>
        </p:spPr>
        <p:txBody>
          <a:bodyPr vert="horz" wrap="square" lIns="217433" tIns="108718" rIns="217433" bIns="108718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Divakar’s Presentation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CDEC56-A906-794E-9B05-FA128ECEF634}"/>
              </a:ext>
            </a:extLst>
          </p:cNvPr>
          <p:cNvSpPr txBox="1"/>
          <p:nvPr/>
        </p:nvSpPr>
        <p:spPr>
          <a:xfrm>
            <a:off x="5727728" y="6073166"/>
            <a:ext cx="14166784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9600" b="1" spc="10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Montserrat SemiBold" pitchFamily="2" charset="77"/>
                <a:ea typeface="Roboto Medium" panose="02000000000000000000" pitchFamily="2" charset="0"/>
                <a:cs typeface="Lato Light" panose="020F0502020204030203" pitchFamily="34" charset="0"/>
              </a:rPr>
              <a:t>DATA MODELLING</a:t>
            </a: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238FE81F-19A3-02F2-0840-F9A6B9ADEB9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185" y="4987057"/>
            <a:ext cx="3467905" cy="37418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8896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FAFD5D7-B679-654D-8F39-A7A6F986ECF8}"/>
              </a:ext>
            </a:extLst>
          </p:cNvPr>
          <p:cNvSpPr/>
          <p:nvPr/>
        </p:nvSpPr>
        <p:spPr>
          <a:xfrm rot="10800000" flipV="1">
            <a:off x="-1" y="0"/>
            <a:ext cx="24377649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1F3B01-F7E4-524A-87C4-714FC5B41C51}"/>
              </a:ext>
            </a:extLst>
          </p:cNvPr>
          <p:cNvSpPr txBox="1"/>
          <p:nvPr/>
        </p:nvSpPr>
        <p:spPr>
          <a:xfrm>
            <a:off x="1403246" y="4286067"/>
            <a:ext cx="8292919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Data </a:t>
            </a:r>
          </a:p>
          <a:p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Modelling</a:t>
            </a:r>
          </a:p>
          <a:p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In Power Bi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DB56D05-299E-EF4C-BA5F-03CDEFF74FBC}"/>
              </a:ext>
            </a:extLst>
          </p:cNvPr>
          <p:cNvGrpSpPr/>
          <p:nvPr/>
        </p:nvGrpSpPr>
        <p:grpSpPr>
          <a:xfrm>
            <a:off x="11144183" y="2657329"/>
            <a:ext cx="11785447" cy="8036440"/>
            <a:chOff x="10994667" y="1844356"/>
            <a:chExt cx="11785447" cy="803644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79F3B1E-EC71-444C-B15C-680E9450BD7B}"/>
                </a:ext>
              </a:extLst>
            </p:cNvPr>
            <p:cNvGrpSpPr/>
            <p:nvPr/>
          </p:nvGrpSpPr>
          <p:grpSpPr>
            <a:xfrm>
              <a:off x="10994667" y="1844356"/>
              <a:ext cx="11785445" cy="2035441"/>
              <a:chOff x="2842069" y="10269134"/>
              <a:chExt cx="11785445" cy="2035441"/>
            </a:xfrm>
          </p:grpSpPr>
          <p:sp>
            <p:nvSpPr>
              <p:cNvPr id="55" name="Subtitle 2">
                <a:extLst>
                  <a:ext uri="{FF2B5EF4-FFF2-40B4-BE49-F238E27FC236}">
                    <a16:creationId xmlns:a16="http://schemas.microsoft.com/office/drawing/2014/main" id="{B20A75A9-D906-9E40-A8BE-AEEC3C2602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42069" y="10977020"/>
                <a:ext cx="11785445" cy="1327555"/>
              </a:xfrm>
              <a:prstGeom prst="rect">
                <a:avLst/>
              </a:prstGeom>
            </p:spPr>
            <p:txBody>
              <a:bodyPr vert="horz" wrap="square" lIns="217433" tIns="108718" rIns="217433" bIns="108718" rtlCol="0">
                <a:spAutoFit/>
              </a:bodyPr>
              <a:lstStyle>
                <a:lvl1pPr marL="0" indent="0" algn="ctr" defTabSz="1087636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/>
                  <a:buNone/>
                  <a:defRPr sz="2400" kern="1200">
                    <a:solidFill>
                      <a:schemeClr val="tx2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1087636" indent="0" algn="ctr" defTabSz="1087636" rtl="0" eaLnBrk="1" latinLnBrk="0" hangingPunct="1">
                  <a:lnSpc>
                    <a:spcPct val="130000"/>
                  </a:lnSpc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Open Sans"/>
                    <a:ea typeface="+mn-ea"/>
                    <a:cs typeface="Open Sans"/>
                  </a:defRPr>
                </a:lvl2pPr>
                <a:lvl3pPr marL="2175271" indent="0" algn="ctr" defTabSz="1087636" rtl="0" eaLnBrk="1" latinLnBrk="0" hangingPunct="1">
                  <a:lnSpc>
                    <a:spcPct val="130000"/>
                  </a:lnSpc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Open Sans"/>
                    <a:ea typeface="+mn-ea"/>
                    <a:cs typeface="Open Sans"/>
                  </a:defRPr>
                </a:lvl3pPr>
                <a:lvl4pPr marL="3262912" indent="0" algn="ctr" defTabSz="1087636" rtl="0" eaLnBrk="1" latinLnBrk="0" hangingPunct="1">
                  <a:lnSpc>
                    <a:spcPct val="130000"/>
                  </a:lnSpc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Open Sans"/>
                    <a:ea typeface="+mn-ea"/>
                    <a:cs typeface="Open Sans"/>
                  </a:defRPr>
                </a:lvl4pPr>
                <a:lvl5pPr marL="4350546" indent="0" algn="ctr" defTabSz="1087636" rtl="0" eaLnBrk="1" latinLnBrk="0" hangingPunct="1">
                  <a:lnSpc>
                    <a:spcPct val="130000"/>
                  </a:lnSpc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Open Sans"/>
                    <a:ea typeface="+mn-ea"/>
                    <a:cs typeface="Open Sans"/>
                  </a:defRPr>
                </a:lvl5pPr>
                <a:lvl6pPr marL="5438184" indent="0" algn="ctr" defTabSz="1087636" rtl="0" eaLnBrk="1" latinLnBrk="0" hangingPunct="1">
                  <a:spcBef>
                    <a:spcPct val="20000"/>
                  </a:spcBef>
                  <a:buFont typeface="Arial"/>
                  <a:buNone/>
                  <a:defRPr sz="4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6525820" indent="0" algn="ctr" defTabSz="1087636" rtl="0" eaLnBrk="1" latinLnBrk="0" hangingPunct="1">
                  <a:spcBef>
                    <a:spcPct val="20000"/>
                  </a:spcBef>
                  <a:buFont typeface="Arial"/>
                  <a:buNone/>
                  <a:defRPr sz="4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7613455" indent="0" algn="ctr" defTabSz="1087636" rtl="0" eaLnBrk="1" latinLnBrk="0" hangingPunct="1">
                  <a:spcBef>
                    <a:spcPct val="20000"/>
                  </a:spcBef>
                  <a:buFont typeface="Arial"/>
                  <a:buNone/>
                  <a:defRPr sz="4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8701091" indent="0" algn="ctr" defTabSz="1087636" rtl="0" eaLnBrk="1" latinLnBrk="0" hangingPunct="1">
                  <a:spcBef>
                    <a:spcPct val="20000"/>
                  </a:spcBef>
                  <a:buFont typeface="Arial"/>
                  <a:buNone/>
                  <a:defRPr sz="4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en-GB" sz="3600" dirty="0">
                    <a:solidFill>
                      <a:schemeClr val="bg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Power BI is a powerful data visualization and business intelligence tool.</a:t>
                </a:r>
                <a:endPara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3A7129A-2CD4-7140-94BA-0F1B6FB1F1C9}"/>
                  </a:ext>
                </a:extLst>
              </p:cNvPr>
              <p:cNvSpPr/>
              <p:nvPr/>
            </p:nvSpPr>
            <p:spPr>
              <a:xfrm>
                <a:off x="2842071" y="10269134"/>
                <a:ext cx="518268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  <a:latin typeface="Montserrat SemiBold" pitchFamily="2" charset="77"/>
                    <a:ea typeface="Roboto" panose="02000000000000000000" pitchFamily="2" charset="0"/>
                    <a:cs typeface="Lato Light" panose="020F0502020204030203" pitchFamily="34" charset="0"/>
                  </a:rPr>
                  <a:t>Power Bi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70C1F39-9B9F-7A48-BE65-D39F90A375A9}"/>
                </a:ext>
              </a:extLst>
            </p:cNvPr>
            <p:cNvGrpSpPr/>
            <p:nvPr/>
          </p:nvGrpSpPr>
          <p:grpSpPr>
            <a:xfrm>
              <a:off x="10994668" y="4604238"/>
              <a:ext cx="11785445" cy="2589439"/>
              <a:chOff x="2842070" y="10269134"/>
              <a:chExt cx="11785445" cy="2589439"/>
            </a:xfrm>
          </p:grpSpPr>
          <p:sp>
            <p:nvSpPr>
              <p:cNvPr id="76" name="Subtitle 2">
                <a:extLst>
                  <a:ext uri="{FF2B5EF4-FFF2-40B4-BE49-F238E27FC236}">
                    <a16:creationId xmlns:a16="http://schemas.microsoft.com/office/drawing/2014/main" id="{F8B0ADB4-800D-344C-9EC8-D9C6F6DC37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42070" y="10977020"/>
                <a:ext cx="11785445" cy="1881553"/>
              </a:xfrm>
              <a:prstGeom prst="rect">
                <a:avLst/>
              </a:prstGeom>
            </p:spPr>
            <p:txBody>
              <a:bodyPr vert="horz" wrap="square" lIns="217433" tIns="108718" rIns="217433" bIns="108718" rtlCol="0">
                <a:spAutoFit/>
              </a:bodyPr>
              <a:lstStyle>
                <a:lvl1pPr marL="0" indent="0" algn="ctr" defTabSz="1087636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/>
                  <a:buNone/>
                  <a:defRPr sz="2400" kern="1200">
                    <a:solidFill>
                      <a:schemeClr val="tx2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1087636" indent="0" algn="ctr" defTabSz="1087636" rtl="0" eaLnBrk="1" latinLnBrk="0" hangingPunct="1">
                  <a:lnSpc>
                    <a:spcPct val="130000"/>
                  </a:lnSpc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Open Sans"/>
                    <a:ea typeface="+mn-ea"/>
                    <a:cs typeface="Open Sans"/>
                  </a:defRPr>
                </a:lvl2pPr>
                <a:lvl3pPr marL="2175271" indent="0" algn="ctr" defTabSz="1087636" rtl="0" eaLnBrk="1" latinLnBrk="0" hangingPunct="1">
                  <a:lnSpc>
                    <a:spcPct val="130000"/>
                  </a:lnSpc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Open Sans"/>
                    <a:ea typeface="+mn-ea"/>
                    <a:cs typeface="Open Sans"/>
                  </a:defRPr>
                </a:lvl3pPr>
                <a:lvl4pPr marL="3262912" indent="0" algn="ctr" defTabSz="1087636" rtl="0" eaLnBrk="1" latinLnBrk="0" hangingPunct="1">
                  <a:lnSpc>
                    <a:spcPct val="130000"/>
                  </a:lnSpc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Open Sans"/>
                    <a:ea typeface="+mn-ea"/>
                    <a:cs typeface="Open Sans"/>
                  </a:defRPr>
                </a:lvl4pPr>
                <a:lvl5pPr marL="4350546" indent="0" algn="ctr" defTabSz="1087636" rtl="0" eaLnBrk="1" latinLnBrk="0" hangingPunct="1">
                  <a:lnSpc>
                    <a:spcPct val="130000"/>
                  </a:lnSpc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Open Sans"/>
                    <a:ea typeface="+mn-ea"/>
                    <a:cs typeface="Open Sans"/>
                  </a:defRPr>
                </a:lvl5pPr>
                <a:lvl6pPr marL="5438184" indent="0" algn="ctr" defTabSz="1087636" rtl="0" eaLnBrk="1" latinLnBrk="0" hangingPunct="1">
                  <a:spcBef>
                    <a:spcPct val="20000"/>
                  </a:spcBef>
                  <a:buFont typeface="Arial"/>
                  <a:buNone/>
                  <a:defRPr sz="4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6525820" indent="0" algn="ctr" defTabSz="1087636" rtl="0" eaLnBrk="1" latinLnBrk="0" hangingPunct="1">
                  <a:spcBef>
                    <a:spcPct val="20000"/>
                  </a:spcBef>
                  <a:buFont typeface="Arial"/>
                  <a:buNone/>
                  <a:defRPr sz="4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7613455" indent="0" algn="ctr" defTabSz="1087636" rtl="0" eaLnBrk="1" latinLnBrk="0" hangingPunct="1">
                  <a:spcBef>
                    <a:spcPct val="20000"/>
                  </a:spcBef>
                  <a:buFont typeface="Arial"/>
                  <a:buNone/>
                  <a:defRPr sz="4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8701091" indent="0" algn="ctr" defTabSz="1087636" rtl="0" eaLnBrk="1" latinLnBrk="0" hangingPunct="1">
                  <a:spcBef>
                    <a:spcPct val="20000"/>
                  </a:spcBef>
                  <a:buFont typeface="Arial"/>
                  <a:buNone/>
                  <a:defRPr sz="4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en-GB" sz="3600" dirty="0">
                    <a:solidFill>
                      <a:schemeClr val="bg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Data modelling is the process of structuring and connecting data and establishing the relationship between the tables.</a:t>
                </a:r>
                <a:endPara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2DB02B43-F4AD-2E46-B807-4BE184EB65EF}"/>
                  </a:ext>
                </a:extLst>
              </p:cNvPr>
              <p:cNvSpPr/>
              <p:nvPr/>
            </p:nvSpPr>
            <p:spPr>
              <a:xfrm>
                <a:off x="2842071" y="10269134"/>
                <a:ext cx="518268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  <a:latin typeface="Montserrat SemiBold" pitchFamily="2" charset="77"/>
                    <a:ea typeface="Roboto" panose="02000000000000000000" pitchFamily="2" charset="0"/>
                    <a:cs typeface="Lato Light" panose="020F0502020204030203" pitchFamily="34" charset="0"/>
                  </a:rPr>
                  <a:t>Data Modeling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C8210A8E-47F1-EA4C-92DA-340E19DFD50C}"/>
                </a:ext>
              </a:extLst>
            </p:cNvPr>
            <p:cNvGrpSpPr/>
            <p:nvPr/>
          </p:nvGrpSpPr>
          <p:grpSpPr>
            <a:xfrm>
              <a:off x="10994669" y="7926643"/>
              <a:ext cx="11785445" cy="1954153"/>
              <a:chOff x="2842071" y="10789735"/>
              <a:chExt cx="11785445" cy="1954153"/>
            </a:xfrm>
          </p:grpSpPr>
          <p:sp>
            <p:nvSpPr>
              <p:cNvPr id="79" name="Subtitle 2">
                <a:extLst>
                  <a:ext uri="{FF2B5EF4-FFF2-40B4-BE49-F238E27FC236}">
                    <a16:creationId xmlns:a16="http://schemas.microsoft.com/office/drawing/2014/main" id="{613AE1D1-78B8-374D-842C-0E7387E2D9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42071" y="11416333"/>
                <a:ext cx="11785445" cy="1327555"/>
              </a:xfrm>
              <a:prstGeom prst="rect">
                <a:avLst/>
              </a:prstGeom>
            </p:spPr>
            <p:txBody>
              <a:bodyPr vert="horz" wrap="square" lIns="217433" tIns="108718" rIns="217433" bIns="108718" rtlCol="0">
                <a:spAutoFit/>
              </a:bodyPr>
              <a:lstStyle>
                <a:lvl1pPr marL="0" indent="0" algn="ctr" defTabSz="1087636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/>
                  <a:buNone/>
                  <a:defRPr sz="2400" kern="1200">
                    <a:solidFill>
                      <a:schemeClr val="tx2"/>
                    </a:solidFill>
                    <a:latin typeface="Open Sans Light"/>
                    <a:ea typeface="+mn-ea"/>
                    <a:cs typeface="Open Sans Light"/>
                  </a:defRPr>
                </a:lvl1pPr>
                <a:lvl2pPr marL="1087636" indent="0" algn="ctr" defTabSz="1087636" rtl="0" eaLnBrk="1" latinLnBrk="0" hangingPunct="1">
                  <a:lnSpc>
                    <a:spcPct val="130000"/>
                  </a:lnSpc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Open Sans"/>
                    <a:ea typeface="+mn-ea"/>
                    <a:cs typeface="Open Sans"/>
                  </a:defRPr>
                </a:lvl2pPr>
                <a:lvl3pPr marL="2175271" indent="0" algn="ctr" defTabSz="1087636" rtl="0" eaLnBrk="1" latinLnBrk="0" hangingPunct="1">
                  <a:lnSpc>
                    <a:spcPct val="130000"/>
                  </a:lnSpc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Open Sans"/>
                    <a:ea typeface="+mn-ea"/>
                    <a:cs typeface="Open Sans"/>
                  </a:defRPr>
                </a:lvl3pPr>
                <a:lvl4pPr marL="3262912" indent="0" algn="ctr" defTabSz="1087636" rtl="0" eaLnBrk="1" latinLnBrk="0" hangingPunct="1">
                  <a:lnSpc>
                    <a:spcPct val="130000"/>
                  </a:lnSpc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Open Sans"/>
                    <a:ea typeface="+mn-ea"/>
                    <a:cs typeface="Open Sans"/>
                  </a:defRPr>
                </a:lvl4pPr>
                <a:lvl5pPr marL="4350546" indent="0" algn="ctr" defTabSz="1087636" rtl="0" eaLnBrk="1" latinLnBrk="0" hangingPunct="1">
                  <a:lnSpc>
                    <a:spcPct val="130000"/>
                  </a:lnSpc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Open Sans"/>
                    <a:ea typeface="+mn-ea"/>
                    <a:cs typeface="Open Sans"/>
                  </a:defRPr>
                </a:lvl5pPr>
                <a:lvl6pPr marL="5438184" indent="0" algn="ctr" defTabSz="1087636" rtl="0" eaLnBrk="1" latinLnBrk="0" hangingPunct="1">
                  <a:spcBef>
                    <a:spcPct val="20000"/>
                  </a:spcBef>
                  <a:buFont typeface="Arial"/>
                  <a:buNone/>
                  <a:defRPr sz="4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6525820" indent="0" algn="ctr" defTabSz="1087636" rtl="0" eaLnBrk="1" latinLnBrk="0" hangingPunct="1">
                  <a:spcBef>
                    <a:spcPct val="20000"/>
                  </a:spcBef>
                  <a:buFont typeface="Arial"/>
                  <a:buNone/>
                  <a:defRPr sz="4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7613455" indent="0" algn="ctr" defTabSz="1087636" rtl="0" eaLnBrk="1" latinLnBrk="0" hangingPunct="1">
                  <a:spcBef>
                    <a:spcPct val="20000"/>
                  </a:spcBef>
                  <a:buFont typeface="Arial"/>
                  <a:buNone/>
                  <a:defRPr sz="4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8701091" indent="0" algn="ctr" defTabSz="1087636" rtl="0" eaLnBrk="1" latinLnBrk="0" hangingPunct="1">
                  <a:spcBef>
                    <a:spcPct val="20000"/>
                  </a:spcBef>
                  <a:buFont typeface="Arial"/>
                  <a:buNone/>
                  <a:defRPr sz="4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en-GB" sz="3600" dirty="0">
                    <a:solidFill>
                      <a:schemeClr val="bg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Defines the nature/ type of a relationship between two tables, It has 4 Types.</a:t>
                </a:r>
                <a:endPara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840D4FF-0B23-034C-AA14-849CC134E52C}"/>
                  </a:ext>
                </a:extLst>
              </p:cNvPr>
              <p:cNvSpPr/>
              <p:nvPr/>
            </p:nvSpPr>
            <p:spPr>
              <a:xfrm>
                <a:off x="2842071" y="10789735"/>
                <a:ext cx="518268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  <a:latin typeface="Montserrat SemiBold" pitchFamily="2" charset="77"/>
                    <a:ea typeface="Roboto" panose="02000000000000000000" pitchFamily="2" charset="0"/>
                    <a:cs typeface="Lato Light" panose="020F0502020204030203" pitchFamily="34" charset="0"/>
                  </a:rPr>
                  <a:t>Cardinality</a:t>
                </a: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F4B7E05-A6BD-7240-B64B-95F276D6B37A}"/>
              </a:ext>
            </a:extLst>
          </p:cNvPr>
          <p:cNvSpPr/>
          <p:nvPr/>
        </p:nvSpPr>
        <p:spPr>
          <a:xfrm rot="10800000" flipV="1">
            <a:off x="0" y="12357787"/>
            <a:ext cx="24377646" cy="2380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E1B6A1-09CF-924D-B326-67F7F982901B}"/>
              </a:ext>
            </a:extLst>
          </p:cNvPr>
          <p:cNvSpPr/>
          <p:nvPr/>
        </p:nvSpPr>
        <p:spPr>
          <a:xfrm>
            <a:off x="10648580" y="2904615"/>
            <a:ext cx="244706" cy="2447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8AAED8-E678-6E45-80CA-11468F883C9D}"/>
              </a:ext>
            </a:extLst>
          </p:cNvPr>
          <p:cNvSpPr/>
          <p:nvPr/>
        </p:nvSpPr>
        <p:spPr>
          <a:xfrm>
            <a:off x="10648580" y="5648801"/>
            <a:ext cx="244706" cy="2447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FC97CA-86E0-C44D-9EE0-00ABBAE187AE}"/>
              </a:ext>
            </a:extLst>
          </p:cNvPr>
          <p:cNvSpPr/>
          <p:nvPr/>
        </p:nvSpPr>
        <p:spPr>
          <a:xfrm>
            <a:off x="10648580" y="8952096"/>
            <a:ext cx="244706" cy="2447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815BF5-CCF6-D1B7-57BB-1F3DF2F9F0D7}"/>
              </a:ext>
            </a:extLst>
          </p:cNvPr>
          <p:cNvGrpSpPr/>
          <p:nvPr/>
        </p:nvGrpSpPr>
        <p:grpSpPr>
          <a:xfrm>
            <a:off x="22475024" y="647017"/>
            <a:ext cx="1198636" cy="1198636"/>
            <a:chOff x="1778626" y="4207116"/>
            <a:chExt cx="2926080" cy="292608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781CF93-DFE1-0F2A-3674-60D6AE88851E}"/>
                </a:ext>
              </a:extLst>
            </p:cNvPr>
            <p:cNvSpPr/>
            <p:nvPr/>
          </p:nvSpPr>
          <p:spPr>
            <a:xfrm>
              <a:off x="1778626" y="4207116"/>
              <a:ext cx="2926080" cy="2926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72255B8-568A-DD25-CBEF-C7A7FDD7594A}"/>
                </a:ext>
              </a:extLst>
            </p:cNvPr>
            <p:cNvGrpSpPr/>
            <p:nvPr/>
          </p:nvGrpSpPr>
          <p:grpSpPr>
            <a:xfrm>
              <a:off x="2582953" y="5034940"/>
              <a:ext cx="1317426" cy="1270432"/>
              <a:chOff x="5516932" y="4053978"/>
              <a:chExt cx="282600" cy="272520"/>
            </a:xfrm>
            <a:solidFill>
              <a:schemeClr val="bg2"/>
            </a:solidFill>
          </p:grpSpPr>
          <p:sp>
            <p:nvSpPr>
              <p:cNvPr id="38" name="Freeform 22">
                <a:extLst>
                  <a:ext uri="{FF2B5EF4-FFF2-40B4-BE49-F238E27FC236}">
                    <a16:creationId xmlns:a16="http://schemas.microsoft.com/office/drawing/2014/main" id="{C2CB6DBF-57F4-AC1D-B4FD-919CEFDB67E1}"/>
                  </a:ext>
                </a:extLst>
              </p:cNvPr>
              <p:cNvSpPr/>
              <p:nvPr/>
            </p:nvSpPr>
            <p:spPr>
              <a:xfrm>
                <a:off x="5516932" y="4053978"/>
                <a:ext cx="19440" cy="2725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" h="758">
                    <a:moveTo>
                      <a:pt x="27" y="758"/>
                    </a:moveTo>
                    <a:cubicBezTo>
                      <a:pt x="12" y="758"/>
                      <a:pt x="0" y="745"/>
                      <a:pt x="0" y="730"/>
                    </a:cubicBezTo>
                    <a:lnTo>
                      <a:pt x="0" y="28"/>
                    </a:lnTo>
                    <a:cubicBezTo>
                      <a:pt x="0" y="13"/>
                      <a:pt x="12" y="0"/>
                      <a:pt x="27" y="0"/>
                    </a:cubicBezTo>
                    <a:cubicBezTo>
                      <a:pt x="42" y="0"/>
                      <a:pt x="55" y="13"/>
                      <a:pt x="55" y="28"/>
                    </a:cubicBezTo>
                    <a:lnTo>
                      <a:pt x="55" y="730"/>
                    </a:lnTo>
                    <a:cubicBezTo>
                      <a:pt x="55" y="745"/>
                      <a:pt x="42" y="758"/>
                      <a:pt x="27" y="758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" name="Freeform 23">
                <a:extLst>
                  <a:ext uri="{FF2B5EF4-FFF2-40B4-BE49-F238E27FC236}">
                    <a16:creationId xmlns:a16="http://schemas.microsoft.com/office/drawing/2014/main" id="{A24D3A39-BF1B-5D49-A204-E0712F0F4B77}"/>
                  </a:ext>
                </a:extLst>
              </p:cNvPr>
              <p:cNvSpPr/>
              <p:nvPr/>
            </p:nvSpPr>
            <p:spPr>
              <a:xfrm>
                <a:off x="5516932" y="4307058"/>
                <a:ext cx="271080" cy="19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4" h="54">
                    <a:moveTo>
                      <a:pt x="727" y="54"/>
                    </a:moveTo>
                    <a:lnTo>
                      <a:pt x="27" y="54"/>
                    </a:lnTo>
                    <a:cubicBezTo>
                      <a:pt x="12" y="54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lnTo>
                      <a:pt x="727" y="0"/>
                    </a:lnTo>
                    <a:cubicBezTo>
                      <a:pt x="742" y="0"/>
                      <a:pt x="754" y="12"/>
                      <a:pt x="754" y="27"/>
                    </a:cubicBezTo>
                    <a:cubicBezTo>
                      <a:pt x="754" y="42"/>
                      <a:pt x="742" y="54"/>
                      <a:pt x="727" y="54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" name="Freeform 24">
                <a:extLst>
                  <a:ext uri="{FF2B5EF4-FFF2-40B4-BE49-F238E27FC236}">
                    <a16:creationId xmlns:a16="http://schemas.microsoft.com/office/drawing/2014/main" id="{CB0C5FCA-BB6E-1D81-6622-E0FF54F96F3A}"/>
                  </a:ext>
                </a:extLst>
              </p:cNvPr>
              <p:cNvSpPr/>
              <p:nvPr/>
            </p:nvSpPr>
            <p:spPr>
              <a:xfrm>
                <a:off x="5553651" y="4105458"/>
                <a:ext cx="235440" cy="1893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5" h="527">
                    <a:moveTo>
                      <a:pt x="347" y="527"/>
                    </a:moveTo>
                    <a:cubicBezTo>
                      <a:pt x="339" y="527"/>
                      <a:pt x="331" y="523"/>
                      <a:pt x="325" y="516"/>
                    </a:cubicBezTo>
                    <a:lnTo>
                      <a:pt x="202" y="353"/>
                    </a:lnTo>
                    <a:lnTo>
                      <a:pt x="47" y="518"/>
                    </a:lnTo>
                    <a:cubicBezTo>
                      <a:pt x="37" y="529"/>
                      <a:pt x="19" y="530"/>
                      <a:pt x="8" y="519"/>
                    </a:cubicBezTo>
                    <a:cubicBezTo>
                      <a:pt x="-3" y="509"/>
                      <a:pt x="-3" y="492"/>
                      <a:pt x="7" y="480"/>
                    </a:cubicBezTo>
                    <a:lnTo>
                      <a:pt x="184" y="292"/>
                    </a:lnTo>
                    <a:cubicBezTo>
                      <a:pt x="189" y="286"/>
                      <a:pt x="197" y="283"/>
                      <a:pt x="205" y="283"/>
                    </a:cubicBezTo>
                    <a:cubicBezTo>
                      <a:pt x="213" y="284"/>
                      <a:pt x="221" y="288"/>
                      <a:pt x="226" y="294"/>
                    </a:cubicBezTo>
                    <a:lnTo>
                      <a:pt x="344" y="450"/>
                    </a:lnTo>
                    <a:lnTo>
                      <a:pt x="604" y="13"/>
                    </a:lnTo>
                    <a:cubicBezTo>
                      <a:pt x="612" y="0"/>
                      <a:pt x="629" y="-4"/>
                      <a:pt x="642" y="4"/>
                    </a:cubicBezTo>
                    <a:cubicBezTo>
                      <a:pt x="655" y="11"/>
                      <a:pt x="659" y="28"/>
                      <a:pt x="651" y="41"/>
                    </a:cubicBezTo>
                    <a:lnTo>
                      <a:pt x="371" y="513"/>
                    </a:lnTo>
                    <a:cubicBezTo>
                      <a:pt x="366" y="521"/>
                      <a:pt x="358" y="526"/>
                      <a:pt x="349" y="527"/>
                    </a:cubicBezTo>
                    <a:cubicBezTo>
                      <a:pt x="348" y="527"/>
                      <a:pt x="348" y="527"/>
                      <a:pt x="347" y="527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" name="Freeform 26">
                <a:extLst>
                  <a:ext uri="{FF2B5EF4-FFF2-40B4-BE49-F238E27FC236}">
                    <a16:creationId xmlns:a16="http://schemas.microsoft.com/office/drawing/2014/main" id="{8ABA9681-4F8B-19E7-6699-31EA8FDC733C}"/>
                  </a:ext>
                </a:extLst>
              </p:cNvPr>
              <p:cNvSpPr/>
              <p:nvPr/>
            </p:nvSpPr>
            <p:spPr>
              <a:xfrm>
                <a:off x="5769292" y="4105458"/>
                <a:ext cx="30240" cy="547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" h="153">
                    <a:moveTo>
                      <a:pt x="58" y="153"/>
                    </a:moveTo>
                    <a:cubicBezTo>
                      <a:pt x="46" y="153"/>
                      <a:pt x="35" y="146"/>
                      <a:pt x="32" y="134"/>
                    </a:cubicBezTo>
                    <a:lnTo>
                      <a:pt x="1" y="35"/>
                    </a:lnTo>
                    <a:cubicBezTo>
                      <a:pt x="-3" y="21"/>
                      <a:pt x="5" y="5"/>
                      <a:pt x="20" y="1"/>
                    </a:cubicBezTo>
                    <a:cubicBezTo>
                      <a:pt x="34" y="-4"/>
                      <a:pt x="49" y="5"/>
                      <a:pt x="54" y="19"/>
                    </a:cubicBezTo>
                    <a:lnTo>
                      <a:pt x="84" y="118"/>
                    </a:lnTo>
                    <a:cubicBezTo>
                      <a:pt x="89" y="132"/>
                      <a:pt x="80" y="147"/>
                      <a:pt x="66" y="152"/>
                    </a:cubicBezTo>
                    <a:cubicBezTo>
                      <a:pt x="63" y="153"/>
                      <a:pt x="61" y="153"/>
                      <a:pt x="58" y="153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61FEA2FE-CBDA-09B9-BCA5-9B75C75C4EE6}"/>
                  </a:ext>
                </a:extLst>
              </p:cNvPr>
              <p:cNvSpPr/>
              <p:nvPr/>
            </p:nvSpPr>
            <p:spPr>
              <a:xfrm>
                <a:off x="5734012" y="4105458"/>
                <a:ext cx="54720" cy="302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3" h="85">
                    <a:moveTo>
                      <a:pt x="27" y="85"/>
                    </a:moveTo>
                    <a:cubicBezTo>
                      <a:pt x="15" y="85"/>
                      <a:pt x="4" y="77"/>
                      <a:pt x="1" y="65"/>
                    </a:cubicBezTo>
                    <a:cubicBezTo>
                      <a:pt x="-4" y="51"/>
                      <a:pt x="5" y="36"/>
                      <a:pt x="19" y="31"/>
                    </a:cubicBezTo>
                    <a:lnTo>
                      <a:pt x="118" y="1"/>
                    </a:lnTo>
                    <a:cubicBezTo>
                      <a:pt x="132" y="-4"/>
                      <a:pt x="147" y="5"/>
                      <a:pt x="152" y="19"/>
                    </a:cubicBezTo>
                    <a:cubicBezTo>
                      <a:pt x="156" y="34"/>
                      <a:pt x="148" y="49"/>
                      <a:pt x="134" y="53"/>
                    </a:cubicBezTo>
                    <a:lnTo>
                      <a:pt x="35" y="84"/>
                    </a:lnTo>
                    <a:cubicBezTo>
                      <a:pt x="32" y="84"/>
                      <a:pt x="30" y="85"/>
                      <a:pt x="27" y="85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676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724DB9-0797-B645-BA50-F43DA04E8CC3}"/>
              </a:ext>
            </a:extLst>
          </p:cNvPr>
          <p:cNvSpPr/>
          <p:nvPr/>
        </p:nvSpPr>
        <p:spPr>
          <a:xfrm rot="10800000" flipV="1">
            <a:off x="17253" y="34508"/>
            <a:ext cx="12188821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FF87D02-A9E7-BD45-872D-B5139C1B8D39}"/>
              </a:ext>
            </a:extLst>
          </p:cNvPr>
          <p:cNvSpPr txBox="1">
            <a:spLocks/>
          </p:cNvSpPr>
          <p:nvPr/>
        </p:nvSpPr>
        <p:spPr>
          <a:xfrm>
            <a:off x="1225345" y="4369715"/>
            <a:ext cx="9738129" cy="5870337"/>
          </a:xfrm>
          <a:prstGeom prst="rect">
            <a:avLst/>
          </a:prstGeom>
        </p:spPr>
        <p:txBody>
          <a:bodyPr vert="horz" wrap="square" lIns="217433" tIns="108718" rIns="217433" bIns="108718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 Primary Key is a table which has unique Values.</a:t>
            </a: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600" b="1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is no repetition/ Duplication in Values.</a:t>
            </a:r>
            <a:endParaRPr lang="en-GB" sz="3600" b="1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600" b="1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 table which is holding the primary key is called as "Dim Table" or "Dimension Table“</a:t>
            </a: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600" b="1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 table have only one primary key.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346690-C1A2-E943-B44B-94C0EF4FFA1E}"/>
              </a:ext>
            </a:extLst>
          </p:cNvPr>
          <p:cNvSpPr/>
          <p:nvPr/>
        </p:nvSpPr>
        <p:spPr>
          <a:xfrm rot="10800000" flipV="1">
            <a:off x="5080" y="2066462"/>
            <a:ext cx="24377646" cy="2380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7BF6ADB-12E5-A62F-284C-61EE35A67C13}"/>
              </a:ext>
            </a:extLst>
          </p:cNvPr>
          <p:cNvGrpSpPr/>
          <p:nvPr/>
        </p:nvGrpSpPr>
        <p:grpSpPr>
          <a:xfrm>
            <a:off x="8976553" y="697165"/>
            <a:ext cx="9587492" cy="1017320"/>
            <a:chOff x="8976553" y="190162"/>
            <a:chExt cx="9587492" cy="101732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8976553" y="191819"/>
              <a:ext cx="321735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Keys in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ABF758F-8741-9FD3-747F-226031CC5F00}"/>
                </a:ext>
              </a:extLst>
            </p:cNvPr>
            <p:cNvSpPr txBox="1"/>
            <p:nvPr/>
          </p:nvSpPr>
          <p:spPr>
            <a:xfrm>
              <a:off x="12193903" y="190162"/>
              <a:ext cx="6370142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rgbClr val="001A7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Data Modelling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88B100D-6845-058B-3A0D-73A06D5D94B0}"/>
              </a:ext>
            </a:extLst>
          </p:cNvPr>
          <p:cNvSpPr txBox="1"/>
          <p:nvPr/>
        </p:nvSpPr>
        <p:spPr>
          <a:xfrm>
            <a:off x="3027567" y="2671291"/>
            <a:ext cx="6133686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Primary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F2417-A17F-8EE5-B672-9C4CF0A11603}"/>
              </a:ext>
            </a:extLst>
          </p:cNvPr>
          <p:cNvSpPr txBox="1"/>
          <p:nvPr/>
        </p:nvSpPr>
        <p:spPr>
          <a:xfrm>
            <a:off x="15216389" y="2671291"/>
            <a:ext cx="6133686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001A7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Foreign Key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E834FBE-51F8-2D04-1715-437E20A433AA}"/>
              </a:ext>
            </a:extLst>
          </p:cNvPr>
          <p:cNvSpPr txBox="1">
            <a:spLocks/>
          </p:cNvSpPr>
          <p:nvPr/>
        </p:nvSpPr>
        <p:spPr>
          <a:xfrm>
            <a:off x="13414176" y="4369715"/>
            <a:ext cx="9738129" cy="8086328"/>
          </a:xfrm>
          <a:prstGeom prst="rect">
            <a:avLst/>
          </a:prstGeom>
        </p:spPr>
        <p:txBody>
          <a:bodyPr vert="horz" wrap="square" lIns="217433" tIns="108718" rIns="217433" bIns="108718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solidFill>
                  <a:srgbClr val="001A7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 Foreign Key is a column or set of columns in one table that corresponds to the primary key in another table used in establishing a relationship.</a:t>
            </a: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600" b="1" dirty="0">
              <a:solidFill>
                <a:srgbClr val="001A7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solidFill>
                  <a:srgbClr val="001A7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It can have duplicate values.</a:t>
            </a: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600" b="1" dirty="0">
              <a:solidFill>
                <a:srgbClr val="001A7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solidFill>
                  <a:srgbClr val="001A7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 table which is holding the Foreign key is called as "Fact Table" or "Child Table“</a:t>
            </a: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600" b="1" dirty="0">
              <a:solidFill>
                <a:srgbClr val="001A7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solidFill>
                  <a:srgbClr val="001A7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Here the table can have multiple foreign keys, each linking to a different primary key in another table.</a:t>
            </a:r>
          </a:p>
        </p:txBody>
      </p:sp>
    </p:spTree>
    <p:extLst>
      <p:ext uri="{BB962C8B-B14F-4D97-AF65-F5344CB8AC3E}">
        <p14:creationId xmlns:p14="http://schemas.microsoft.com/office/powerpoint/2010/main" val="53491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E8072F4-249C-274B-ACD2-ED7EB519BB15}"/>
              </a:ext>
            </a:extLst>
          </p:cNvPr>
          <p:cNvSpPr/>
          <p:nvPr/>
        </p:nvSpPr>
        <p:spPr>
          <a:xfrm rot="10800000" flipV="1">
            <a:off x="0" y="-2"/>
            <a:ext cx="24377650" cy="13716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BFA751-7667-5343-86FE-ADB1397B8BD2}"/>
              </a:ext>
            </a:extLst>
          </p:cNvPr>
          <p:cNvSpPr txBox="1"/>
          <p:nvPr/>
        </p:nvSpPr>
        <p:spPr>
          <a:xfrm>
            <a:off x="6832613" y="491401"/>
            <a:ext cx="10712424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Lato Light" panose="020F0502020204030203" pitchFamily="34" charset="0"/>
              </a:rPr>
              <a:t>Types of Cardinality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BD5E6A-F706-6446-B59E-F3BF55A8C70A}"/>
              </a:ext>
            </a:extLst>
          </p:cNvPr>
          <p:cNvSpPr/>
          <p:nvPr/>
        </p:nvSpPr>
        <p:spPr>
          <a:xfrm rot="10800000" flipV="1">
            <a:off x="537965" y="7127134"/>
            <a:ext cx="23546985" cy="2380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439D6D-A408-0E44-9987-99ED0E2737E2}"/>
              </a:ext>
            </a:extLst>
          </p:cNvPr>
          <p:cNvGrpSpPr/>
          <p:nvPr/>
        </p:nvGrpSpPr>
        <p:grpSpPr>
          <a:xfrm>
            <a:off x="772180" y="3014129"/>
            <a:ext cx="7029643" cy="3401934"/>
            <a:chOff x="2563556" y="10910164"/>
            <a:chExt cx="6566365" cy="3401934"/>
          </a:xfrm>
        </p:grpSpPr>
        <p:sp>
          <p:nvSpPr>
            <p:cNvPr id="42" name="Subtitle 2">
              <a:extLst>
                <a:ext uri="{FF2B5EF4-FFF2-40B4-BE49-F238E27FC236}">
                  <a16:creationId xmlns:a16="http://schemas.microsoft.com/office/drawing/2014/main" id="{663DE6DC-A3C7-7240-9F7D-39114CF70544}"/>
                </a:ext>
              </a:extLst>
            </p:cNvPr>
            <p:cNvSpPr txBox="1">
              <a:spLocks/>
            </p:cNvSpPr>
            <p:nvPr/>
          </p:nvSpPr>
          <p:spPr>
            <a:xfrm>
              <a:off x="2563556" y="11876547"/>
              <a:ext cx="6566365" cy="2435551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GB" sz="3600" dirty="0">
                  <a:solidFill>
                    <a:schemeClr val="bg1"/>
                  </a:solidFill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It occurs when, each row in table A is associated with only one row in table B</a:t>
              </a:r>
              <a:endParaRPr lang="en-US" sz="3600" dirty="0">
                <a:solidFill>
                  <a:schemeClr val="bg1"/>
                </a:solidFill>
                <a:latin typeface="Montserrat Light" pitchFamily="2" charset="77"/>
                <a:ea typeface="Roboto Light" panose="02000000000000000000" pitchFamily="2" charset="0"/>
                <a:cs typeface="Lato Light" panose="020F0502020204030203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8DE8BFE-C3DF-9743-BFA8-88690931DFA3}"/>
                </a:ext>
              </a:extLst>
            </p:cNvPr>
            <p:cNvSpPr/>
            <p:nvPr/>
          </p:nvSpPr>
          <p:spPr>
            <a:xfrm>
              <a:off x="2563556" y="10910164"/>
              <a:ext cx="5182682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 Light" panose="020F0502020204030203" pitchFamily="34" charset="0"/>
                </a:rPr>
                <a:t>One-to-One (1:1)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B37E66E-1F28-3A4F-9DC3-D62AA0B06C4B}"/>
              </a:ext>
            </a:extLst>
          </p:cNvPr>
          <p:cNvGrpSpPr/>
          <p:nvPr/>
        </p:nvGrpSpPr>
        <p:grpSpPr>
          <a:xfrm>
            <a:off x="786600" y="8280993"/>
            <a:ext cx="6566365" cy="3808234"/>
            <a:chOff x="2448744" y="10898605"/>
            <a:chExt cx="6566365" cy="3808234"/>
          </a:xfrm>
        </p:grpSpPr>
        <p:sp>
          <p:nvSpPr>
            <p:cNvPr id="45" name="Subtitle 2">
              <a:extLst>
                <a:ext uri="{FF2B5EF4-FFF2-40B4-BE49-F238E27FC236}">
                  <a16:creationId xmlns:a16="http://schemas.microsoft.com/office/drawing/2014/main" id="{E358A440-A009-D74C-9B29-50CB6D962FED}"/>
                </a:ext>
              </a:extLst>
            </p:cNvPr>
            <p:cNvSpPr txBox="1">
              <a:spLocks/>
            </p:cNvSpPr>
            <p:nvPr/>
          </p:nvSpPr>
          <p:spPr>
            <a:xfrm>
              <a:off x="2448744" y="11606491"/>
              <a:ext cx="6566365" cy="3100348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GB" sz="3600" dirty="0">
                  <a:solidFill>
                    <a:schemeClr val="bg1"/>
                  </a:solidFill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The reverse of a one-to-many relationship. </a:t>
              </a:r>
            </a:p>
            <a:p>
              <a:pPr algn="l">
                <a:lnSpc>
                  <a:spcPct val="100000"/>
                </a:lnSpc>
              </a:pPr>
              <a:r>
                <a:rPr lang="en-GB" sz="3600" dirty="0">
                  <a:solidFill>
                    <a:schemeClr val="bg1"/>
                  </a:solidFill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Multiple rows in a table is related to one row in another Table</a:t>
              </a:r>
              <a:endParaRPr lang="en-US" sz="3600" dirty="0">
                <a:solidFill>
                  <a:schemeClr val="bg1"/>
                </a:solidFill>
                <a:latin typeface="Montserrat Light" pitchFamily="2" charset="77"/>
                <a:ea typeface="Roboto Light" panose="02000000000000000000" pitchFamily="2" charset="0"/>
                <a:cs typeface="Lato Light" panose="020F0502020204030203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B0D9A47-4C88-1747-915E-0E510FF4736C}"/>
                </a:ext>
              </a:extLst>
            </p:cNvPr>
            <p:cNvSpPr/>
            <p:nvPr/>
          </p:nvSpPr>
          <p:spPr>
            <a:xfrm>
              <a:off x="2502337" y="10898605"/>
              <a:ext cx="5182682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 Light" panose="020F0502020204030203" pitchFamily="34" charset="0"/>
                </a:rPr>
                <a:t>Many-to-One (*:1)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4A82DD5-7D74-604C-B10F-4711139A6C01}"/>
              </a:ext>
            </a:extLst>
          </p:cNvPr>
          <p:cNvGrpSpPr/>
          <p:nvPr/>
        </p:nvGrpSpPr>
        <p:grpSpPr>
          <a:xfrm>
            <a:off x="12450325" y="3014129"/>
            <a:ext cx="7876744" cy="3143437"/>
            <a:chOff x="2562802" y="11093088"/>
            <a:chExt cx="6567120" cy="3143437"/>
          </a:xfrm>
        </p:grpSpPr>
        <p:sp>
          <p:nvSpPr>
            <p:cNvPr id="49" name="Subtitle 2">
              <a:extLst>
                <a:ext uri="{FF2B5EF4-FFF2-40B4-BE49-F238E27FC236}">
                  <a16:creationId xmlns:a16="http://schemas.microsoft.com/office/drawing/2014/main" id="{4EF78052-E2EB-604A-B55A-E0EAE2B5D89E}"/>
                </a:ext>
              </a:extLst>
            </p:cNvPr>
            <p:cNvSpPr txBox="1">
              <a:spLocks/>
            </p:cNvSpPr>
            <p:nvPr/>
          </p:nvSpPr>
          <p:spPr>
            <a:xfrm>
              <a:off x="2563557" y="11800974"/>
              <a:ext cx="6566365" cy="2435551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GB" sz="3600" dirty="0">
                  <a:solidFill>
                    <a:schemeClr val="bg1"/>
                  </a:solidFill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One row in a specific table is related to multiple rows in another table. It is one of the most commonly used forms.</a:t>
              </a:r>
              <a:endParaRPr lang="en-US" sz="3600" dirty="0">
                <a:solidFill>
                  <a:schemeClr val="bg1"/>
                </a:solidFill>
                <a:latin typeface="Montserrat Light" pitchFamily="2" charset="77"/>
                <a:ea typeface="Roboto Light" panose="02000000000000000000" pitchFamily="2" charset="0"/>
                <a:cs typeface="Lato Light" panose="020F0502020204030203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EB72244-F598-7342-BF7C-E7E915F8F554}"/>
                </a:ext>
              </a:extLst>
            </p:cNvPr>
            <p:cNvSpPr/>
            <p:nvPr/>
          </p:nvSpPr>
          <p:spPr>
            <a:xfrm>
              <a:off x="2562802" y="11093088"/>
              <a:ext cx="5182682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 Light" panose="020F0502020204030203" pitchFamily="34" charset="0"/>
                </a:rPr>
                <a:t>One-to-Many (1:*)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C4681EB-74CD-4746-9909-A08515281811}"/>
              </a:ext>
            </a:extLst>
          </p:cNvPr>
          <p:cNvGrpSpPr/>
          <p:nvPr/>
        </p:nvGrpSpPr>
        <p:grpSpPr>
          <a:xfrm>
            <a:off x="12451231" y="8280993"/>
            <a:ext cx="6606183" cy="4345714"/>
            <a:chOff x="2344779" y="10963878"/>
            <a:chExt cx="6606183" cy="4345714"/>
          </a:xfrm>
        </p:grpSpPr>
        <p:sp>
          <p:nvSpPr>
            <p:cNvPr id="52" name="Subtitle 2">
              <a:extLst>
                <a:ext uri="{FF2B5EF4-FFF2-40B4-BE49-F238E27FC236}">
                  <a16:creationId xmlns:a16="http://schemas.microsoft.com/office/drawing/2014/main" id="{788940D8-5075-D849-8BAA-6E651B8B856E}"/>
                </a:ext>
              </a:extLst>
            </p:cNvPr>
            <p:cNvSpPr txBox="1">
              <a:spLocks/>
            </p:cNvSpPr>
            <p:nvPr/>
          </p:nvSpPr>
          <p:spPr>
            <a:xfrm>
              <a:off x="2384597" y="11655246"/>
              <a:ext cx="6566365" cy="3654346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GB" sz="3600" dirty="0">
                  <a:solidFill>
                    <a:schemeClr val="bg1"/>
                  </a:solidFill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Multiple Rows in Table A can be linked to multiple rows in Table B, and vice versa.</a:t>
              </a:r>
            </a:p>
            <a:p>
              <a:pPr algn="l">
                <a:lnSpc>
                  <a:spcPct val="100000"/>
                </a:lnSpc>
              </a:pPr>
              <a:r>
                <a:rPr lang="en-GB" sz="3600" dirty="0">
                  <a:solidFill>
                    <a:schemeClr val="bg1"/>
                  </a:solidFill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Here both table has duplicates values.</a:t>
              </a:r>
              <a:endParaRPr lang="en-US" sz="3600" dirty="0">
                <a:solidFill>
                  <a:schemeClr val="bg1"/>
                </a:solidFill>
                <a:latin typeface="Montserrat Light" pitchFamily="2" charset="77"/>
                <a:ea typeface="Roboto Light" panose="02000000000000000000" pitchFamily="2" charset="0"/>
                <a:cs typeface="Lato Light" panose="020F0502020204030203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6101AD5-18E0-894E-9926-2AF4E487F69B}"/>
                </a:ext>
              </a:extLst>
            </p:cNvPr>
            <p:cNvSpPr/>
            <p:nvPr/>
          </p:nvSpPr>
          <p:spPr>
            <a:xfrm>
              <a:off x="2344779" y="10963878"/>
              <a:ext cx="5182682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 Light" panose="020F0502020204030203" pitchFamily="34" charset="0"/>
                </a:rPr>
                <a:t>Many-to-Many (*:*)</a:t>
              </a:r>
            </a:p>
          </p:txBody>
        </p:sp>
      </p:grpSp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7E21A457-45B1-848E-0278-3B7B7C9BD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874" b="56499"/>
          <a:stretch/>
        </p:blipFill>
        <p:spPr>
          <a:xfrm>
            <a:off x="7338545" y="3014129"/>
            <a:ext cx="4262538" cy="317211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07B9191-F480-5CC9-F151-3328607CC198}"/>
              </a:ext>
            </a:extLst>
          </p:cNvPr>
          <p:cNvSpPr/>
          <p:nvPr/>
        </p:nvSpPr>
        <p:spPr>
          <a:xfrm rot="10800000" flipV="1">
            <a:off x="11832757" y="2467154"/>
            <a:ext cx="237375" cy="105494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A screenshot of a computer">
            <a:extLst>
              <a:ext uri="{FF2B5EF4-FFF2-40B4-BE49-F238E27FC236}">
                <a16:creationId xmlns:a16="http://schemas.microsoft.com/office/drawing/2014/main" id="{8EAD8CF6-5A7B-8C80-9307-CD68BEC97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04" b="59840"/>
          <a:stretch/>
        </p:blipFill>
        <p:spPr>
          <a:xfrm>
            <a:off x="19350855" y="3141200"/>
            <a:ext cx="4488828" cy="3152042"/>
          </a:xfrm>
          <a:prstGeom prst="rect">
            <a:avLst/>
          </a:prstGeom>
        </p:spPr>
      </p:pic>
      <p:pic>
        <p:nvPicPr>
          <p:cNvPr id="14" name="Picture 13" descr="A screenshot of a computer">
            <a:extLst>
              <a:ext uri="{FF2B5EF4-FFF2-40B4-BE49-F238E27FC236}">
                <a16:creationId xmlns:a16="http://schemas.microsoft.com/office/drawing/2014/main" id="{B562A7F3-9EED-DCC2-EF22-4F4F19F46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23" r="57972"/>
          <a:stretch/>
        </p:blipFill>
        <p:spPr>
          <a:xfrm>
            <a:off x="7491443" y="8280993"/>
            <a:ext cx="3602845" cy="2800337"/>
          </a:xfrm>
          <a:prstGeom prst="rect">
            <a:avLst/>
          </a:prstGeom>
        </p:spPr>
      </p:pic>
      <p:pic>
        <p:nvPicPr>
          <p:cNvPr id="15" name="Picture 14" descr="A screenshot of a computer">
            <a:extLst>
              <a:ext uri="{FF2B5EF4-FFF2-40B4-BE49-F238E27FC236}">
                <a16:creationId xmlns:a16="http://schemas.microsoft.com/office/drawing/2014/main" id="{18445244-0105-39C0-C928-E15BD840E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2" t="57089"/>
          <a:stretch/>
        </p:blipFill>
        <p:spPr>
          <a:xfrm>
            <a:off x="19285069" y="8430204"/>
            <a:ext cx="4032438" cy="3037554"/>
          </a:xfrm>
          <a:prstGeom prst="rect">
            <a:avLst/>
          </a:prstGeom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47EA7DF1-0807-50B3-41E9-443F972C2D8E}"/>
              </a:ext>
            </a:extLst>
          </p:cNvPr>
          <p:cNvSpPr txBox="1">
            <a:spLocks/>
          </p:cNvSpPr>
          <p:nvPr/>
        </p:nvSpPr>
        <p:spPr>
          <a:xfrm>
            <a:off x="14440055" y="6344547"/>
            <a:ext cx="8629061" cy="527336"/>
          </a:xfrm>
          <a:prstGeom prst="rect">
            <a:avLst/>
          </a:prstGeom>
        </p:spPr>
        <p:txBody>
          <a:bodyPr vert="horz" wrap="square" lIns="217433" tIns="108718" rIns="217433" bIns="108718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GB" sz="2000" dirty="0">
                <a:solidFill>
                  <a:schemeClr val="bg1"/>
                </a:solidFill>
                <a:latin typeface="Montserrat Light" pitchFamily="2" charset="77"/>
                <a:ea typeface="Roboto Light" panose="02000000000000000000" pitchFamily="2" charset="0"/>
                <a:cs typeface="Lato Light" panose="020F0502020204030203" pitchFamily="34" charset="0"/>
              </a:rPr>
              <a:t>One table will act as primary key and other will act as Foreign key</a:t>
            </a:r>
            <a:endParaRPr lang="en-US" sz="2000" dirty="0">
              <a:solidFill>
                <a:schemeClr val="bg1"/>
              </a:solidFill>
              <a:latin typeface="Montserrat Light" pitchFamily="2" charset="77"/>
              <a:ea typeface="Roboto Light" panose="02000000000000000000" pitchFamily="2" charset="0"/>
              <a:cs typeface="Lato Light" panose="020F0502020204030203" pitchFamily="34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674CB6A8-0D1B-ECB7-C082-204FD1C0677A}"/>
              </a:ext>
            </a:extLst>
          </p:cNvPr>
          <p:cNvSpPr txBox="1">
            <a:spLocks/>
          </p:cNvSpPr>
          <p:nvPr/>
        </p:nvSpPr>
        <p:spPr>
          <a:xfrm>
            <a:off x="3770314" y="6344547"/>
            <a:ext cx="5157502" cy="527336"/>
          </a:xfrm>
          <a:prstGeom prst="rect">
            <a:avLst/>
          </a:prstGeom>
        </p:spPr>
        <p:txBody>
          <a:bodyPr vert="horz" wrap="square" lIns="217433" tIns="108718" rIns="217433" bIns="108718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GB" sz="2000" dirty="0">
                <a:solidFill>
                  <a:schemeClr val="bg1"/>
                </a:solidFill>
                <a:latin typeface="Montserrat Light" pitchFamily="2" charset="77"/>
                <a:ea typeface="Roboto Light" panose="02000000000000000000" pitchFamily="2" charset="0"/>
                <a:cs typeface="Lato Light" panose="020F0502020204030203" pitchFamily="34" charset="0"/>
              </a:rPr>
              <a:t>Here Both table acts as primary key</a:t>
            </a:r>
            <a:endParaRPr lang="en-US" sz="2000" dirty="0">
              <a:solidFill>
                <a:schemeClr val="bg1"/>
              </a:solidFill>
              <a:latin typeface="Montserrat Light" pitchFamily="2" charset="77"/>
              <a:ea typeface="Roboto Light" panose="02000000000000000000" pitchFamily="2" charset="0"/>
              <a:cs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99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6D68-5526-48A9-D28F-D9227DB36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F9FBA76-3560-280A-1894-773EDB06D222}"/>
              </a:ext>
            </a:extLst>
          </p:cNvPr>
          <p:cNvSpPr/>
          <p:nvPr/>
        </p:nvSpPr>
        <p:spPr>
          <a:xfrm rot="10800000" flipV="1">
            <a:off x="0" y="2"/>
            <a:ext cx="12188821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D6E793-7F2F-80B6-0490-9E787C8777DA}"/>
              </a:ext>
            </a:extLst>
          </p:cNvPr>
          <p:cNvSpPr txBox="1">
            <a:spLocks/>
          </p:cNvSpPr>
          <p:nvPr/>
        </p:nvSpPr>
        <p:spPr>
          <a:xfrm>
            <a:off x="1225345" y="3893755"/>
            <a:ext cx="9738129" cy="3863634"/>
          </a:xfrm>
          <a:prstGeom prst="rect">
            <a:avLst/>
          </a:prstGeom>
        </p:spPr>
        <p:txBody>
          <a:bodyPr vert="horz" wrap="square" lIns="217433" tIns="108718" rIns="217433" bIns="108718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 this the centre has fact table surrounded by dimension tables, forming a star-like pattern</a:t>
            </a: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 central fact table contains quantitative data (e.g., sales), while the dimension tables hold descriptive attributes related to the facts (e.g. Employee, Date, Territory).</a:t>
            </a:r>
            <a:endParaRPr lang="en-US" sz="3200" b="1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Fact in centre &gt;&gt; Connected to dimensions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727D89-2411-1A93-9FB5-501A04485EF0}"/>
              </a:ext>
            </a:extLst>
          </p:cNvPr>
          <p:cNvSpPr/>
          <p:nvPr/>
        </p:nvSpPr>
        <p:spPr>
          <a:xfrm rot="10800000" flipV="1">
            <a:off x="5080" y="2066462"/>
            <a:ext cx="24377646" cy="2380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16451D-91B6-6F16-40A8-50A6FE00C41D}"/>
              </a:ext>
            </a:extLst>
          </p:cNvPr>
          <p:cNvGrpSpPr/>
          <p:nvPr/>
        </p:nvGrpSpPr>
        <p:grpSpPr>
          <a:xfrm>
            <a:off x="7786107" y="622197"/>
            <a:ext cx="14143025" cy="1033547"/>
            <a:chOff x="8976553" y="191819"/>
            <a:chExt cx="9249507" cy="103354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4329DC-6C2A-074C-2B8C-93E30EBE1CFF}"/>
                </a:ext>
              </a:extLst>
            </p:cNvPr>
            <p:cNvSpPr txBox="1"/>
            <p:nvPr/>
          </p:nvSpPr>
          <p:spPr>
            <a:xfrm>
              <a:off x="8976553" y="191819"/>
              <a:ext cx="2840072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Schema in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31D2C5A-5C33-D7EF-291A-6B6C02283A54}"/>
                </a:ext>
              </a:extLst>
            </p:cNvPr>
            <p:cNvSpPr txBox="1"/>
            <p:nvPr/>
          </p:nvSpPr>
          <p:spPr>
            <a:xfrm>
              <a:off x="11855918" y="209703"/>
              <a:ext cx="6370142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rgbClr val="001A7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Data Modelling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1698412-AD94-D760-B373-94B4137983C1}"/>
              </a:ext>
            </a:extLst>
          </p:cNvPr>
          <p:cNvSpPr txBox="1"/>
          <p:nvPr/>
        </p:nvSpPr>
        <p:spPr>
          <a:xfrm>
            <a:off x="3027567" y="2671291"/>
            <a:ext cx="6133686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Star Schema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286D2-A379-2D13-E32A-425D57BCFC97}"/>
              </a:ext>
            </a:extLst>
          </p:cNvPr>
          <p:cNvSpPr txBox="1"/>
          <p:nvPr/>
        </p:nvSpPr>
        <p:spPr>
          <a:xfrm>
            <a:off x="13019393" y="2671291"/>
            <a:ext cx="10532761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001A7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Snowflake Schema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FE73060-1BAD-29FE-A83C-270BF2A0A26F}"/>
              </a:ext>
            </a:extLst>
          </p:cNvPr>
          <p:cNvSpPr txBox="1">
            <a:spLocks/>
          </p:cNvSpPr>
          <p:nvPr/>
        </p:nvSpPr>
        <p:spPr>
          <a:xfrm>
            <a:off x="12853359" y="3761458"/>
            <a:ext cx="11179834" cy="3371191"/>
          </a:xfrm>
          <a:prstGeom prst="rect">
            <a:avLst/>
          </a:prstGeom>
        </p:spPr>
        <p:txBody>
          <a:bodyPr vert="horz" wrap="square" lIns="217433" tIns="108718" rIns="217433" bIns="108718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rgbClr val="001A7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Here a dimension table can be further split into additional related tables </a:t>
            </a: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rgbClr val="001A7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Fact (Sales) + Dimension (Product → </a:t>
            </a:r>
            <a:r>
              <a:rPr lang="en-GB" sz="3200" b="1" dirty="0" err="1">
                <a:solidFill>
                  <a:srgbClr val="001A7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SubCategory</a:t>
            </a:r>
            <a:r>
              <a:rPr lang="en-GB" sz="3200" b="1" dirty="0">
                <a:solidFill>
                  <a:srgbClr val="001A7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→ Category, Date → Fiscal Calendar, etc.).</a:t>
            </a:r>
          </a:p>
          <a:p>
            <a:pPr marL="571500" indent="-5715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rgbClr val="001A7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Fact in centre &gt;&gt; Connected to dimensions &gt;&gt; Connected to dimensions 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69816151-1A3E-967E-6C2B-24F756C7B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22" r="60063"/>
          <a:stretch/>
        </p:blipFill>
        <p:spPr>
          <a:xfrm>
            <a:off x="3027567" y="8497990"/>
            <a:ext cx="6713987" cy="4667256"/>
          </a:xfrm>
          <a:prstGeom prst="rect">
            <a:avLst/>
          </a:prstGeom>
        </p:spPr>
      </p:pic>
      <p:pic>
        <p:nvPicPr>
          <p:cNvPr id="12" name="Picture 11" descr="A diagram of a diagram&#10;&#10;AI-generated content may be incorrect.">
            <a:extLst>
              <a:ext uri="{FF2B5EF4-FFF2-40B4-BE49-F238E27FC236}">
                <a16:creationId xmlns:a16="http://schemas.microsoft.com/office/drawing/2014/main" id="{AA15A8C7-94D7-B543-5A02-A61576651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62"/>
          <a:stretch/>
        </p:blipFill>
        <p:spPr>
          <a:xfrm>
            <a:off x="13415617" y="8117534"/>
            <a:ext cx="9740312" cy="55379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D021AE-36EF-03F9-1A62-9687E3BD30DE}"/>
              </a:ext>
            </a:extLst>
          </p:cNvPr>
          <p:cNvSpPr txBox="1"/>
          <p:nvPr/>
        </p:nvSpPr>
        <p:spPr>
          <a:xfrm>
            <a:off x="7949416" y="1482828"/>
            <a:ext cx="3584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Montserrat Alternates" panose="00000500000000000000" pitchFamily="50" charset="0"/>
              </a:rPr>
              <a:t>(nothing but a Database)</a:t>
            </a:r>
          </a:p>
        </p:txBody>
      </p:sp>
    </p:spTree>
    <p:extLst>
      <p:ext uri="{BB962C8B-B14F-4D97-AF65-F5344CB8AC3E}">
        <p14:creationId xmlns:p14="http://schemas.microsoft.com/office/powerpoint/2010/main" val="4033247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4EB40BE-DA02-BE48-A5FE-217F7086289F}"/>
              </a:ext>
            </a:extLst>
          </p:cNvPr>
          <p:cNvSpPr/>
          <p:nvPr/>
        </p:nvSpPr>
        <p:spPr>
          <a:xfrm rot="10800000" flipV="1">
            <a:off x="0" y="17252"/>
            <a:ext cx="2437765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CD79A60-A4FD-5705-52F7-8AFD7AAA1A3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514" t="-1802" r="1008" b="1802"/>
          <a:stretch/>
        </p:blipFill>
        <p:spPr>
          <a:xfrm>
            <a:off x="3213536" y="3566116"/>
            <a:ext cx="7230644" cy="397191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B478CDC2-1CC0-7A72-7E9D-5F5A5EC4D5E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9410" r="9410"/>
          <a:stretch/>
        </p:blipFill>
        <p:spPr>
          <a:xfrm>
            <a:off x="14075477" y="3566117"/>
            <a:ext cx="6670876" cy="397191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3949CF2-1556-DB40-97BF-298DC782D84C}"/>
              </a:ext>
            </a:extLst>
          </p:cNvPr>
          <p:cNvGrpSpPr/>
          <p:nvPr/>
        </p:nvGrpSpPr>
        <p:grpSpPr>
          <a:xfrm>
            <a:off x="3774253" y="8253426"/>
            <a:ext cx="6109210" cy="3792916"/>
            <a:chOff x="3809288" y="10910164"/>
            <a:chExt cx="5342209" cy="3792916"/>
          </a:xfrm>
        </p:grpSpPr>
        <p:sp>
          <p:nvSpPr>
            <p:cNvPr id="53" name="Subtitle 2">
              <a:extLst>
                <a:ext uri="{FF2B5EF4-FFF2-40B4-BE49-F238E27FC236}">
                  <a16:creationId xmlns:a16="http://schemas.microsoft.com/office/drawing/2014/main" id="{4B4F1142-74E1-D440-81A8-7924F301E1ED}"/>
                </a:ext>
              </a:extLst>
            </p:cNvPr>
            <p:cNvSpPr txBox="1">
              <a:spLocks/>
            </p:cNvSpPr>
            <p:nvPr/>
          </p:nvSpPr>
          <p:spPr>
            <a:xfrm>
              <a:off x="3968814" y="11713532"/>
              <a:ext cx="5182682" cy="2989548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GB" sz="3600" dirty="0">
                  <a:solidFill>
                    <a:schemeClr val="bg1"/>
                  </a:solidFill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Here we can view, create, edit, and delete relationships between tables in your data model</a:t>
              </a:r>
              <a:endParaRPr lang="en-US" sz="3600" dirty="0">
                <a:solidFill>
                  <a:schemeClr val="bg1"/>
                </a:solidFill>
                <a:latin typeface="Montserrat Light" pitchFamily="2" charset="77"/>
                <a:ea typeface="Roboto Light" panose="02000000000000000000" pitchFamily="2" charset="0"/>
                <a:cs typeface="Lato Light" panose="020F0502020204030203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3B9E11B-BC66-EA41-B618-2C936FBED58F}"/>
                </a:ext>
              </a:extLst>
            </p:cNvPr>
            <p:cNvSpPr/>
            <p:nvPr/>
          </p:nvSpPr>
          <p:spPr>
            <a:xfrm>
              <a:off x="3809288" y="10910164"/>
              <a:ext cx="5342209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 Light" panose="020F0502020204030203" pitchFamily="34" charset="0"/>
                </a:rPr>
                <a:t>Manage Relationships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53FF38C-6466-5843-89F1-8B7A9F48853F}"/>
              </a:ext>
            </a:extLst>
          </p:cNvPr>
          <p:cNvSpPr txBox="1"/>
          <p:nvPr/>
        </p:nvSpPr>
        <p:spPr>
          <a:xfrm>
            <a:off x="4688130" y="1058112"/>
            <a:ext cx="14952260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Examples and Additional Things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46AA60-9AD5-DB46-949E-0FFBF6E3CA4C}"/>
              </a:ext>
            </a:extLst>
          </p:cNvPr>
          <p:cNvGrpSpPr/>
          <p:nvPr/>
        </p:nvGrpSpPr>
        <p:grpSpPr>
          <a:xfrm>
            <a:off x="14447525" y="8308432"/>
            <a:ext cx="5926779" cy="3460518"/>
            <a:chOff x="3968814" y="10910164"/>
            <a:chExt cx="5182682" cy="3460518"/>
          </a:xfrm>
        </p:grpSpPr>
        <p:sp>
          <p:nvSpPr>
            <p:cNvPr id="16" name="Subtitle 2">
              <a:extLst>
                <a:ext uri="{FF2B5EF4-FFF2-40B4-BE49-F238E27FC236}">
                  <a16:creationId xmlns:a16="http://schemas.microsoft.com/office/drawing/2014/main" id="{0A05DE78-E6AA-064D-95A1-99190EF8F011}"/>
                </a:ext>
              </a:extLst>
            </p:cNvPr>
            <p:cNvSpPr txBox="1">
              <a:spLocks/>
            </p:cNvSpPr>
            <p:nvPr/>
          </p:nvSpPr>
          <p:spPr>
            <a:xfrm>
              <a:off x="3968814" y="11713532"/>
              <a:ext cx="5182682" cy="2657150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3600" dirty="0">
                  <a:solidFill>
                    <a:schemeClr val="bg1"/>
                  </a:solidFill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Pipeline,</a:t>
              </a:r>
            </a:p>
            <a:p>
              <a:pPr>
                <a:lnSpc>
                  <a:spcPct val="100000"/>
                </a:lnSpc>
              </a:pPr>
              <a:r>
                <a:rPr lang="en-US" sz="3600" dirty="0">
                  <a:solidFill>
                    <a:schemeClr val="bg1"/>
                  </a:solidFill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Single-headed arrow</a:t>
              </a:r>
            </a:p>
            <a:p>
              <a:pPr>
                <a:lnSpc>
                  <a:spcPct val="100000"/>
                </a:lnSpc>
              </a:pPr>
              <a:r>
                <a:rPr lang="en-US" sz="3600" dirty="0">
                  <a:solidFill>
                    <a:schemeClr val="bg1"/>
                  </a:solidFill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And Double-headed arrow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DDC89D-3766-3448-B2BC-CF1D8DF087C7}"/>
                </a:ext>
              </a:extLst>
            </p:cNvPr>
            <p:cNvSpPr/>
            <p:nvPr/>
          </p:nvSpPr>
          <p:spPr>
            <a:xfrm>
              <a:off x="3968814" y="10910164"/>
              <a:ext cx="5182682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 Light" panose="020F0502020204030203" pitchFamily="34" charset="0"/>
                </a:rPr>
                <a:t>Cross-Filter Direction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D40E7D-8446-8420-9CDD-37C817825B4A}"/>
              </a:ext>
            </a:extLst>
          </p:cNvPr>
          <p:cNvGrpSpPr/>
          <p:nvPr/>
        </p:nvGrpSpPr>
        <p:grpSpPr>
          <a:xfrm>
            <a:off x="21814555" y="632499"/>
            <a:ext cx="1650512" cy="1650512"/>
            <a:chOff x="12705706" y="4207116"/>
            <a:chExt cx="2926080" cy="292608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9B5579F-815C-8301-D515-556BC9DD5FBF}"/>
                </a:ext>
              </a:extLst>
            </p:cNvPr>
            <p:cNvSpPr/>
            <p:nvPr/>
          </p:nvSpPr>
          <p:spPr>
            <a:xfrm>
              <a:off x="12705706" y="4207116"/>
              <a:ext cx="2926080" cy="2926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DFB342E-CA4A-904B-5876-9B97F7EEE806}"/>
                </a:ext>
              </a:extLst>
            </p:cNvPr>
            <p:cNvGrpSpPr/>
            <p:nvPr/>
          </p:nvGrpSpPr>
          <p:grpSpPr>
            <a:xfrm>
              <a:off x="13427408" y="5014150"/>
              <a:ext cx="1482676" cy="1421792"/>
              <a:chOff x="1157760" y="1140368"/>
              <a:chExt cx="447120" cy="428760"/>
            </a:xfrm>
            <a:solidFill>
              <a:schemeClr val="bg2"/>
            </a:solidFill>
          </p:grpSpPr>
          <p:sp>
            <p:nvSpPr>
              <p:cNvPr id="32" name="Freeform 45">
                <a:extLst>
                  <a:ext uri="{FF2B5EF4-FFF2-40B4-BE49-F238E27FC236}">
                    <a16:creationId xmlns:a16="http://schemas.microsoft.com/office/drawing/2014/main" id="{C5C3F081-987B-5AC9-67E6-66758F953A0B}"/>
                  </a:ext>
                </a:extLst>
              </p:cNvPr>
              <p:cNvSpPr/>
              <p:nvPr/>
            </p:nvSpPr>
            <p:spPr>
              <a:xfrm>
                <a:off x="1157760" y="1140368"/>
                <a:ext cx="447120" cy="4287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43" h="1192">
                    <a:moveTo>
                      <a:pt x="1180" y="957"/>
                    </a:moveTo>
                    <a:lnTo>
                      <a:pt x="592" y="957"/>
                    </a:lnTo>
                    <a:lnTo>
                      <a:pt x="798" y="345"/>
                    </a:lnTo>
                    <a:lnTo>
                      <a:pt x="1188" y="345"/>
                    </a:lnTo>
                    <a:lnTo>
                      <a:pt x="1188" y="949"/>
                    </a:lnTo>
                    <a:cubicBezTo>
                      <a:pt x="1188" y="953"/>
                      <a:pt x="1184" y="957"/>
                      <a:pt x="1180" y="957"/>
                    </a:cubicBezTo>
                    <a:close/>
                    <a:moveTo>
                      <a:pt x="429" y="1115"/>
                    </a:moveTo>
                    <a:lnTo>
                      <a:pt x="413" y="1033"/>
                    </a:lnTo>
                    <a:lnTo>
                      <a:pt x="699" y="190"/>
                    </a:lnTo>
                    <a:lnTo>
                      <a:pt x="782" y="218"/>
                    </a:lnTo>
                    <a:lnTo>
                      <a:pt x="498" y="1061"/>
                    </a:lnTo>
                    <a:close/>
                    <a:moveTo>
                      <a:pt x="63" y="957"/>
                    </a:moveTo>
                    <a:cubicBezTo>
                      <a:pt x="59" y="957"/>
                      <a:pt x="55" y="953"/>
                      <a:pt x="55" y="949"/>
                    </a:cubicBezTo>
                    <a:lnTo>
                      <a:pt x="55" y="345"/>
                    </a:lnTo>
                    <a:lnTo>
                      <a:pt x="588" y="345"/>
                    </a:lnTo>
                    <a:lnTo>
                      <a:pt x="381" y="957"/>
                    </a:lnTo>
                    <a:close/>
                    <a:moveTo>
                      <a:pt x="63" y="235"/>
                    </a:moveTo>
                    <a:lnTo>
                      <a:pt x="625" y="235"/>
                    </a:lnTo>
                    <a:lnTo>
                      <a:pt x="600" y="309"/>
                    </a:lnTo>
                    <a:lnTo>
                      <a:pt x="55" y="309"/>
                    </a:lnTo>
                    <a:lnTo>
                      <a:pt x="55" y="243"/>
                    </a:lnTo>
                    <a:cubicBezTo>
                      <a:pt x="55" y="239"/>
                      <a:pt x="59" y="235"/>
                      <a:pt x="63" y="235"/>
                    </a:cubicBezTo>
                    <a:close/>
                    <a:moveTo>
                      <a:pt x="742" y="63"/>
                    </a:moveTo>
                    <a:lnTo>
                      <a:pt x="824" y="93"/>
                    </a:lnTo>
                    <a:lnTo>
                      <a:pt x="800" y="165"/>
                    </a:lnTo>
                    <a:lnTo>
                      <a:pt x="717" y="137"/>
                    </a:lnTo>
                    <a:close/>
                    <a:moveTo>
                      <a:pt x="1188" y="243"/>
                    </a:moveTo>
                    <a:lnTo>
                      <a:pt x="1188" y="309"/>
                    </a:lnTo>
                    <a:lnTo>
                      <a:pt x="810" y="309"/>
                    </a:lnTo>
                    <a:lnTo>
                      <a:pt x="834" y="235"/>
                    </a:lnTo>
                    <a:lnTo>
                      <a:pt x="1180" y="235"/>
                    </a:lnTo>
                    <a:cubicBezTo>
                      <a:pt x="1184" y="235"/>
                      <a:pt x="1188" y="239"/>
                      <a:pt x="1188" y="243"/>
                    </a:cubicBezTo>
                    <a:close/>
                    <a:moveTo>
                      <a:pt x="1180" y="180"/>
                    </a:moveTo>
                    <a:lnTo>
                      <a:pt x="853" y="180"/>
                    </a:lnTo>
                    <a:lnTo>
                      <a:pt x="885" y="85"/>
                    </a:lnTo>
                    <a:cubicBezTo>
                      <a:pt x="890" y="71"/>
                      <a:pt x="882" y="56"/>
                      <a:pt x="868" y="50"/>
                    </a:cubicBezTo>
                    <a:lnTo>
                      <a:pt x="735" y="1"/>
                    </a:lnTo>
                    <a:cubicBezTo>
                      <a:pt x="728" y="-1"/>
                      <a:pt x="720" y="-1"/>
                      <a:pt x="713" y="2"/>
                    </a:cubicBezTo>
                    <a:cubicBezTo>
                      <a:pt x="707" y="6"/>
                      <a:pt x="701" y="11"/>
                      <a:pt x="699" y="18"/>
                    </a:cubicBezTo>
                    <a:lnTo>
                      <a:pt x="657" y="143"/>
                    </a:lnTo>
                    <a:cubicBezTo>
                      <a:pt x="656" y="144"/>
                      <a:pt x="656" y="145"/>
                      <a:pt x="656" y="146"/>
                    </a:cubicBezTo>
                    <a:cubicBezTo>
                      <a:pt x="655" y="147"/>
                      <a:pt x="655" y="147"/>
                      <a:pt x="655" y="148"/>
                    </a:cubicBezTo>
                    <a:lnTo>
                      <a:pt x="644" y="180"/>
                    </a:lnTo>
                    <a:lnTo>
                      <a:pt x="643" y="180"/>
                    </a:lnTo>
                    <a:lnTo>
                      <a:pt x="63" y="180"/>
                    </a:lnTo>
                    <a:cubicBezTo>
                      <a:pt x="28" y="180"/>
                      <a:pt x="0" y="208"/>
                      <a:pt x="0" y="243"/>
                    </a:cubicBezTo>
                    <a:lnTo>
                      <a:pt x="0" y="949"/>
                    </a:lnTo>
                    <a:cubicBezTo>
                      <a:pt x="0" y="984"/>
                      <a:pt x="28" y="1012"/>
                      <a:pt x="63" y="1012"/>
                    </a:cubicBezTo>
                    <a:lnTo>
                      <a:pt x="362" y="1012"/>
                    </a:lnTo>
                    <a:lnTo>
                      <a:pt x="358" y="1022"/>
                    </a:lnTo>
                    <a:cubicBezTo>
                      <a:pt x="357" y="1027"/>
                      <a:pt x="356" y="1032"/>
                      <a:pt x="357" y="1036"/>
                    </a:cubicBezTo>
                    <a:lnTo>
                      <a:pt x="384" y="1170"/>
                    </a:lnTo>
                    <a:cubicBezTo>
                      <a:pt x="386" y="1179"/>
                      <a:pt x="392" y="1187"/>
                      <a:pt x="401" y="1190"/>
                    </a:cubicBezTo>
                    <a:cubicBezTo>
                      <a:pt x="404" y="1192"/>
                      <a:pt x="408" y="1192"/>
                      <a:pt x="411" y="1192"/>
                    </a:cubicBezTo>
                    <a:cubicBezTo>
                      <a:pt x="417" y="1192"/>
                      <a:pt x="423" y="1190"/>
                      <a:pt x="428" y="1186"/>
                    </a:cubicBezTo>
                    <a:lnTo>
                      <a:pt x="539" y="1099"/>
                    </a:lnTo>
                    <a:cubicBezTo>
                      <a:pt x="543" y="1096"/>
                      <a:pt x="546" y="1091"/>
                      <a:pt x="548" y="1086"/>
                    </a:cubicBezTo>
                    <a:lnTo>
                      <a:pt x="573" y="1012"/>
                    </a:lnTo>
                    <a:lnTo>
                      <a:pt x="1180" y="1012"/>
                    </a:lnTo>
                    <a:cubicBezTo>
                      <a:pt x="1215" y="1012"/>
                      <a:pt x="1243" y="984"/>
                      <a:pt x="1243" y="949"/>
                    </a:cubicBezTo>
                    <a:lnTo>
                      <a:pt x="1243" y="243"/>
                    </a:lnTo>
                    <a:cubicBezTo>
                      <a:pt x="1243" y="208"/>
                      <a:pt x="1215" y="180"/>
                      <a:pt x="1180" y="180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" name="Freeform 46">
                <a:extLst>
                  <a:ext uri="{FF2B5EF4-FFF2-40B4-BE49-F238E27FC236}">
                    <a16:creationId xmlns:a16="http://schemas.microsoft.com/office/drawing/2014/main" id="{A273F57F-C995-5C75-C704-C09084A2D606}"/>
                  </a:ext>
                </a:extLst>
              </p:cNvPr>
              <p:cNvSpPr/>
              <p:nvPr/>
            </p:nvSpPr>
            <p:spPr>
              <a:xfrm>
                <a:off x="1196640" y="1232168"/>
                <a:ext cx="14040" cy="140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" h="40">
                    <a:moveTo>
                      <a:pt x="20" y="40"/>
                    </a:moveTo>
                    <a:cubicBezTo>
                      <a:pt x="31" y="40"/>
                      <a:pt x="40" y="31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40"/>
                      <a:pt x="20" y="40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" name="Freeform 47">
                <a:extLst>
                  <a:ext uri="{FF2B5EF4-FFF2-40B4-BE49-F238E27FC236}">
                    <a16:creationId xmlns:a16="http://schemas.microsoft.com/office/drawing/2014/main" id="{2A950FD8-A31D-8509-AFD9-C9FAE5DE1130}"/>
                  </a:ext>
                </a:extLst>
              </p:cNvPr>
              <p:cNvSpPr/>
              <p:nvPr/>
            </p:nvSpPr>
            <p:spPr>
              <a:xfrm>
                <a:off x="1218240" y="1232168"/>
                <a:ext cx="14040" cy="140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" h="40">
                    <a:moveTo>
                      <a:pt x="20" y="40"/>
                    </a:moveTo>
                    <a:cubicBezTo>
                      <a:pt x="31" y="40"/>
                      <a:pt x="40" y="31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40"/>
                      <a:pt x="20" y="40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" name="Freeform 48">
                <a:extLst>
                  <a:ext uri="{FF2B5EF4-FFF2-40B4-BE49-F238E27FC236}">
                    <a16:creationId xmlns:a16="http://schemas.microsoft.com/office/drawing/2014/main" id="{55923A6A-74D6-010E-102C-E0A7D7382EAD}"/>
                  </a:ext>
                </a:extLst>
              </p:cNvPr>
              <p:cNvSpPr/>
              <p:nvPr/>
            </p:nvSpPr>
            <p:spPr>
              <a:xfrm>
                <a:off x="1239840" y="1232168"/>
                <a:ext cx="14040" cy="140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" h="40">
                    <a:moveTo>
                      <a:pt x="20" y="40"/>
                    </a:moveTo>
                    <a:cubicBezTo>
                      <a:pt x="31" y="40"/>
                      <a:pt x="40" y="31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40"/>
                      <a:pt x="20" y="40"/>
                    </a:cubicBezTo>
                    <a:close/>
                  </a:path>
                </a:pathLst>
              </a:custGeom>
              <a:grpFill/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7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587B08C-38D8-BC40-98C5-8F73887D189E}"/>
              </a:ext>
            </a:extLst>
          </p:cNvPr>
          <p:cNvSpPr/>
          <p:nvPr/>
        </p:nvSpPr>
        <p:spPr>
          <a:xfrm rot="10800000" flipV="1">
            <a:off x="0" y="-3"/>
            <a:ext cx="24377650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25C965-08AB-5C48-896C-E12B563F4731}"/>
              </a:ext>
            </a:extLst>
          </p:cNvPr>
          <p:cNvSpPr txBox="1"/>
          <p:nvPr/>
        </p:nvSpPr>
        <p:spPr>
          <a:xfrm>
            <a:off x="4533445" y="1439897"/>
            <a:ext cx="15310760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Why is Data Modelling Important?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B9BF45-0233-9B48-ADDC-27D82C431644}"/>
              </a:ext>
            </a:extLst>
          </p:cNvPr>
          <p:cNvGrpSpPr/>
          <p:nvPr/>
        </p:nvGrpSpPr>
        <p:grpSpPr>
          <a:xfrm>
            <a:off x="14188441" y="4230192"/>
            <a:ext cx="8242376" cy="7418139"/>
            <a:chOff x="13687132" y="2672941"/>
            <a:chExt cx="7791004" cy="7011904"/>
          </a:xfrm>
        </p:grpSpPr>
        <p:sp>
          <p:nvSpPr>
            <p:cNvPr id="19" name="Freeform: Shape 3104">
              <a:extLst>
                <a:ext uri="{FF2B5EF4-FFF2-40B4-BE49-F238E27FC236}">
                  <a16:creationId xmlns:a16="http://schemas.microsoft.com/office/drawing/2014/main" id="{F3456659-5025-4545-9CBA-8249B89B5B6D}"/>
                </a:ext>
              </a:extLst>
            </p:cNvPr>
            <p:cNvSpPr/>
            <p:nvPr/>
          </p:nvSpPr>
          <p:spPr>
            <a:xfrm>
              <a:off x="16803534" y="8615654"/>
              <a:ext cx="1566489" cy="106919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0" h="130">
                  <a:moveTo>
                    <a:pt x="185" y="114"/>
                  </a:moveTo>
                  <a:lnTo>
                    <a:pt x="160" y="114"/>
                  </a:lnTo>
                  <a:lnTo>
                    <a:pt x="150" y="0"/>
                  </a:lnTo>
                  <a:lnTo>
                    <a:pt x="39" y="0"/>
                  </a:lnTo>
                  <a:lnTo>
                    <a:pt x="29" y="114"/>
                  </a:lnTo>
                  <a:lnTo>
                    <a:pt x="5" y="114"/>
                  </a:lnTo>
                  <a:cubicBezTo>
                    <a:pt x="2" y="114"/>
                    <a:pt x="0" y="115"/>
                    <a:pt x="0" y="116"/>
                  </a:cubicBezTo>
                  <a:lnTo>
                    <a:pt x="0" y="128"/>
                  </a:lnTo>
                  <a:cubicBezTo>
                    <a:pt x="0" y="129"/>
                    <a:pt x="2" y="130"/>
                    <a:pt x="5" y="130"/>
                  </a:cubicBezTo>
                  <a:lnTo>
                    <a:pt x="185" y="130"/>
                  </a:lnTo>
                  <a:cubicBezTo>
                    <a:pt x="187" y="130"/>
                    <a:pt x="190" y="129"/>
                    <a:pt x="190" y="128"/>
                  </a:cubicBezTo>
                  <a:lnTo>
                    <a:pt x="190" y="116"/>
                  </a:lnTo>
                  <a:cubicBezTo>
                    <a:pt x="190" y="115"/>
                    <a:pt x="187" y="114"/>
                    <a:pt x="185" y="114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0" name="Freeform: Shape 3105">
              <a:extLst>
                <a:ext uri="{FF2B5EF4-FFF2-40B4-BE49-F238E27FC236}">
                  <a16:creationId xmlns:a16="http://schemas.microsoft.com/office/drawing/2014/main" id="{AC3905A5-9428-854F-B339-68AD8D12D8E7}"/>
                </a:ext>
              </a:extLst>
            </p:cNvPr>
            <p:cNvSpPr/>
            <p:nvPr/>
          </p:nvSpPr>
          <p:spPr>
            <a:xfrm>
              <a:off x="13687132" y="3543213"/>
              <a:ext cx="7791004" cy="518018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41" h="626">
                  <a:moveTo>
                    <a:pt x="916" y="626"/>
                  </a:moveTo>
                  <a:lnTo>
                    <a:pt x="26" y="626"/>
                  </a:lnTo>
                  <a:cubicBezTo>
                    <a:pt x="12" y="626"/>
                    <a:pt x="0" y="615"/>
                    <a:pt x="0" y="601"/>
                  </a:cubicBezTo>
                  <a:lnTo>
                    <a:pt x="0" y="25"/>
                  </a:lnTo>
                  <a:cubicBezTo>
                    <a:pt x="0" y="11"/>
                    <a:pt x="12" y="0"/>
                    <a:pt x="26" y="0"/>
                  </a:cubicBezTo>
                  <a:lnTo>
                    <a:pt x="916" y="0"/>
                  </a:lnTo>
                  <a:cubicBezTo>
                    <a:pt x="930" y="0"/>
                    <a:pt x="941" y="11"/>
                    <a:pt x="941" y="25"/>
                  </a:cubicBezTo>
                  <a:lnTo>
                    <a:pt x="941" y="601"/>
                  </a:lnTo>
                  <a:cubicBezTo>
                    <a:pt x="941" y="615"/>
                    <a:pt x="930" y="626"/>
                    <a:pt x="916" y="626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2" name="Freeform: Shape 3106">
              <a:extLst>
                <a:ext uri="{FF2B5EF4-FFF2-40B4-BE49-F238E27FC236}">
                  <a16:creationId xmlns:a16="http://schemas.microsoft.com/office/drawing/2014/main" id="{58B0F899-85D2-514F-A441-503DB46E4626}"/>
                </a:ext>
              </a:extLst>
            </p:cNvPr>
            <p:cNvSpPr/>
            <p:nvPr/>
          </p:nvSpPr>
          <p:spPr>
            <a:xfrm>
              <a:off x="14010376" y="3907898"/>
              <a:ext cx="7144517" cy="445081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63" h="538">
                  <a:moveTo>
                    <a:pt x="863" y="538"/>
                  </a:moveTo>
                  <a:lnTo>
                    <a:pt x="0" y="538"/>
                  </a:lnTo>
                  <a:lnTo>
                    <a:pt x="0" y="0"/>
                  </a:lnTo>
                  <a:lnTo>
                    <a:pt x="863" y="0"/>
                  </a:lnTo>
                  <a:close/>
                </a:path>
              </a:pathLst>
            </a:custGeom>
            <a:solidFill>
              <a:schemeClr val="accent1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D128AB8-8F03-B84E-8220-CB6C1F2CEF44}"/>
                </a:ext>
              </a:extLst>
            </p:cNvPr>
            <p:cNvGrpSpPr/>
            <p:nvPr/>
          </p:nvGrpSpPr>
          <p:grpSpPr>
            <a:xfrm>
              <a:off x="14515962" y="2672941"/>
              <a:ext cx="6688661" cy="5437127"/>
              <a:chOff x="14515962" y="2672941"/>
              <a:chExt cx="6688661" cy="54371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5243C9A-98E4-B148-B524-F0988F99690B}"/>
                  </a:ext>
                </a:extLst>
              </p:cNvPr>
              <p:cNvGrpSpPr/>
              <p:nvPr/>
            </p:nvGrpSpPr>
            <p:grpSpPr>
              <a:xfrm>
                <a:off x="14515962" y="4355467"/>
                <a:ext cx="5992442" cy="3754601"/>
                <a:chOff x="14515962" y="4355467"/>
                <a:chExt cx="5992442" cy="3754601"/>
              </a:xfrm>
              <a:solidFill>
                <a:schemeClr val="bg1"/>
              </a:solidFill>
            </p:grpSpPr>
            <p:sp>
              <p:nvSpPr>
                <p:cNvPr id="23" name="Freeform: Shape 3107">
                  <a:extLst>
                    <a:ext uri="{FF2B5EF4-FFF2-40B4-BE49-F238E27FC236}">
                      <a16:creationId xmlns:a16="http://schemas.microsoft.com/office/drawing/2014/main" id="{BA6C7037-1625-FB4C-992A-3151426B1C72}"/>
                    </a:ext>
                  </a:extLst>
                </p:cNvPr>
                <p:cNvSpPr/>
                <p:nvPr/>
              </p:nvSpPr>
              <p:spPr>
                <a:xfrm>
                  <a:off x="14623710" y="4562674"/>
                  <a:ext cx="116036" cy="343964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5" h="416">
                      <a:moveTo>
                        <a:pt x="15" y="416"/>
                      </a:moveTo>
                      <a:lnTo>
                        <a:pt x="0" y="416"/>
                      </a:lnTo>
                      <a:lnTo>
                        <a:pt x="0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4" name="Freeform: Shape 3108">
                  <a:extLst>
                    <a:ext uri="{FF2B5EF4-FFF2-40B4-BE49-F238E27FC236}">
                      <a16:creationId xmlns:a16="http://schemas.microsoft.com/office/drawing/2014/main" id="{E4F051A7-81D1-264E-B335-7E68FAA93406}"/>
                    </a:ext>
                  </a:extLst>
                </p:cNvPr>
                <p:cNvSpPr/>
                <p:nvPr/>
              </p:nvSpPr>
              <p:spPr>
                <a:xfrm>
                  <a:off x="14515962" y="4355467"/>
                  <a:ext cx="331532" cy="29009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1" h="36">
                      <a:moveTo>
                        <a:pt x="21" y="0"/>
                      </a:moveTo>
                      <a:lnTo>
                        <a:pt x="31" y="18"/>
                      </a:lnTo>
                      <a:lnTo>
                        <a:pt x="41" y="36"/>
                      </a:lnTo>
                      <a:lnTo>
                        <a:pt x="21" y="36"/>
                      </a:lnTo>
                      <a:lnTo>
                        <a:pt x="0" y="36"/>
                      </a:lnTo>
                      <a:lnTo>
                        <a:pt x="10" y="18"/>
                      </a:ln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5" name="Freeform: Shape 3109">
                  <a:extLst>
                    <a:ext uri="{FF2B5EF4-FFF2-40B4-BE49-F238E27FC236}">
                      <a16:creationId xmlns:a16="http://schemas.microsoft.com/office/drawing/2014/main" id="{E1E1B4A2-004F-984C-8C9A-7605A1F1373C}"/>
                    </a:ext>
                  </a:extLst>
                </p:cNvPr>
                <p:cNvSpPr/>
                <p:nvPr/>
              </p:nvSpPr>
              <p:spPr>
                <a:xfrm>
                  <a:off x="14623710" y="7877995"/>
                  <a:ext cx="5611181" cy="124324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78" h="16">
                      <a:moveTo>
                        <a:pt x="0" y="0"/>
                      </a:moveTo>
                      <a:lnTo>
                        <a:pt x="678" y="0"/>
                      </a:lnTo>
                      <a:lnTo>
                        <a:pt x="678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7" name="Freeform: Shape 3110">
                  <a:extLst>
                    <a:ext uri="{FF2B5EF4-FFF2-40B4-BE49-F238E27FC236}">
                      <a16:creationId xmlns:a16="http://schemas.microsoft.com/office/drawing/2014/main" id="{D0CE2F35-77F8-B142-B7D3-85A9942ADE1F}"/>
                    </a:ext>
                  </a:extLst>
                </p:cNvPr>
                <p:cNvSpPr/>
                <p:nvPr/>
              </p:nvSpPr>
              <p:spPr>
                <a:xfrm>
                  <a:off x="20226602" y="7770247"/>
                  <a:ext cx="281802" cy="33982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5" h="42">
                      <a:moveTo>
                        <a:pt x="35" y="21"/>
                      </a:moveTo>
                      <a:lnTo>
                        <a:pt x="17" y="31"/>
                      </a:lnTo>
                      <a:lnTo>
                        <a:pt x="0" y="42"/>
                      </a:lnTo>
                      <a:lnTo>
                        <a:pt x="0" y="21"/>
                      </a:lnTo>
                      <a:lnTo>
                        <a:pt x="0" y="0"/>
                      </a:lnTo>
                      <a:lnTo>
                        <a:pt x="17" y="11"/>
                      </a:ln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sp>
            <p:nvSpPr>
              <p:cNvPr id="42" name="Freeform: Shape 3111">
                <a:extLst>
                  <a:ext uri="{FF2B5EF4-FFF2-40B4-BE49-F238E27FC236}">
                    <a16:creationId xmlns:a16="http://schemas.microsoft.com/office/drawing/2014/main" id="{F32678E9-D7EA-8545-B7FF-720D942E2137}"/>
                  </a:ext>
                </a:extLst>
              </p:cNvPr>
              <p:cNvSpPr/>
              <p:nvPr/>
            </p:nvSpPr>
            <p:spPr>
              <a:xfrm>
                <a:off x="15319927" y="2963009"/>
                <a:ext cx="5752082" cy="45337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5" h="548">
                    <a:moveTo>
                      <a:pt x="18" y="548"/>
                    </a:moveTo>
                    <a:lnTo>
                      <a:pt x="9" y="543"/>
                    </a:lnTo>
                    <a:lnTo>
                      <a:pt x="0" y="538"/>
                    </a:lnTo>
                    <a:lnTo>
                      <a:pt x="133" y="301"/>
                    </a:lnTo>
                    <a:lnTo>
                      <a:pt x="265" y="438"/>
                    </a:lnTo>
                    <a:lnTo>
                      <a:pt x="405" y="216"/>
                    </a:lnTo>
                    <a:lnTo>
                      <a:pt x="485" y="323"/>
                    </a:lnTo>
                    <a:lnTo>
                      <a:pt x="677" y="0"/>
                    </a:lnTo>
                    <a:lnTo>
                      <a:pt x="695" y="10"/>
                    </a:lnTo>
                    <a:lnTo>
                      <a:pt x="487" y="362"/>
                    </a:lnTo>
                    <a:lnTo>
                      <a:pt x="406" y="253"/>
                    </a:lnTo>
                    <a:lnTo>
                      <a:pt x="269" y="472"/>
                    </a:lnTo>
                    <a:lnTo>
                      <a:pt x="137" y="336"/>
                    </a:lnTo>
                    <a:close/>
                  </a:path>
                </a:pathLst>
              </a:custGeom>
              <a:solidFill>
                <a:schemeClr val="bg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" name="Freeform: Shape 3117">
                <a:extLst>
                  <a:ext uri="{FF2B5EF4-FFF2-40B4-BE49-F238E27FC236}">
                    <a16:creationId xmlns:a16="http://schemas.microsoft.com/office/drawing/2014/main" id="{7AD5CC03-F7EE-394B-A463-79B32ACC38D4}"/>
                  </a:ext>
                </a:extLst>
              </p:cNvPr>
              <p:cNvSpPr/>
              <p:nvPr/>
            </p:nvSpPr>
            <p:spPr>
              <a:xfrm>
                <a:off x="20707324" y="2672941"/>
                <a:ext cx="497299" cy="5718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1" h="70">
                    <a:moveTo>
                      <a:pt x="61" y="0"/>
                    </a:moveTo>
                    <a:lnTo>
                      <a:pt x="60" y="35"/>
                    </a:lnTo>
                    <a:lnTo>
                      <a:pt x="60" y="70"/>
                    </a:lnTo>
                    <a:lnTo>
                      <a:pt x="30" y="52"/>
                    </a:lnTo>
                    <a:lnTo>
                      <a:pt x="0" y="34"/>
                    </a:lnTo>
                    <a:lnTo>
                      <a:pt x="30" y="17"/>
                    </a:lnTo>
                    <a:close/>
                  </a:path>
                </a:pathLst>
              </a:custGeom>
              <a:solidFill>
                <a:schemeClr val="bg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sp>
          <p:nvSpPr>
            <p:cNvPr id="43" name="Freeform: Shape 3112">
              <a:extLst>
                <a:ext uri="{FF2B5EF4-FFF2-40B4-BE49-F238E27FC236}">
                  <a16:creationId xmlns:a16="http://schemas.microsoft.com/office/drawing/2014/main" id="{F62F3206-5179-FB4C-8E21-03D361209A6D}"/>
                </a:ext>
              </a:extLst>
            </p:cNvPr>
            <p:cNvSpPr/>
            <p:nvPr/>
          </p:nvSpPr>
          <p:spPr>
            <a:xfrm>
              <a:off x="15187292" y="7256372"/>
              <a:ext cx="414415" cy="40612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" h="50">
                  <a:moveTo>
                    <a:pt x="51" y="25"/>
                  </a:moveTo>
                  <a:cubicBezTo>
                    <a:pt x="51" y="39"/>
                    <a:pt x="39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1" y="11"/>
                    <a:pt x="51" y="25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4" name="Freeform: Shape 3113">
              <a:extLst>
                <a:ext uri="{FF2B5EF4-FFF2-40B4-BE49-F238E27FC236}">
                  <a16:creationId xmlns:a16="http://schemas.microsoft.com/office/drawing/2014/main" id="{102A3A66-A8BA-2B47-9431-EDD91CA36E6F}"/>
                </a:ext>
              </a:extLst>
            </p:cNvPr>
            <p:cNvSpPr/>
            <p:nvPr/>
          </p:nvSpPr>
          <p:spPr>
            <a:xfrm>
              <a:off x="16223353" y="5466099"/>
              <a:ext cx="414415" cy="4144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" h="51">
                  <a:moveTo>
                    <a:pt x="51" y="25"/>
                  </a:moveTo>
                  <a:cubicBezTo>
                    <a:pt x="51" y="40"/>
                    <a:pt x="40" y="51"/>
                    <a:pt x="26" y="51"/>
                  </a:cubicBezTo>
                  <a:cubicBezTo>
                    <a:pt x="12" y="51"/>
                    <a:pt x="0" y="40"/>
                    <a:pt x="0" y="25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0" y="0"/>
                    <a:pt x="51" y="12"/>
                    <a:pt x="51" y="25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5" name="Freeform: Shape 3114">
              <a:extLst>
                <a:ext uri="{FF2B5EF4-FFF2-40B4-BE49-F238E27FC236}">
                  <a16:creationId xmlns:a16="http://schemas.microsoft.com/office/drawing/2014/main" id="{DF506A74-8FB8-D541-80A7-6E667628F14D}"/>
                </a:ext>
              </a:extLst>
            </p:cNvPr>
            <p:cNvSpPr/>
            <p:nvPr/>
          </p:nvSpPr>
          <p:spPr>
            <a:xfrm>
              <a:off x="17333985" y="6493848"/>
              <a:ext cx="406127" cy="4144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6" name="Freeform: Shape 3115">
              <a:extLst>
                <a:ext uri="{FF2B5EF4-FFF2-40B4-BE49-F238E27FC236}">
                  <a16:creationId xmlns:a16="http://schemas.microsoft.com/office/drawing/2014/main" id="{6FAA8A38-7327-4043-A71C-D21B4FBD36BD}"/>
                </a:ext>
              </a:extLst>
            </p:cNvPr>
            <p:cNvSpPr/>
            <p:nvPr/>
          </p:nvSpPr>
          <p:spPr>
            <a:xfrm>
              <a:off x="18469482" y="4753305"/>
              <a:ext cx="406127" cy="4144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7" name="Freeform: Shape 3116">
              <a:extLst>
                <a:ext uri="{FF2B5EF4-FFF2-40B4-BE49-F238E27FC236}">
                  <a16:creationId xmlns:a16="http://schemas.microsoft.com/office/drawing/2014/main" id="{43685096-45A5-714E-B24E-82B89D24F553}"/>
                </a:ext>
              </a:extLst>
            </p:cNvPr>
            <p:cNvSpPr/>
            <p:nvPr/>
          </p:nvSpPr>
          <p:spPr>
            <a:xfrm>
              <a:off x="19132547" y="5559744"/>
              <a:ext cx="406127" cy="4144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03B39D-4A65-BC07-D7F1-73B1E0B3B209}"/>
              </a:ext>
            </a:extLst>
          </p:cNvPr>
          <p:cNvGrpSpPr/>
          <p:nvPr/>
        </p:nvGrpSpPr>
        <p:grpSpPr>
          <a:xfrm>
            <a:off x="2305813" y="4704070"/>
            <a:ext cx="10567331" cy="5839052"/>
            <a:chOff x="1946833" y="3669768"/>
            <a:chExt cx="10567331" cy="5839052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63F8A93-86E7-004A-BFFB-39B8CEBDA8DB}"/>
                </a:ext>
              </a:extLst>
            </p:cNvPr>
            <p:cNvCxnSpPr/>
            <p:nvPr/>
          </p:nvCxnSpPr>
          <p:spPr>
            <a:xfrm>
              <a:off x="2077790" y="4540357"/>
              <a:ext cx="924881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7A36E26-93F2-4944-9DE9-59AF65096DD1}"/>
                </a:ext>
              </a:extLst>
            </p:cNvPr>
            <p:cNvSpPr txBox="1"/>
            <p:nvPr/>
          </p:nvSpPr>
          <p:spPr>
            <a:xfrm>
              <a:off x="1946833" y="3669768"/>
              <a:ext cx="88706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Montserrat Medium" pitchFamily="2" charset="77"/>
                  <a:ea typeface="Montserrat" charset="0"/>
                  <a:cs typeface="Montserrat" charset="0"/>
                </a:rPr>
                <a:t>Simplifies Reporting and Analysis</a:t>
              </a:r>
              <a:endParaRPr lang="en-US" sz="6000" dirty="0">
                <a:solidFill>
                  <a:schemeClr val="bg1"/>
                </a:solidFill>
                <a:latin typeface="Montserrat Medium" pitchFamily="2" charset="77"/>
                <a:ea typeface="Montserrat" charset="0"/>
                <a:cs typeface="Montserrat" charset="0"/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C7A1115-A904-5E40-9F7A-22FF9E4B7A17}"/>
                </a:ext>
              </a:extLst>
            </p:cNvPr>
            <p:cNvCxnSpPr/>
            <p:nvPr/>
          </p:nvCxnSpPr>
          <p:spPr>
            <a:xfrm>
              <a:off x="2077790" y="6981453"/>
              <a:ext cx="924881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B03F8EE-B8EA-AE4B-8028-408B8E0F904A}"/>
                </a:ext>
              </a:extLst>
            </p:cNvPr>
            <p:cNvSpPr txBox="1"/>
            <p:nvPr/>
          </p:nvSpPr>
          <p:spPr>
            <a:xfrm>
              <a:off x="1946833" y="4835218"/>
              <a:ext cx="1011103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000" dirty="0">
                  <a:solidFill>
                    <a:schemeClr val="bg1"/>
                  </a:solidFill>
                  <a:latin typeface="Montserrat Medium" pitchFamily="2" charset="77"/>
                  <a:ea typeface="Montserrat" charset="0"/>
                  <a:cs typeface="Montserrat" charset="0"/>
                </a:rPr>
                <a:t>Structured data model makes easy to maintain and update reports as the business evolves</a:t>
              </a:r>
              <a:endParaRPr lang="en-US" sz="6000" dirty="0">
                <a:solidFill>
                  <a:schemeClr val="bg1"/>
                </a:solidFill>
                <a:latin typeface="Montserrat Medium" pitchFamily="2" charset="77"/>
                <a:ea typeface="Montserrat" charset="0"/>
                <a:cs typeface="Montserrat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1868D54-7BED-0E2A-0E8F-4151EF5F8A43}"/>
                </a:ext>
              </a:extLst>
            </p:cNvPr>
            <p:cNvGrpSpPr/>
            <p:nvPr/>
          </p:nvGrpSpPr>
          <p:grpSpPr>
            <a:xfrm>
              <a:off x="1976785" y="7284242"/>
              <a:ext cx="10489157" cy="988221"/>
              <a:chOff x="1946833" y="9576940"/>
              <a:chExt cx="10489157" cy="98822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47335DA3-A153-58CA-0A09-958743DCF9FD}"/>
                  </a:ext>
                </a:extLst>
              </p:cNvPr>
              <p:cNvCxnSpPr/>
              <p:nvPr/>
            </p:nvCxnSpPr>
            <p:spPr>
              <a:xfrm>
                <a:off x="2047838" y="10565161"/>
                <a:ext cx="9248814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F6FCB6-C29D-8650-A768-C7F5BBC53C75}"/>
                  </a:ext>
                </a:extLst>
              </p:cNvPr>
              <p:cNvSpPr txBox="1"/>
              <p:nvPr/>
            </p:nvSpPr>
            <p:spPr>
              <a:xfrm>
                <a:off x="1946833" y="9576940"/>
                <a:ext cx="1048915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chemeClr val="bg1"/>
                    </a:solidFill>
                    <a:latin typeface="Montserrat Medium" pitchFamily="2" charset="77"/>
                    <a:ea typeface="Montserrat" charset="0"/>
                    <a:cs typeface="Montserrat" charset="0"/>
                  </a:rPr>
                  <a:t>Data modeling helps minimize errors</a:t>
                </a:r>
                <a:endParaRPr lang="en-US" sz="6000" dirty="0">
                  <a:solidFill>
                    <a:schemeClr val="bg1"/>
                  </a:solidFill>
                  <a:latin typeface="Montserrat Medium" pitchFamily="2" charset="77"/>
                  <a:ea typeface="Montserrat" charset="0"/>
                  <a:cs typeface="Montserrat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39A9FA-A679-09D4-6D50-04CB7B7B4D16}"/>
                </a:ext>
              </a:extLst>
            </p:cNvPr>
            <p:cNvGrpSpPr/>
            <p:nvPr/>
          </p:nvGrpSpPr>
          <p:grpSpPr>
            <a:xfrm>
              <a:off x="1976785" y="8575488"/>
              <a:ext cx="10537379" cy="933332"/>
              <a:chOff x="1946833" y="9576940"/>
              <a:chExt cx="10537379" cy="933332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F61C2ED-FB46-038C-373C-37DF9CD72A6E}"/>
                  </a:ext>
                </a:extLst>
              </p:cNvPr>
              <p:cNvCxnSpPr/>
              <p:nvPr/>
            </p:nvCxnSpPr>
            <p:spPr>
              <a:xfrm>
                <a:off x="2047838" y="10510272"/>
                <a:ext cx="9248814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6BB279-1A45-C3A4-6AA3-115EF3B8819C}"/>
                  </a:ext>
                </a:extLst>
              </p:cNvPr>
              <p:cNvSpPr txBox="1"/>
              <p:nvPr/>
            </p:nvSpPr>
            <p:spPr>
              <a:xfrm>
                <a:off x="1946833" y="9576940"/>
                <a:ext cx="1053737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>
                    <a:solidFill>
                      <a:schemeClr val="bg1"/>
                    </a:solidFill>
                    <a:latin typeface="Montserrat Medium" pitchFamily="2" charset="77"/>
                    <a:ea typeface="Montserrat" charset="0"/>
                    <a:cs typeface="Montserrat" charset="0"/>
                  </a:rPr>
                  <a:t>Avoids duplicate or wrong calculations</a:t>
                </a:r>
                <a:endParaRPr lang="en-US" sz="6000" dirty="0">
                  <a:solidFill>
                    <a:schemeClr val="bg1"/>
                  </a:solidFill>
                  <a:latin typeface="Montserrat Medium" pitchFamily="2" charset="77"/>
                  <a:ea typeface="Montserrat" charset="0"/>
                  <a:cs typeface="Montserrat" charset="0"/>
                </a:endParaRPr>
              </a:p>
            </p:txBody>
          </p:sp>
        </p:grp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09C3E7A-2D89-EF0A-CAB4-19CBAF468059}"/>
              </a:ext>
            </a:extLst>
          </p:cNvPr>
          <p:cNvSpPr/>
          <p:nvPr/>
        </p:nvSpPr>
        <p:spPr>
          <a:xfrm rot="5400000" flipV="1">
            <a:off x="-1712968" y="7544627"/>
            <a:ext cx="6428284" cy="5277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029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C9605D-996A-6B46-997C-B0CF3733B166}"/>
              </a:ext>
            </a:extLst>
          </p:cNvPr>
          <p:cNvSpPr/>
          <p:nvPr/>
        </p:nvSpPr>
        <p:spPr>
          <a:xfrm rot="10800000" flipV="1">
            <a:off x="4" y="2"/>
            <a:ext cx="24377648" cy="13715998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A7F573-C6A4-9C44-8CD0-F1EB101F110A}"/>
              </a:ext>
            </a:extLst>
          </p:cNvPr>
          <p:cNvSpPr/>
          <p:nvPr/>
        </p:nvSpPr>
        <p:spPr>
          <a:xfrm rot="10800000" flipV="1">
            <a:off x="2" y="3472130"/>
            <a:ext cx="24377650" cy="2380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group of people holding up a sign&#10;&#10;AI-generated content may be incorrect.">
            <a:extLst>
              <a:ext uri="{FF2B5EF4-FFF2-40B4-BE49-F238E27FC236}">
                <a16:creationId xmlns:a16="http://schemas.microsoft.com/office/drawing/2014/main" id="{5A859DDC-587E-F633-083C-DDF1C287627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7"/>
          <a:stretch/>
        </p:blipFill>
        <p:spPr>
          <a:xfrm>
            <a:off x="7790521" y="3710188"/>
            <a:ext cx="7769356" cy="55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03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8">
      <a:dk1>
        <a:srgbClr val="999999"/>
      </a:dk1>
      <a:lt1>
        <a:srgbClr val="FFFFFF"/>
      </a:lt1>
      <a:dk2>
        <a:srgbClr val="353336"/>
      </a:dk2>
      <a:lt2>
        <a:srgbClr val="FFFFFF"/>
      </a:lt2>
      <a:accent1>
        <a:srgbClr val="001A71"/>
      </a:accent1>
      <a:accent2>
        <a:srgbClr val="0098BA"/>
      </a:accent2>
      <a:accent3>
        <a:srgbClr val="001A71"/>
      </a:accent3>
      <a:accent4>
        <a:srgbClr val="0098BA"/>
      </a:accent4>
      <a:accent5>
        <a:srgbClr val="001A71"/>
      </a:accent5>
      <a:accent6>
        <a:srgbClr val="0098BA"/>
      </a:accent6>
      <a:hlink>
        <a:srgbClr val="9FD368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91190</TotalTime>
  <Words>501</Words>
  <Application>Microsoft Office PowerPoint</Application>
  <PresentationFormat>Custom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Lato Light</vt:lpstr>
      <vt:lpstr>Montserrat Alternates</vt:lpstr>
      <vt:lpstr>Montserrat Light</vt:lpstr>
      <vt:lpstr>Montserrat Medium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Divakar P</cp:lastModifiedBy>
  <cp:revision>16723</cp:revision>
  <dcterms:created xsi:type="dcterms:W3CDTF">2014-11-12T21:47:38Z</dcterms:created>
  <dcterms:modified xsi:type="dcterms:W3CDTF">2025-09-30T15:53:54Z</dcterms:modified>
  <cp:category/>
</cp:coreProperties>
</file>